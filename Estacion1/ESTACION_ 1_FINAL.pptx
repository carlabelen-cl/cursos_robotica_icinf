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oppins Bold" charset="1" panose="00000800000000000000"/>
      <p:regular r:id="rId16"/>
    </p:embeddedFont>
    <p:embeddedFont>
      <p:font typeface="DM Sans Bold" charset="1" panose="00000000000000000000"/>
      <p:regular r:id="rId17"/>
    </p:embeddedFont>
    <p:embeddedFont>
      <p:font typeface="DM Sans" charset="1" panose="00000000000000000000"/>
      <p:regular r:id="rId18"/>
    </p:embeddedFont>
    <p:embeddedFont>
      <p:font typeface="Poppins" charset="1" panose="000005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jpeg" Type="http://schemas.openxmlformats.org/officeDocument/2006/relationships/image"/><Relationship Id="rId4" Target="../media/image3.png" Type="http://schemas.openxmlformats.org/officeDocument/2006/relationships/image"/><Relationship Id="rId5"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2" Target="../media/image3.png" Type="http://schemas.openxmlformats.org/officeDocument/2006/relationships/image"/><Relationship Id="rId3" Target="../media/image8.jpe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3.pn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2" Target="../media/image3.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29.png" Type="http://schemas.openxmlformats.org/officeDocument/2006/relationships/image"/><Relationship Id="rId12" Target="../media/image30.png" Type="http://schemas.openxmlformats.org/officeDocument/2006/relationships/image"/><Relationship Id="rId13" Target="../media/image31.png" Type="http://schemas.openxmlformats.org/officeDocument/2006/relationships/image"/><Relationship Id="rId14" Target="../media/image32.svg" Type="http://schemas.openxmlformats.org/officeDocument/2006/relationships/image"/><Relationship Id="rId2" Target="../media/image3.pn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7.png" Type="http://schemas.openxmlformats.org/officeDocument/2006/relationships/image"/><Relationship Id="rId6" Target="../media/image23.png" Type="http://schemas.openxmlformats.org/officeDocument/2006/relationships/image"/><Relationship Id="rId7" Target="../media/image28.pn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3.png" Type="http://schemas.openxmlformats.org/officeDocument/2006/relationships/image"/><Relationship Id="rId4" Target="../media/image3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5.png" Type="http://schemas.openxmlformats.org/officeDocument/2006/relationships/image"/><Relationship Id="rId4" Target="../media/image3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3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png" Type="http://schemas.openxmlformats.org/officeDocument/2006/relationships/image"/><Relationship Id="rId4" Target="../media/image4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EFB3"/>
        </a:solidFill>
      </p:bgPr>
    </p:bg>
    <p:spTree>
      <p:nvGrpSpPr>
        <p:cNvPr id="1" name=""/>
        <p:cNvGrpSpPr/>
        <p:nvPr/>
      </p:nvGrpSpPr>
      <p:grpSpPr>
        <a:xfrm>
          <a:off x="0" y="0"/>
          <a:ext cx="0" cy="0"/>
          <a:chOff x="0" y="0"/>
          <a:chExt cx="0" cy="0"/>
        </a:xfrm>
      </p:grpSpPr>
      <p:grpSp>
        <p:nvGrpSpPr>
          <p:cNvPr name="Group 2" id="2"/>
          <p:cNvGrpSpPr/>
          <p:nvPr/>
        </p:nvGrpSpPr>
        <p:grpSpPr>
          <a:xfrm rot="0">
            <a:off x="12545514" y="3659446"/>
            <a:ext cx="4787216" cy="884085"/>
            <a:chOff x="0" y="0"/>
            <a:chExt cx="481603" cy="88941"/>
          </a:xfrm>
        </p:grpSpPr>
        <p:sp>
          <p:nvSpPr>
            <p:cNvPr name="Freeform 3" id="3"/>
            <p:cNvSpPr/>
            <p:nvPr/>
          </p:nvSpPr>
          <p:spPr>
            <a:xfrm flipH="false" flipV="false" rot="0">
              <a:off x="0" y="0"/>
              <a:ext cx="481603" cy="88941"/>
            </a:xfrm>
            <a:custGeom>
              <a:avLst/>
              <a:gdLst/>
              <a:ahLst/>
              <a:cxnLst/>
              <a:rect r="r" b="b" t="t" l="l"/>
              <a:pathLst>
                <a:path h="88941" w="481603">
                  <a:moveTo>
                    <a:pt x="44470" y="0"/>
                  </a:moveTo>
                  <a:lnTo>
                    <a:pt x="437133" y="0"/>
                  </a:lnTo>
                  <a:cubicBezTo>
                    <a:pt x="448927" y="0"/>
                    <a:pt x="460238" y="4685"/>
                    <a:pt x="468578" y="13025"/>
                  </a:cubicBezTo>
                  <a:cubicBezTo>
                    <a:pt x="476918" y="21365"/>
                    <a:pt x="481603" y="32676"/>
                    <a:pt x="481603" y="44470"/>
                  </a:cubicBezTo>
                  <a:lnTo>
                    <a:pt x="481603" y="44470"/>
                  </a:lnTo>
                  <a:cubicBezTo>
                    <a:pt x="481603" y="69031"/>
                    <a:pt x="461693" y="88941"/>
                    <a:pt x="437133" y="88941"/>
                  </a:cubicBezTo>
                  <a:lnTo>
                    <a:pt x="44470" y="88941"/>
                  </a:lnTo>
                  <a:cubicBezTo>
                    <a:pt x="32676" y="88941"/>
                    <a:pt x="21365" y="84255"/>
                    <a:pt x="13025" y="75916"/>
                  </a:cubicBezTo>
                  <a:cubicBezTo>
                    <a:pt x="4685" y="67576"/>
                    <a:pt x="0" y="56265"/>
                    <a:pt x="0" y="44470"/>
                  </a:cubicBezTo>
                  <a:lnTo>
                    <a:pt x="0" y="44470"/>
                  </a:lnTo>
                  <a:cubicBezTo>
                    <a:pt x="0" y="32676"/>
                    <a:pt x="4685" y="21365"/>
                    <a:pt x="13025" y="13025"/>
                  </a:cubicBezTo>
                  <a:cubicBezTo>
                    <a:pt x="21365" y="4685"/>
                    <a:pt x="32676" y="0"/>
                    <a:pt x="44470" y="0"/>
                  </a:cubicBezTo>
                  <a:close/>
                </a:path>
              </a:pathLst>
            </a:custGeom>
            <a:solidFill>
              <a:srgbClr val="FF751F"/>
            </a:solidFill>
          </p:spPr>
        </p:sp>
        <p:sp>
          <p:nvSpPr>
            <p:cNvPr name="TextBox 4" id="4"/>
            <p:cNvSpPr txBox="true"/>
            <p:nvPr/>
          </p:nvSpPr>
          <p:spPr>
            <a:xfrm>
              <a:off x="0" y="9525"/>
              <a:ext cx="481603" cy="79416"/>
            </a:xfrm>
            <a:prstGeom prst="rect">
              <a:avLst/>
            </a:prstGeom>
          </p:spPr>
          <p:txBody>
            <a:bodyPr anchor="ctr" rtlCol="false" tIns="50800" lIns="50800" bIns="50800" rIns="50800"/>
            <a:lstStyle/>
            <a:p>
              <a:pPr algn="ctr">
                <a:lnSpc>
                  <a:spcPts val="2280"/>
                </a:lnSpc>
              </a:pPr>
            </a:p>
          </p:txBody>
        </p:sp>
      </p:grpSp>
      <p:grpSp>
        <p:nvGrpSpPr>
          <p:cNvPr name="Group 5" id="5"/>
          <p:cNvGrpSpPr/>
          <p:nvPr/>
        </p:nvGrpSpPr>
        <p:grpSpPr>
          <a:xfrm rot="0">
            <a:off x="4965882" y="4911504"/>
            <a:ext cx="8356237" cy="8392603"/>
            <a:chOff x="0" y="0"/>
            <a:chExt cx="809278" cy="812800"/>
          </a:xfrm>
        </p:grpSpPr>
        <p:sp>
          <p:nvSpPr>
            <p:cNvPr name="Freeform 6" id="6"/>
            <p:cNvSpPr/>
            <p:nvPr/>
          </p:nvSpPr>
          <p:spPr>
            <a:xfrm flipH="false" flipV="false" rot="0">
              <a:off x="0" y="0"/>
              <a:ext cx="809278" cy="812800"/>
            </a:xfrm>
            <a:custGeom>
              <a:avLst/>
              <a:gdLst/>
              <a:ahLst/>
              <a:cxnLst/>
              <a:rect r="r" b="b" t="t" l="l"/>
              <a:pathLst>
                <a:path h="812800" w="809278">
                  <a:moveTo>
                    <a:pt x="404639" y="0"/>
                  </a:moveTo>
                  <a:cubicBezTo>
                    <a:pt x="181163" y="0"/>
                    <a:pt x="0" y="181951"/>
                    <a:pt x="0" y="406400"/>
                  </a:cubicBezTo>
                  <a:cubicBezTo>
                    <a:pt x="0" y="630849"/>
                    <a:pt x="181163" y="812800"/>
                    <a:pt x="404639" y="812800"/>
                  </a:cubicBezTo>
                  <a:cubicBezTo>
                    <a:pt x="628115" y="812800"/>
                    <a:pt x="809278" y="630849"/>
                    <a:pt x="809278" y="406400"/>
                  </a:cubicBezTo>
                  <a:cubicBezTo>
                    <a:pt x="809278" y="181951"/>
                    <a:pt x="628115" y="0"/>
                    <a:pt x="404639" y="0"/>
                  </a:cubicBezTo>
                  <a:close/>
                </a:path>
              </a:pathLst>
            </a:custGeom>
            <a:solidFill>
              <a:srgbClr val="FFFFFF"/>
            </a:solidFill>
          </p:spPr>
        </p:sp>
        <p:sp>
          <p:nvSpPr>
            <p:cNvPr name="TextBox 7" id="7"/>
            <p:cNvSpPr txBox="true"/>
            <p:nvPr/>
          </p:nvSpPr>
          <p:spPr>
            <a:xfrm>
              <a:off x="75870" y="85725"/>
              <a:ext cx="657538" cy="650875"/>
            </a:xfrm>
            <a:prstGeom prst="rect">
              <a:avLst/>
            </a:prstGeom>
          </p:spPr>
          <p:txBody>
            <a:bodyPr anchor="ctr" rtlCol="false" tIns="50800" lIns="50800" bIns="50800" rIns="50800"/>
            <a:lstStyle/>
            <a:p>
              <a:pPr algn="ctr">
                <a:lnSpc>
                  <a:spcPts val="2280"/>
                </a:lnSpc>
              </a:pPr>
            </a:p>
          </p:txBody>
        </p:sp>
      </p:grpSp>
      <p:grpSp>
        <p:nvGrpSpPr>
          <p:cNvPr name="Group 8" id="8"/>
          <p:cNvGrpSpPr/>
          <p:nvPr/>
        </p:nvGrpSpPr>
        <p:grpSpPr>
          <a:xfrm rot="0">
            <a:off x="4361734" y="-7176427"/>
            <a:ext cx="9564533" cy="9606157"/>
            <a:chOff x="0" y="0"/>
            <a:chExt cx="809278" cy="812800"/>
          </a:xfrm>
        </p:grpSpPr>
        <p:sp>
          <p:nvSpPr>
            <p:cNvPr name="Freeform 9" id="9"/>
            <p:cNvSpPr/>
            <p:nvPr/>
          </p:nvSpPr>
          <p:spPr>
            <a:xfrm flipH="false" flipV="false" rot="0">
              <a:off x="0" y="0"/>
              <a:ext cx="809278" cy="812800"/>
            </a:xfrm>
            <a:custGeom>
              <a:avLst/>
              <a:gdLst/>
              <a:ahLst/>
              <a:cxnLst/>
              <a:rect r="r" b="b" t="t" l="l"/>
              <a:pathLst>
                <a:path h="812800" w="809278">
                  <a:moveTo>
                    <a:pt x="404639" y="0"/>
                  </a:moveTo>
                  <a:cubicBezTo>
                    <a:pt x="181163" y="0"/>
                    <a:pt x="0" y="181951"/>
                    <a:pt x="0" y="406400"/>
                  </a:cubicBezTo>
                  <a:cubicBezTo>
                    <a:pt x="0" y="630849"/>
                    <a:pt x="181163" y="812800"/>
                    <a:pt x="404639" y="812800"/>
                  </a:cubicBezTo>
                  <a:cubicBezTo>
                    <a:pt x="628115" y="812800"/>
                    <a:pt x="809278" y="630849"/>
                    <a:pt x="809278" y="406400"/>
                  </a:cubicBezTo>
                  <a:cubicBezTo>
                    <a:pt x="809278" y="181951"/>
                    <a:pt x="628115" y="0"/>
                    <a:pt x="404639" y="0"/>
                  </a:cubicBezTo>
                  <a:close/>
                </a:path>
              </a:pathLst>
            </a:custGeom>
            <a:solidFill>
              <a:srgbClr val="FFFFFF"/>
            </a:solidFill>
          </p:spPr>
        </p:sp>
        <p:sp>
          <p:nvSpPr>
            <p:cNvPr name="TextBox 10" id="10"/>
            <p:cNvSpPr txBox="true"/>
            <p:nvPr/>
          </p:nvSpPr>
          <p:spPr>
            <a:xfrm>
              <a:off x="75870" y="85725"/>
              <a:ext cx="657538" cy="650875"/>
            </a:xfrm>
            <a:prstGeom prst="rect">
              <a:avLst/>
            </a:prstGeom>
          </p:spPr>
          <p:txBody>
            <a:bodyPr anchor="ctr" rtlCol="false" tIns="50800" lIns="50800" bIns="50800" rIns="50800"/>
            <a:lstStyle/>
            <a:p>
              <a:pPr algn="ctr">
                <a:lnSpc>
                  <a:spcPts val="2280"/>
                </a:lnSpc>
              </a:pPr>
            </a:p>
          </p:txBody>
        </p:sp>
      </p:grpSp>
      <p:grpSp>
        <p:nvGrpSpPr>
          <p:cNvPr name="Group 11" id="11"/>
          <p:cNvGrpSpPr/>
          <p:nvPr/>
        </p:nvGrpSpPr>
        <p:grpSpPr>
          <a:xfrm rot="0">
            <a:off x="14601518" y="8708206"/>
            <a:ext cx="2657782" cy="550094"/>
            <a:chOff x="0" y="0"/>
            <a:chExt cx="699992" cy="144881"/>
          </a:xfrm>
        </p:grpSpPr>
        <p:sp>
          <p:nvSpPr>
            <p:cNvPr name="Freeform 12" id="12"/>
            <p:cNvSpPr/>
            <p:nvPr/>
          </p:nvSpPr>
          <p:spPr>
            <a:xfrm flipH="false" flipV="false" rot="0">
              <a:off x="0" y="0"/>
              <a:ext cx="699992" cy="144881"/>
            </a:xfrm>
            <a:custGeom>
              <a:avLst/>
              <a:gdLst/>
              <a:ahLst/>
              <a:cxnLst/>
              <a:rect r="r" b="b" t="t" l="l"/>
              <a:pathLst>
                <a:path h="144881" w="699992">
                  <a:moveTo>
                    <a:pt x="72440" y="0"/>
                  </a:moveTo>
                  <a:lnTo>
                    <a:pt x="627552" y="0"/>
                  </a:lnTo>
                  <a:cubicBezTo>
                    <a:pt x="667559" y="0"/>
                    <a:pt x="699992" y="32433"/>
                    <a:pt x="699992" y="72440"/>
                  </a:cubicBezTo>
                  <a:lnTo>
                    <a:pt x="699992" y="72440"/>
                  </a:lnTo>
                  <a:cubicBezTo>
                    <a:pt x="699992" y="112448"/>
                    <a:pt x="667559" y="144881"/>
                    <a:pt x="627552" y="144881"/>
                  </a:cubicBezTo>
                  <a:lnTo>
                    <a:pt x="72440" y="144881"/>
                  </a:lnTo>
                  <a:cubicBezTo>
                    <a:pt x="32433" y="144881"/>
                    <a:pt x="0" y="112448"/>
                    <a:pt x="0" y="72440"/>
                  </a:cubicBezTo>
                  <a:lnTo>
                    <a:pt x="0" y="72440"/>
                  </a:lnTo>
                  <a:cubicBezTo>
                    <a:pt x="0" y="32433"/>
                    <a:pt x="32433" y="0"/>
                    <a:pt x="72440" y="0"/>
                  </a:cubicBezTo>
                  <a:close/>
                </a:path>
              </a:pathLst>
            </a:custGeom>
            <a:solidFill>
              <a:srgbClr val="FF751F"/>
            </a:solidFill>
          </p:spPr>
        </p:sp>
        <p:sp>
          <p:nvSpPr>
            <p:cNvPr name="TextBox 13" id="13"/>
            <p:cNvSpPr txBox="true"/>
            <p:nvPr/>
          </p:nvSpPr>
          <p:spPr>
            <a:xfrm>
              <a:off x="0" y="9525"/>
              <a:ext cx="699992" cy="135356"/>
            </a:xfrm>
            <a:prstGeom prst="rect">
              <a:avLst/>
            </a:prstGeom>
          </p:spPr>
          <p:txBody>
            <a:bodyPr anchor="ctr" rtlCol="false" tIns="50800" lIns="50800" bIns="50800" rIns="50800"/>
            <a:lstStyle/>
            <a:p>
              <a:pPr algn="ctr">
                <a:lnSpc>
                  <a:spcPts val="2280"/>
                </a:lnSpc>
              </a:pPr>
            </a:p>
          </p:txBody>
        </p:sp>
      </p:grpSp>
      <p:sp>
        <p:nvSpPr>
          <p:cNvPr name="Freeform 14" id="14"/>
          <p:cNvSpPr/>
          <p:nvPr/>
        </p:nvSpPr>
        <p:spPr>
          <a:xfrm flipH="false" flipV="false" rot="0">
            <a:off x="16685096" y="8783453"/>
            <a:ext cx="399599" cy="399599"/>
          </a:xfrm>
          <a:custGeom>
            <a:avLst/>
            <a:gdLst/>
            <a:ahLst/>
            <a:cxnLst/>
            <a:rect r="r" b="b" t="t" l="l"/>
            <a:pathLst>
              <a:path h="399599" w="399599">
                <a:moveTo>
                  <a:pt x="0" y="0"/>
                </a:moveTo>
                <a:lnTo>
                  <a:pt x="399600" y="0"/>
                </a:lnTo>
                <a:lnTo>
                  <a:pt x="399600" y="399599"/>
                </a:lnTo>
                <a:lnTo>
                  <a:pt x="0" y="3995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7925389" y="-11259"/>
            <a:ext cx="2437223" cy="2437223"/>
          </a:xfrm>
          <a:custGeom>
            <a:avLst/>
            <a:gdLst/>
            <a:ahLst/>
            <a:cxnLst/>
            <a:rect r="r" b="b" t="t" l="l"/>
            <a:pathLst>
              <a:path h="2437223" w="2437223">
                <a:moveTo>
                  <a:pt x="0" y="0"/>
                </a:moveTo>
                <a:lnTo>
                  <a:pt x="2437222" y="0"/>
                </a:lnTo>
                <a:lnTo>
                  <a:pt x="2437222" y="2437222"/>
                </a:lnTo>
                <a:lnTo>
                  <a:pt x="0" y="2437222"/>
                </a:lnTo>
                <a:lnTo>
                  <a:pt x="0" y="0"/>
                </a:lnTo>
                <a:close/>
              </a:path>
            </a:pathLst>
          </a:custGeom>
          <a:blipFill>
            <a:blip r:embed="rId4"/>
            <a:stretch>
              <a:fillRect l="0" t="0" r="0" b="0"/>
            </a:stretch>
          </a:blipFill>
        </p:spPr>
      </p:sp>
      <p:sp>
        <p:nvSpPr>
          <p:cNvPr name="Freeform 16" id="16"/>
          <p:cNvSpPr/>
          <p:nvPr/>
        </p:nvSpPr>
        <p:spPr>
          <a:xfrm flipH="false" flipV="false" rot="0">
            <a:off x="6370608" y="5024111"/>
            <a:ext cx="5851516" cy="5851516"/>
          </a:xfrm>
          <a:custGeom>
            <a:avLst/>
            <a:gdLst/>
            <a:ahLst/>
            <a:cxnLst/>
            <a:rect r="r" b="b" t="t" l="l"/>
            <a:pathLst>
              <a:path h="5851516" w="5851516">
                <a:moveTo>
                  <a:pt x="0" y="0"/>
                </a:moveTo>
                <a:lnTo>
                  <a:pt x="5851516" y="0"/>
                </a:lnTo>
                <a:lnTo>
                  <a:pt x="5851516" y="5851516"/>
                </a:lnTo>
                <a:lnTo>
                  <a:pt x="0" y="5851516"/>
                </a:lnTo>
                <a:lnTo>
                  <a:pt x="0" y="0"/>
                </a:lnTo>
                <a:close/>
              </a:path>
            </a:pathLst>
          </a:custGeom>
          <a:blipFill>
            <a:blip r:embed="rId5"/>
            <a:stretch>
              <a:fillRect l="0" t="0" r="0" b="0"/>
            </a:stretch>
          </a:blipFill>
        </p:spPr>
      </p:sp>
      <p:sp>
        <p:nvSpPr>
          <p:cNvPr name="TextBox 17" id="17"/>
          <p:cNvSpPr txBox="true"/>
          <p:nvPr/>
        </p:nvSpPr>
        <p:spPr>
          <a:xfrm rot="0">
            <a:off x="739933" y="3009126"/>
            <a:ext cx="10466987" cy="1882547"/>
          </a:xfrm>
          <a:prstGeom prst="rect">
            <a:avLst/>
          </a:prstGeom>
        </p:spPr>
        <p:txBody>
          <a:bodyPr anchor="t" rtlCol="false" tIns="0" lIns="0" bIns="0" rIns="0">
            <a:spAutoFit/>
          </a:bodyPr>
          <a:lstStyle/>
          <a:p>
            <a:pPr algn="l" marL="0" indent="0" lvl="0">
              <a:lnSpc>
                <a:spcPts val="13740"/>
              </a:lnSpc>
              <a:spcBef>
                <a:spcPct val="0"/>
              </a:spcBef>
            </a:pPr>
            <a:r>
              <a:rPr lang="en-US" b="true" sz="12053">
                <a:solidFill>
                  <a:srgbClr val="FF751F"/>
                </a:solidFill>
                <a:latin typeface="Poppins Bold"/>
                <a:ea typeface="Poppins Bold"/>
                <a:cs typeface="Poppins Bold"/>
                <a:sym typeface="Poppins Bold"/>
              </a:rPr>
              <a:t>ESTACIÓN 1</a:t>
            </a:r>
          </a:p>
        </p:txBody>
      </p:sp>
      <p:sp>
        <p:nvSpPr>
          <p:cNvPr name="TextBox 18" id="18"/>
          <p:cNvSpPr txBox="true"/>
          <p:nvPr/>
        </p:nvSpPr>
        <p:spPr>
          <a:xfrm rot="0">
            <a:off x="12720154" y="3885272"/>
            <a:ext cx="4412777" cy="441960"/>
          </a:xfrm>
          <a:prstGeom prst="rect">
            <a:avLst/>
          </a:prstGeom>
        </p:spPr>
        <p:txBody>
          <a:bodyPr anchor="t" rtlCol="false" tIns="0" lIns="0" bIns="0" rIns="0">
            <a:spAutoFit/>
          </a:bodyPr>
          <a:lstStyle/>
          <a:p>
            <a:pPr algn="ctr" marL="0" indent="0" lvl="0">
              <a:lnSpc>
                <a:spcPts val="3419"/>
              </a:lnSpc>
              <a:spcBef>
                <a:spcPct val="0"/>
              </a:spcBef>
            </a:pPr>
            <a:r>
              <a:rPr lang="en-US" b="true" sz="3000">
                <a:solidFill>
                  <a:srgbClr val="FFEFB3"/>
                </a:solidFill>
                <a:latin typeface="DM Sans Bold"/>
                <a:ea typeface="DM Sans Bold"/>
                <a:cs typeface="DM Sans Bold"/>
                <a:sym typeface="DM Sans Bold"/>
              </a:rPr>
              <a:t>Desafío Makey Makey</a:t>
            </a:r>
          </a:p>
        </p:txBody>
      </p:sp>
      <p:sp>
        <p:nvSpPr>
          <p:cNvPr name="TextBox 19" id="19"/>
          <p:cNvSpPr txBox="true"/>
          <p:nvPr/>
        </p:nvSpPr>
        <p:spPr>
          <a:xfrm rot="0">
            <a:off x="822606" y="4844048"/>
            <a:ext cx="5150820" cy="350601"/>
          </a:xfrm>
          <a:prstGeom prst="rect">
            <a:avLst/>
          </a:prstGeom>
        </p:spPr>
        <p:txBody>
          <a:bodyPr anchor="t" rtlCol="false" tIns="0" lIns="0" bIns="0" rIns="0">
            <a:spAutoFit/>
          </a:bodyPr>
          <a:lstStyle/>
          <a:p>
            <a:pPr algn="l" marL="0" indent="0" lvl="1">
              <a:lnSpc>
                <a:spcPts val="2577"/>
              </a:lnSpc>
              <a:spcBef>
                <a:spcPct val="0"/>
              </a:spcBef>
            </a:pPr>
            <a:r>
              <a:rPr lang="en-US" b="true" sz="2260">
                <a:solidFill>
                  <a:srgbClr val="000000"/>
                </a:solidFill>
                <a:latin typeface="Poppins Bold"/>
                <a:ea typeface="Poppins Bold"/>
                <a:cs typeface="Poppins Bold"/>
                <a:sym typeface="Poppins Bold"/>
              </a:rPr>
              <a:t>INGENIERÍA CIVIL EN INFORMÁTICA</a:t>
            </a:r>
          </a:p>
        </p:txBody>
      </p:sp>
      <p:sp>
        <p:nvSpPr>
          <p:cNvPr name="TextBox 20" id="20"/>
          <p:cNvSpPr txBox="true"/>
          <p:nvPr/>
        </p:nvSpPr>
        <p:spPr>
          <a:xfrm rot="0">
            <a:off x="14939123" y="8842283"/>
            <a:ext cx="1685245" cy="291465"/>
          </a:xfrm>
          <a:prstGeom prst="rect">
            <a:avLst/>
          </a:prstGeom>
        </p:spPr>
        <p:txBody>
          <a:bodyPr anchor="t" rtlCol="false" tIns="0" lIns="0" bIns="0" rIns="0">
            <a:spAutoFit/>
          </a:bodyPr>
          <a:lstStyle/>
          <a:p>
            <a:pPr algn="l" marL="0" indent="0" lvl="0">
              <a:lnSpc>
                <a:spcPts val="2280"/>
              </a:lnSpc>
              <a:spcBef>
                <a:spcPct val="0"/>
              </a:spcBef>
            </a:pPr>
            <a:r>
              <a:rPr lang="en-US" sz="2000">
                <a:solidFill>
                  <a:srgbClr val="FFEFB3"/>
                </a:solidFill>
                <a:latin typeface="DM Sans"/>
                <a:ea typeface="DM Sans"/>
                <a:cs typeface="DM Sans"/>
                <a:sym typeface="DM Sans"/>
              </a:rPr>
              <a:t>Presentación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51507" y="2694197"/>
            <a:ext cx="1126590" cy="797582"/>
            <a:chOff x="0" y="0"/>
            <a:chExt cx="296715" cy="210063"/>
          </a:xfrm>
        </p:grpSpPr>
        <p:sp>
          <p:nvSpPr>
            <p:cNvPr name="Freeform 3" id="3"/>
            <p:cNvSpPr/>
            <p:nvPr/>
          </p:nvSpPr>
          <p:spPr>
            <a:xfrm flipH="false" flipV="false" rot="0">
              <a:off x="0" y="0"/>
              <a:ext cx="296715" cy="210063"/>
            </a:xfrm>
            <a:custGeom>
              <a:avLst/>
              <a:gdLst/>
              <a:ahLst/>
              <a:cxnLst/>
              <a:rect r="r" b="b" t="t" l="l"/>
              <a:pathLst>
                <a:path h="210063" w="296715">
                  <a:moveTo>
                    <a:pt x="105031" y="0"/>
                  </a:moveTo>
                  <a:lnTo>
                    <a:pt x="191684" y="0"/>
                  </a:lnTo>
                  <a:cubicBezTo>
                    <a:pt x="219540" y="0"/>
                    <a:pt x="246255" y="11066"/>
                    <a:pt x="265952" y="30763"/>
                  </a:cubicBezTo>
                  <a:cubicBezTo>
                    <a:pt x="285649" y="50460"/>
                    <a:pt x="296715" y="77175"/>
                    <a:pt x="296715" y="105031"/>
                  </a:cubicBezTo>
                  <a:lnTo>
                    <a:pt x="296715" y="105031"/>
                  </a:lnTo>
                  <a:cubicBezTo>
                    <a:pt x="296715" y="132887"/>
                    <a:pt x="285649" y="159603"/>
                    <a:pt x="265952" y="179300"/>
                  </a:cubicBezTo>
                  <a:cubicBezTo>
                    <a:pt x="246255" y="198997"/>
                    <a:pt x="219540" y="210063"/>
                    <a:pt x="191684" y="210063"/>
                  </a:cubicBezTo>
                  <a:lnTo>
                    <a:pt x="105031" y="210063"/>
                  </a:lnTo>
                  <a:cubicBezTo>
                    <a:pt x="77175" y="210063"/>
                    <a:pt x="50460" y="198997"/>
                    <a:pt x="30763" y="179300"/>
                  </a:cubicBezTo>
                  <a:cubicBezTo>
                    <a:pt x="11066" y="159603"/>
                    <a:pt x="0" y="132887"/>
                    <a:pt x="0" y="105031"/>
                  </a:cubicBezTo>
                  <a:lnTo>
                    <a:pt x="0" y="105031"/>
                  </a:lnTo>
                  <a:cubicBezTo>
                    <a:pt x="0" y="77175"/>
                    <a:pt x="11066" y="50460"/>
                    <a:pt x="30763" y="30763"/>
                  </a:cubicBezTo>
                  <a:cubicBezTo>
                    <a:pt x="50460" y="11066"/>
                    <a:pt x="77175" y="0"/>
                    <a:pt x="105031" y="0"/>
                  </a:cubicBezTo>
                  <a:close/>
                </a:path>
              </a:pathLst>
            </a:custGeom>
            <a:solidFill>
              <a:srgbClr val="FFEFB3"/>
            </a:solidFill>
          </p:spPr>
        </p:sp>
        <p:sp>
          <p:nvSpPr>
            <p:cNvPr name="TextBox 4" id="4"/>
            <p:cNvSpPr txBox="true"/>
            <p:nvPr/>
          </p:nvSpPr>
          <p:spPr>
            <a:xfrm>
              <a:off x="0" y="9525"/>
              <a:ext cx="296715" cy="200538"/>
            </a:xfrm>
            <a:prstGeom prst="rect">
              <a:avLst/>
            </a:prstGeom>
          </p:spPr>
          <p:txBody>
            <a:bodyPr anchor="ctr" rtlCol="false" tIns="50800" lIns="50800" bIns="50800" rIns="50800"/>
            <a:lstStyle/>
            <a:p>
              <a:pPr algn="ctr">
                <a:lnSpc>
                  <a:spcPts val="2280"/>
                </a:lnSpc>
              </a:pPr>
            </a:p>
          </p:txBody>
        </p:sp>
      </p:grpSp>
      <p:grpSp>
        <p:nvGrpSpPr>
          <p:cNvPr name="Group 5" id="5"/>
          <p:cNvGrpSpPr/>
          <p:nvPr/>
        </p:nvGrpSpPr>
        <p:grpSpPr>
          <a:xfrm rot="0">
            <a:off x="13258907" y="6909"/>
            <a:ext cx="5029093" cy="10280091"/>
            <a:chOff x="0" y="0"/>
            <a:chExt cx="1324535" cy="2707514"/>
          </a:xfrm>
        </p:grpSpPr>
        <p:sp>
          <p:nvSpPr>
            <p:cNvPr name="Freeform 6" id="6"/>
            <p:cNvSpPr/>
            <p:nvPr/>
          </p:nvSpPr>
          <p:spPr>
            <a:xfrm flipH="false" flipV="false" rot="0">
              <a:off x="0" y="0"/>
              <a:ext cx="1324535" cy="2707514"/>
            </a:xfrm>
            <a:custGeom>
              <a:avLst/>
              <a:gdLst/>
              <a:ahLst/>
              <a:cxnLst/>
              <a:rect r="r" b="b" t="t" l="l"/>
              <a:pathLst>
                <a:path h="2707514" w="1324535">
                  <a:moveTo>
                    <a:pt x="0" y="0"/>
                  </a:moveTo>
                  <a:lnTo>
                    <a:pt x="1324535" y="0"/>
                  </a:lnTo>
                  <a:lnTo>
                    <a:pt x="1324535" y="2707514"/>
                  </a:lnTo>
                  <a:lnTo>
                    <a:pt x="0" y="2707514"/>
                  </a:lnTo>
                  <a:close/>
                </a:path>
              </a:pathLst>
            </a:custGeom>
            <a:solidFill>
              <a:srgbClr val="FFEFB3"/>
            </a:solidFill>
          </p:spPr>
        </p:sp>
        <p:sp>
          <p:nvSpPr>
            <p:cNvPr name="TextBox 7" id="7"/>
            <p:cNvSpPr txBox="true"/>
            <p:nvPr/>
          </p:nvSpPr>
          <p:spPr>
            <a:xfrm>
              <a:off x="0" y="9525"/>
              <a:ext cx="1324535" cy="2697989"/>
            </a:xfrm>
            <a:prstGeom prst="rect">
              <a:avLst/>
            </a:prstGeom>
          </p:spPr>
          <p:txBody>
            <a:bodyPr anchor="ctr" rtlCol="false" tIns="50800" lIns="50800" bIns="50800" rIns="50800"/>
            <a:lstStyle/>
            <a:p>
              <a:pPr algn="ctr">
                <a:lnSpc>
                  <a:spcPts val="2280"/>
                </a:lnSpc>
              </a:pPr>
            </a:p>
          </p:txBody>
        </p:sp>
      </p:grpSp>
      <p:grpSp>
        <p:nvGrpSpPr>
          <p:cNvPr name="Group 8" id="8"/>
          <p:cNvGrpSpPr/>
          <p:nvPr/>
        </p:nvGrpSpPr>
        <p:grpSpPr>
          <a:xfrm rot="0">
            <a:off x="11902120" y="5469944"/>
            <a:ext cx="6201524" cy="5073320"/>
            <a:chOff x="0" y="0"/>
            <a:chExt cx="960778" cy="785990"/>
          </a:xfrm>
        </p:grpSpPr>
        <p:sp>
          <p:nvSpPr>
            <p:cNvPr name="Freeform 9" id="9"/>
            <p:cNvSpPr/>
            <p:nvPr/>
          </p:nvSpPr>
          <p:spPr>
            <a:xfrm flipH="false" flipV="false" rot="0">
              <a:off x="0" y="0"/>
              <a:ext cx="960778" cy="785990"/>
            </a:xfrm>
            <a:custGeom>
              <a:avLst/>
              <a:gdLst/>
              <a:ahLst/>
              <a:cxnLst/>
              <a:rect r="r" b="b" t="t" l="l"/>
              <a:pathLst>
                <a:path h="785990" w="960778">
                  <a:moveTo>
                    <a:pt x="28713" y="0"/>
                  </a:moveTo>
                  <a:lnTo>
                    <a:pt x="932065" y="0"/>
                  </a:lnTo>
                  <a:cubicBezTo>
                    <a:pt x="947923" y="0"/>
                    <a:pt x="960778" y="12855"/>
                    <a:pt x="960778" y="28713"/>
                  </a:cubicBezTo>
                  <a:lnTo>
                    <a:pt x="960778" y="757277"/>
                  </a:lnTo>
                  <a:cubicBezTo>
                    <a:pt x="960778" y="764892"/>
                    <a:pt x="957753" y="772196"/>
                    <a:pt x="952369" y="777580"/>
                  </a:cubicBezTo>
                  <a:cubicBezTo>
                    <a:pt x="946984" y="782965"/>
                    <a:pt x="939681" y="785990"/>
                    <a:pt x="932065" y="785990"/>
                  </a:cubicBezTo>
                  <a:lnTo>
                    <a:pt x="28713" y="785990"/>
                  </a:lnTo>
                  <a:cubicBezTo>
                    <a:pt x="12855" y="785990"/>
                    <a:pt x="0" y="773135"/>
                    <a:pt x="0" y="757277"/>
                  </a:cubicBezTo>
                  <a:lnTo>
                    <a:pt x="0" y="28713"/>
                  </a:lnTo>
                  <a:cubicBezTo>
                    <a:pt x="0" y="12855"/>
                    <a:pt x="12855" y="0"/>
                    <a:pt x="28713" y="0"/>
                  </a:cubicBezTo>
                  <a:close/>
                </a:path>
              </a:pathLst>
            </a:custGeom>
            <a:blipFill>
              <a:blip r:embed="rId2"/>
              <a:stretch>
                <a:fillRect l="-24990" t="0" r="-24990" b="0"/>
              </a:stretch>
            </a:blipFill>
          </p:spPr>
        </p:sp>
      </p:grpSp>
      <p:grpSp>
        <p:nvGrpSpPr>
          <p:cNvPr name="Group 10" id="10"/>
          <p:cNvGrpSpPr/>
          <p:nvPr/>
        </p:nvGrpSpPr>
        <p:grpSpPr>
          <a:xfrm rot="0">
            <a:off x="9422027" y="2102103"/>
            <a:ext cx="6201524" cy="3044851"/>
            <a:chOff x="0" y="0"/>
            <a:chExt cx="960778" cy="471727"/>
          </a:xfrm>
        </p:grpSpPr>
        <p:sp>
          <p:nvSpPr>
            <p:cNvPr name="Freeform 11" id="11"/>
            <p:cNvSpPr/>
            <p:nvPr/>
          </p:nvSpPr>
          <p:spPr>
            <a:xfrm flipH="false" flipV="false" rot="0">
              <a:off x="0" y="0"/>
              <a:ext cx="960778" cy="471727"/>
            </a:xfrm>
            <a:custGeom>
              <a:avLst/>
              <a:gdLst/>
              <a:ahLst/>
              <a:cxnLst/>
              <a:rect r="r" b="b" t="t" l="l"/>
              <a:pathLst>
                <a:path h="471727" w="960778">
                  <a:moveTo>
                    <a:pt x="28713" y="0"/>
                  </a:moveTo>
                  <a:lnTo>
                    <a:pt x="932065" y="0"/>
                  </a:lnTo>
                  <a:cubicBezTo>
                    <a:pt x="947923" y="0"/>
                    <a:pt x="960778" y="12855"/>
                    <a:pt x="960778" y="28713"/>
                  </a:cubicBezTo>
                  <a:lnTo>
                    <a:pt x="960778" y="443014"/>
                  </a:lnTo>
                  <a:cubicBezTo>
                    <a:pt x="960778" y="458872"/>
                    <a:pt x="947923" y="471727"/>
                    <a:pt x="932065" y="471727"/>
                  </a:cubicBezTo>
                  <a:lnTo>
                    <a:pt x="28713" y="471727"/>
                  </a:lnTo>
                  <a:cubicBezTo>
                    <a:pt x="21098" y="471727"/>
                    <a:pt x="13795" y="468702"/>
                    <a:pt x="8410" y="463317"/>
                  </a:cubicBezTo>
                  <a:cubicBezTo>
                    <a:pt x="3025" y="457933"/>
                    <a:pt x="0" y="450629"/>
                    <a:pt x="0" y="443014"/>
                  </a:cubicBezTo>
                  <a:lnTo>
                    <a:pt x="0" y="28713"/>
                  </a:lnTo>
                  <a:cubicBezTo>
                    <a:pt x="0" y="12855"/>
                    <a:pt x="12855" y="0"/>
                    <a:pt x="28713" y="0"/>
                  </a:cubicBezTo>
                  <a:close/>
                </a:path>
              </a:pathLst>
            </a:custGeom>
            <a:blipFill>
              <a:blip r:embed="rId3"/>
              <a:stretch>
                <a:fillRect l="0" t="-10731" r="0" b="-10731"/>
              </a:stretch>
            </a:blipFill>
          </p:spPr>
        </p:sp>
      </p:grpSp>
      <p:sp>
        <p:nvSpPr>
          <p:cNvPr name="Freeform 12" id="12"/>
          <p:cNvSpPr/>
          <p:nvPr/>
        </p:nvSpPr>
        <p:spPr>
          <a:xfrm flipH="false" flipV="false" rot="0">
            <a:off x="496428" y="188648"/>
            <a:ext cx="1910158" cy="1910158"/>
          </a:xfrm>
          <a:custGeom>
            <a:avLst/>
            <a:gdLst/>
            <a:ahLst/>
            <a:cxnLst/>
            <a:rect r="r" b="b" t="t" l="l"/>
            <a:pathLst>
              <a:path h="1910158" w="1910158">
                <a:moveTo>
                  <a:pt x="0" y="0"/>
                </a:moveTo>
                <a:lnTo>
                  <a:pt x="1910158" y="0"/>
                </a:lnTo>
                <a:lnTo>
                  <a:pt x="1910158" y="1910158"/>
                </a:lnTo>
                <a:lnTo>
                  <a:pt x="0" y="1910158"/>
                </a:lnTo>
                <a:lnTo>
                  <a:pt x="0" y="0"/>
                </a:lnTo>
                <a:close/>
              </a:path>
            </a:pathLst>
          </a:custGeom>
          <a:blipFill>
            <a:blip r:embed="rId4"/>
            <a:stretch>
              <a:fillRect l="0" t="0" r="0" b="0"/>
            </a:stretch>
          </a:blipFill>
        </p:spPr>
      </p:sp>
      <p:sp>
        <p:nvSpPr>
          <p:cNvPr name="Freeform 13" id="13"/>
          <p:cNvSpPr/>
          <p:nvPr/>
        </p:nvSpPr>
        <p:spPr>
          <a:xfrm flipH="false" flipV="false" rot="0">
            <a:off x="8013685" y="8066296"/>
            <a:ext cx="3888434" cy="2187244"/>
          </a:xfrm>
          <a:custGeom>
            <a:avLst/>
            <a:gdLst/>
            <a:ahLst/>
            <a:cxnLst/>
            <a:rect r="r" b="b" t="t" l="l"/>
            <a:pathLst>
              <a:path h="2187244" w="3888434">
                <a:moveTo>
                  <a:pt x="0" y="0"/>
                </a:moveTo>
                <a:lnTo>
                  <a:pt x="3888435" y="0"/>
                </a:lnTo>
                <a:lnTo>
                  <a:pt x="3888435" y="2187244"/>
                </a:lnTo>
                <a:lnTo>
                  <a:pt x="0" y="2187244"/>
                </a:lnTo>
                <a:lnTo>
                  <a:pt x="0" y="0"/>
                </a:lnTo>
                <a:close/>
              </a:path>
            </a:pathLst>
          </a:custGeom>
          <a:blipFill>
            <a:blip r:embed="rId5"/>
            <a:stretch>
              <a:fillRect l="0" t="0" r="0" b="0"/>
            </a:stretch>
          </a:blipFill>
        </p:spPr>
      </p:sp>
      <p:sp>
        <p:nvSpPr>
          <p:cNvPr name="TextBox 14" id="14"/>
          <p:cNvSpPr txBox="true"/>
          <p:nvPr/>
        </p:nvSpPr>
        <p:spPr>
          <a:xfrm rot="0">
            <a:off x="1675886" y="2665622"/>
            <a:ext cx="5974133" cy="1807845"/>
          </a:xfrm>
          <a:prstGeom prst="rect">
            <a:avLst/>
          </a:prstGeom>
        </p:spPr>
        <p:txBody>
          <a:bodyPr anchor="t" rtlCol="false" tIns="0" lIns="0" bIns="0" rIns="0">
            <a:spAutoFit/>
          </a:bodyPr>
          <a:lstStyle/>
          <a:p>
            <a:pPr algn="l">
              <a:lnSpc>
                <a:spcPts val="6840"/>
              </a:lnSpc>
            </a:pPr>
            <a:r>
              <a:rPr lang="en-US" sz="6000">
                <a:solidFill>
                  <a:srgbClr val="000000"/>
                </a:solidFill>
                <a:latin typeface="Poppins"/>
                <a:ea typeface="Poppins"/>
                <a:cs typeface="Poppins"/>
                <a:sym typeface="Poppins"/>
              </a:rPr>
              <a:t>¿Qué es</a:t>
            </a:r>
          </a:p>
          <a:p>
            <a:pPr algn="l" marL="0" indent="0" lvl="0">
              <a:lnSpc>
                <a:spcPts val="6840"/>
              </a:lnSpc>
              <a:spcBef>
                <a:spcPct val="0"/>
              </a:spcBef>
            </a:pPr>
            <a:r>
              <a:rPr lang="en-US" sz="6000">
                <a:solidFill>
                  <a:srgbClr val="000000"/>
                </a:solidFill>
                <a:latin typeface="Poppins"/>
                <a:ea typeface="Poppins"/>
                <a:cs typeface="Poppins"/>
                <a:sym typeface="Poppins"/>
              </a:rPr>
              <a:t>Makey Makey?</a:t>
            </a:r>
          </a:p>
        </p:txBody>
      </p:sp>
      <p:sp>
        <p:nvSpPr>
          <p:cNvPr name="TextBox 15" id="15"/>
          <p:cNvSpPr txBox="true"/>
          <p:nvPr/>
        </p:nvSpPr>
        <p:spPr>
          <a:xfrm rot="0">
            <a:off x="1675886" y="4609988"/>
            <a:ext cx="7468114" cy="3968116"/>
          </a:xfrm>
          <a:prstGeom prst="rect">
            <a:avLst/>
          </a:prstGeom>
        </p:spPr>
        <p:txBody>
          <a:bodyPr anchor="t" rtlCol="false" tIns="0" lIns="0" bIns="0" rIns="0">
            <a:spAutoFit/>
          </a:bodyPr>
          <a:lstStyle/>
          <a:p>
            <a:pPr algn="just" marL="0" indent="0" lvl="0">
              <a:lnSpc>
                <a:spcPts val="4559"/>
              </a:lnSpc>
            </a:pPr>
            <a:r>
              <a:rPr lang="en-US" sz="2399">
                <a:solidFill>
                  <a:srgbClr val="737373"/>
                </a:solidFill>
                <a:latin typeface="Poppins"/>
                <a:ea typeface="Poppins"/>
                <a:cs typeface="Poppins"/>
                <a:sym typeface="Poppins"/>
              </a:rPr>
              <a:t>Es un kit d</a:t>
            </a:r>
            <a:r>
              <a:rPr lang="en-US" sz="2399" strike="noStrike" u="none">
                <a:solidFill>
                  <a:srgbClr val="737373"/>
                </a:solidFill>
                <a:latin typeface="Poppins"/>
                <a:ea typeface="Poppins"/>
                <a:cs typeface="Poppins"/>
                <a:sym typeface="Poppins"/>
              </a:rPr>
              <a:t>e invención y una placa de circuitos tipo "plug and play" que permite convertir objetos cotidianos (frutas, plastilina, papel, grafito) en teclas de computador Utiliza pinzas de cocodrilo para cerrar circuitos eléctricos, enviando señales de clic o teclado al computador sin necesidad de programar.</a:t>
            </a:r>
          </a:p>
        </p:txBody>
      </p:sp>
      <p:sp>
        <p:nvSpPr>
          <p:cNvPr name="TextBox 16" id="16"/>
          <p:cNvSpPr txBox="true"/>
          <p:nvPr/>
        </p:nvSpPr>
        <p:spPr>
          <a:xfrm rot="0">
            <a:off x="6631600" y="1153252"/>
            <a:ext cx="5580854" cy="291465"/>
          </a:xfrm>
          <a:prstGeom prst="rect">
            <a:avLst/>
          </a:prstGeom>
        </p:spPr>
        <p:txBody>
          <a:bodyPr anchor="t" rtlCol="false" tIns="0" lIns="0" bIns="0" rIns="0">
            <a:spAutoFit/>
          </a:bodyPr>
          <a:lstStyle/>
          <a:p>
            <a:pPr algn="ctr" marL="0" indent="0" lvl="1">
              <a:lnSpc>
                <a:spcPts val="2280"/>
              </a:lnSpc>
              <a:spcBef>
                <a:spcPct val="0"/>
              </a:spcBef>
            </a:pPr>
            <a:r>
              <a:rPr lang="en-US" b="true" sz="2000">
                <a:solidFill>
                  <a:srgbClr val="E0E0E0"/>
                </a:solidFill>
                <a:latin typeface="DM Sans Bold"/>
                <a:ea typeface="DM Sans Bold"/>
                <a:cs typeface="DM Sans Bold"/>
                <a:sym typeface="DM Sans Bold"/>
              </a:rPr>
              <a:t>Estación 1: Piano</a:t>
            </a:r>
            <a:r>
              <a:rPr lang="en-US" b="true" sz="2000">
                <a:solidFill>
                  <a:srgbClr val="E0E0E0"/>
                </a:solidFill>
                <a:latin typeface="DM Sans Bold"/>
                <a:ea typeface="DM Sans Bold"/>
                <a:cs typeface="DM Sans Bold"/>
                <a:sym typeface="DM Sans Bold"/>
              </a:rPr>
              <a:t> Digital con Makey Makey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121894" y="2085739"/>
            <a:ext cx="1126590" cy="797582"/>
            <a:chOff x="0" y="0"/>
            <a:chExt cx="296715" cy="210063"/>
          </a:xfrm>
        </p:grpSpPr>
        <p:sp>
          <p:nvSpPr>
            <p:cNvPr name="Freeform 3" id="3"/>
            <p:cNvSpPr/>
            <p:nvPr/>
          </p:nvSpPr>
          <p:spPr>
            <a:xfrm flipH="false" flipV="false" rot="0">
              <a:off x="0" y="0"/>
              <a:ext cx="296715" cy="210063"/>
            </a:xfrm>
            <a:custGeom>
              <a:avLst/>
              <a:gdLst/>
              <a:ahLst/>
              <a:cxnLst/>
              <a:rect r="r" b="b" t="t" l="l"/>
              <a:pathLst>
                <a:path h="210063" w="296715">
                  <a:moveTo>
                    <a:pt x="105031" y="0"/>
                  </a:moveTo>
                  <a:lnTo>
                    <a:pt x="191684" y="0"/>
                  </a:lnTo>
                  <a:cubicBezTo>
                    <a:pt x="219540" y="0"/>
                    <a:pt x="246255" y="11066"/>
                    <a:pt x="265952" y="30763"/>
                  </a:cubicBezTo>
                  <a:cubicBezTo>
                    <a:pt x="285649" y="50460"/>
                    <a:pt x="296715" y="77175"/>
                    <a:pt x="296715" y="105031"/>
                  </a:cubicBezTo>
                  <a:lnTo>
                    <a:pt x="296715" y="105031"/>
                  </a:lnTo>
                  <a:cubicBezTo>
                    <a:pt x="296715" y="132887"/>
                    <a:pt x="285649" y="159603"/>
                    <a:pt x="265952" y="179300"/>
                  </a:cubicBezTo>
                  <a:cubicBezTo>
                    <a:pt x="246255" y="198997"/>
                    <a:pt x="219540" y="210063"/>
                    <a:pt x="191684" y="210063"/>
                  </a:cubicBezTo>
                  <a:lnTo>
                    <a:pt x="105031" y="210063"/>
                  </a:lnTo>
                  <a:cubicBezTo>
                    <a:pt x="77175" y="210063"/>
                    <a:pt x="50460" y="198997"/>
                    <a:pt x="30763" y="179300"/>
                  </a:cubicBezTo>
                  <a:cubicBezTo>
                    <a:pt x="11066" y="159603"/>
                    <a:pt x="0" y="132887"/>
                    <a:pt x="0" y="105031"/>
                  </a:cubicBezTo>
                  <a:lnTo>
                    <a:pt x="0" y="105031"/>
                  </a:lnTo>
                  <a:cubicBezTo>
                    <a:pt x="0" y="77175"/>
                    <a:pt x="11066" y="50460"/>
                    <a:pt x="30763" y="30763"/>
                  </a:cubicBezTo>
                  <a:cubicBezTo>
                    <a:pt x="50460" y="11066"/>
                    <a:pt x="77175" y="0"/>
                    <a:pt x="105031" y="0"/>
                  </a:cubicBezTo>
                  <a:close/>
                </a:path>
              </a:pathLst>
            </a:custGeom>
            <a:solidFill>
              <a:srgbClr val="FFEFB3"/>
            </a:solidFill>
          </p:spPr>
        </p:sp>
        <p:sp>
          <p:nvSpPr>
            <p:cNvPr name="TextBox 4" id="4"/>
            <p:cNvSpPr txBox="true"/>
            <p:nvPr/>
          </p:nvSpPr>
          <p:spPr>
            <a:xfrm>
              <a:off x="0" y="9525"/>
              <a:ext cx="296715" cy="200538"/>
            </a:xfrm>
            <a:prstGeom prst="rect">
              <a:avLst/>
            </a:prstGeom>
          </p:spPr>
          <p:txBody>
            <a:bodyPr anchor="ctr" rtlCol="false" tIns="50800" lIns="50800" bIns="50800" rIns="50800"/>
            <a:lstStyle/>
            <a:p>
              <a:pPr algn="ctr">
                <a:lnSpc>
                  <a:spcPts val="2280"/>
                </a:lnSpc>
              </a:pPr>
            </a:p>
          </p:txBody>
        </p:sp>
      </p:grpSp>
      <p:sp>
        <p:nvSpPr>
          <p:cNvPr name="Freeform 5" id="5"/>
          <p:cNvSpPr/>
          <p:nvPr/>
        </p:nvSpPr>
        <p:spPr>
          <a:xfrm flipH="false" flipV="false" rot="0">
            <a:off x="496428" y="188648"/>
            <a:ext cx="1910158" cy="1910158"/>
          </a:xfrm>
          <a:custGeom>
            <a:avLst/>
            <a:gdLst/>
            <a:ahLst/>
            <a:cxnLst/>
            <a:rect r="r" b="b" t="t" l="l"/>
            <a:pathLst>
              <a:path h="1910158" w="1910158">
                <a:moveTo>
                  <a:pt x="0" y="0"/>
                </a:moveTo>
                <a:lnTo>
                  <a:pt x="1910158" y="0"/>
                </a:lnTo>
                <a:lnTo>
                  <a:pt x="1910158" y="1910158"/>
                </a:lnTo>
                <a:lnTo>
                  <a:pt x="0" y="1910158"/>
                </a:lnTo>
                <a:lnTo>
                  <a:pt x="0" y="0"/>
                </a:lnTo>
                <a:close/>
              </a:path>
            </a:pathLst>
          </a:custGeom>
          <a:blipFill>
            <a:blip r:embed="rId2"/>
            <a:stretch>
              <a:fillRect l="0" t="0" r="0" b="0"/>
            </a:stretch>
          </a:blipFill>
        </p:spPr>
      </p:sp>
      <p:grpSp>
        <p:nvGrpSpPr>
          <p:cNvPr name="Group 6" id="6"/>
          <p:cNvGrpSpPr/>
          <p:nvPr/>
        </p:nvGrpSpPr>
        <p:grpSpPr>
          <a:xfrm rot="0">
            <a:off x="-672135" y="5784769"/>
            <a:ext cx="3086100" cy="365403"/>
            <a:chOff x="0" y="0"/>
            <a:chExt cx="812800" cy="96238"/>
          </a:xfrm>
        </p:grpSpPr>
        <p:sp>
          <p:nvSpPr>
            <p:cNvPr name="Freeform 7" id="7"/>
            <p:cNvSpPr/>
            <p:nvPr/>
          </p:nvSpPr>
          <p:spPr>
            <a:xfrm flipH="false" flipV="false" rot="0">
              <a:off x="0" y="0"/>
              <a:ext cx="812800" cy="96238"/>
            </a:xfrm>
            <a:custGeom>
              <a:avLst/>
              <a:gdLst/>
              <a:ahLst/>
              <a:cxnLst/>
              <a:rect r="r" b="b" t="t" l="l"/>
              <a:pathLst>
                <a:path h="96238" w="812800">
                  <a:moveTo>
                    <a:pt x="0" y="0"/>
                  </a:moveTo>
                  <a:lnTo>
                    <a:pt x="812800" y="0"/>
                  </a:lnTo>
                  <a:lnTo>
                    <a:pt x="812800" y="96238"/>
                  </a:lnTo>
                  <a:lnTo>
                    <a:pt x="0" y="96238"/>
                  </a:lnTo>
                  <a:close/>
                </a:path>
              </a:pathLst>
            </a:custGeom>
            <a:solidFill>
              <a:srgbClr val="FFFFFF"/>
            </a:solidFill>
          </p:spPr>
        </p:sp>
        <p:sp>
          <p:nvSpPr>
            <p:cNvPr name="TextBox 8" id="8"/>
            <p:cNvSpPr txBox="true"/>
            <p:nvPr/>
          </p:nvSpPr>
          <p:spPr>
            <a:xfrm>
              <a:off x="0" y="9525"/>
              <a:ext cx="812800" cy="86713"/>
            </a:xfrm>
            <a:prstGeom prst="rect">
              <a:avLst/>
            </a:prstGeom>
          </p:spPr>
          <p:txBody>
            <a:bodyPr anchor="ctr" rtlCol="false" tIns="50800" lIns="50800" bIns="50800" rIns="50800"/>
            <a:lstStyle/>
            <a:p>
              <a:pPr algn="ctr">
                <a:lnSpc>
                  <a:spcPts val="2280"/>
                </a:lnSpc>
              </a:pPr>
            </a:p>
          </p:txBody>
        </p:sp>
      </p:grpSp>
      <p:grpSp>
        <p:nvGrpSpPr>
          <p:cNvPr name="Group 9" id="9"/>
          <p:cNvGrpSpPr/>
          <p:nvPr/>
        </p:nvGrpSpPr>
        <p:grpSpPr>
          <a:xfrm rot="0">
            <a:off x="-508707" y="6546917"/>
            <a:ext cx="3086100" cy="365403"/>
            <a:chOff x="0" y="0"/>
            <a:chExt cx="812800" cy="96238"/>
          </a:xfrm>
        </p:grpSpPr>
        <p:sp>
          <p:nvSpPr>
            <p:cNvPr name="Freeform 10" id="10"/>
            <p:cNvSpPr/>
            <p:nvPr/>
          </p:nvSpPr>
          <p:spPr>
            <a:xfrm flipH="false" flipV="false" rot="0">
              <a:off x="0" y="0"/>
              <a:ext cx="812800" cy="96238"/>
            </a:xfrm>
            <a:custGeom>
              <a:avLst/>
              <a:gdLst/>
              <a:ahLst/>
              <a:cxnLst/>
              <a:rect r="r" b="b" t="t" l="l"/>
              <a:pathLst>
                <a:path h="96238" w="812800">
                  <a:moveTo>
                    <a:pt x="0" y="0"/>
                  </a:moveTo>
                  <a:lnTo>
                    <a:pt x="812800" y="0"/>
                  </a:lnTo>
                  <a:lnTo>
                    <a:pt x="812800" y="96238"/>
                  </a:lnTo>
                  <a:lnTo>
                    <a:pt x="0" y="96238"/>
                  </a:lnTo>
                  <a:close/>
                </a:path>
              </a:pathLst>
            </a:custGeom>
            <a:solidFill>
              <a:srgbClr val="FFFFFF"/>
            </a:solidFill>
          </p:spPr>
        </p:sp>
        <p:sp>
          <p:nvSpPr>
            <p:cNvPr name="TextBox 11" id="11"/>
            <p:cNvSpPr txBox="true"/>
            <p:nvPr/>
          </p:nvSpPr>
          <p:spPr>
            <a:xfrm>
              <a:off x="0" y="9525"/>
              <a:ext cx="812800" cy="86713"/>
            </a:xfrm>
            <a:prstGeom prst="rect">
              <a:avLst/>
            </a:prstGeom>
          </p:spPr>
          <p:txBody>
            <a:bodyPr anchor="ctr" rtlCol="false" tIns="50800" lIns="50800" bIns="50800" rIns="50800"/>
            <a:lstStyle/>
            <a:p>
              <a:pPr algn="ctr">
                <a:lnSpc>
                  <a:spcPts val="2280"/>
                </a:lnSpc>
              </a:pPr>
            </a:p>
          </p:txBody>
        </p:sp>
      </p:grpSp>
      <p:grpSp>
        <p:nvGrpSpPr>
          <p:cNvPr name="Group 12" id="12"/>
          <p:cNvGrpSpPr/>
          <p:nvPr/>
        </p:nvGrpSpPr>
        <p:grpSpPr>
          <a:xfrm rot="0">
            <a:off x="-395557" y="7007570"/>
            <a:ext cx="3086100" cy="513926"/>
            <a:chOff x="0" y="0"/>
            <a:chExt cx="812800" cy="135355"/>
          </a:xfrm>
        </p:grpSpPr>
        <p:sp>
          <p:nvSpPr>
            <p:cNvPr name="Freeform 13" id="13"/>
            <p:cNvSpPr/>
            <p:nvPr/>
          </p:nvSpPr>
          <p:spPr>
            <a:xfrm flipH="false" flipV="false" rot="0">
              <a:off x="0" y="0"/>
              <a:ext cx="812800" cy="135355"/>
            </a:xfrm>
            <a:custGeom>
              <a:avLst/>
              <a:gdLst/>
              <a:ahLst/>
              <a:cxnLst/>
              <a:rect r="r" b="b" t="t" l="l"/>
              <a:pathLst>
                <a:path h="135355" w="812800">
                  <a:moveTo>
                    <a:pt x="0" y="0"/>
                  </a:moveTo>
                  <a:lnTo>
                    <a:pt x="812800" y="0"/>
                  </a:lnTo>
                  <a:lnTo>
                    <a:pt x="812800" y="135355"/>
                  </a:lnTo>
                  <a:lnTo>
                    <a:pt x="0" y="135355"/>
                  </a:lnTo>
                  <a:close/>
                </a:path>
              </a:pathLst>
            </a:custGeom>
            <a:solidFill>
              <a:srgbClr val="FFFFFF"/>
            </a:solidFill>
          </p:spPr>
        </p:sp>
        <p:sp>
          <p:nvSpPr>
            <p:cNvPr name="TextBox 14" id="14"/>
            <p:cNvSpPr txBox="true"/>
            <p:nvPr/>
          </p:nvSpPr>
          <p:spPr>
            <a:xfrm>
              <a:off x="0" y="9525"/>
              <a:ext cx="812800" cy="125830"/>
            </a:xfrm>
            <a:prstGeom prst="rect">
              <a:avLst/>
            </a:prstGeom>
          </p:spPr>
          <p:txBody>
            <a:bodyPr anchor="ctr" rtlCol="false" tIns="50800" lIns="50800" bIns="50800" rIns="50800"/>
            <a:lstStyle/>
            <a:p>
              <a:pPr algn="ctr">
                <a:lnSpc>
                  <a:spcPts val="2280"/>
                </a:lnSpc>
              </a:pPr>
            </a:p>
          </p:txBody>
        </p:sp>
      </p:grpSp>
      <p:grpSp>
        <p:nvGrpSpPr>
          <p:cNvPr name="Group 15" id="15"/>
          <p:cNvGrpSpPr/>
          <p:nvPr/>
        </p:nvGrpSpPr>
        <p:grpSpPr>
          <a:xfrm rot="0">
            <a:off x="-508707" y="7550071"/>
            <a:ext cx="3086100" cy="513926"/>
            <a:chOff x="0" y="0"/>
            <a:chExt cx="812800" cy="135355"/>
          </a:xfrm>
        </p:grpSpPr>
        <p:sp>
          <p:nvSpPr>
            <p:cNvPr name="Freeform 16" id="16"/>
            <p:cNvSpPr/>
            <p:nvPr/>
          </p:nvSpPr>
          <p:spPr>
            <a:xfrm flipH="false" flipV="false" rot="0">
              <a:off x="0" y="0"/>
              <a:ext cx="812800" cy="135355"/>
            </a:xfrm>
            <a:custGeom>
              <a:avLst/>
              <a:gdLst/>
              <a:ahLst/>
              <a:cxnLst/>
              <a:rect r="r" b="b" t="t" l="l"/>
              <a:pathLst>
                <a:path h="135355" w="812800">
                  <a:moveTo>
                    <a:pt x="0" y="0"/>
                  </a:moveTo>
                  <a:lnTo>
                    <a:pt x="812800" y="0"/>
                  </a:lnTo>
                  <a:lnTo>
                    <a:pt x="812800" y="135355"/>
                  </a:lnTo>
                  <a:lnTo>
                    <a:pt x="0" y="135355"/>
                  </a:lnTo>
                  <a:close/>
                </a:path>
              </a:pathLst>
            </a:custGeom>
            <a:solidFill>
              <a:srgbClr val="FFFFFF"/>
            </a:solidFill>
          </p:spPr>
        </p:sp>
        <p:sp>
          <p:nvSpPr>
            <p:cNvPr name="TextBox 17" id="17"/>
            <p:cNvSpPr txBox="true"/>
            <p:nvPr/>
          </p:nvSpPr>
          <p:spPr>
            <a:xfrm>
              <a:off x="0" y="9525"/>
              <a:ext cx="812800" cy="125830"/>
            </a:xfrm>
            <a:prstGeom prst="rect">
              <a:avLst/>
            </a:prstGeom>
          </p:spPr>
          <p:txBody>
            <a:bodyPr anchor="ctr" rtlCol="false" tIns="50800" lIns="50800" bIns="50800" rIns="50800"/>
            <a:lstStyle/>
            <a:p>
              <a:pPr algn="ctr">
                <a:lnSpc>
                  <a:spcPts val="2280"/>
                </a:lnSpc>
              </a:pPr>
            </a:p>
          </p:txBody>
        </p:sp>
      </p:grpSp>
      <p:grpSp>
        <p:nvGrpSpPr>
          <p:cNvPr name="Group 18" id="18"/>
          <p:cNvGrpSpPr/>
          <p:nvPr/>
        </p:nvGrpSpPr>
        <p:grpSpPr>
          <a:xfrm rot="0">
            <a:off x="-619937" y="8559297"/>
            <a:ext cx="3086100" cy="264583"/>
            <a:chOff x="0" y="0"/>
            <a:chExt cx="812800" cy="69684"/>
          </a:xfrm>
        </p:grpSpPr>
        <p:sp>
          <p:nvSpPr>
            <p:cNvPr name="Freeform 19" id="19"/>
            <p:cNvSpPr/>
            <p:nvPr/>
          </p:nvSpPr>
          <p:spPr>
            <a:xfrm flipH="false" flipV="false" rot="0">
              <a:off x="0" y="0"/>
              <a:ext cx="812800" cy="69684"/>
            </a:xfrm>
            <a:custGeom>
              <a:avLst/>
              <a:gdLst/>
              <a:ahLst/>
              <a:cxnLst/>
              <a:rect r="r" b="b" t="t" l="l"/>
              <a:pathLst>
                <a:path h="69684" w="812800">
                  <a:moveTo>
                    <a:pt x="0" y="0"/>
                  </a:moveTo>
                  <a:lnTo>
                    <a:pt x="812800" y="0"/>
                  </a:lnTo>
                  <a:lnTo>
                    <a:pt x="812800" y="69684"/>
                  </a:lnTo>
                  <a:lnTo>
                    <a:pt x="0" y="69684"/>
                  </a:lnTo>
                  <a:close/>
                </a:path>
              </a:pathLst>
            </a:custGeom>
            <a:solidFill>
              <a:srgbClr val="FFFFFF"/>
            </a:solidFill>
          </p:spPr>
        </p:sp>
        <p:sp>
          <p:nvSpPr>
            <p:cNvPr name="TextBox 20" id="20"/>
            <p:cNvSpPr txBox="true"/>
            <p:nvPr/>
          </p:nvSpPr>
          <p:spPr>
            <a:xfrm>
              <a:off x="0" y="9525"/>
              <a:ext cx="812800" cy="60159"/>
            </a:xfrm>
            <a:prstGeom prst="rect">
              <a:avLst/>
            </a:prstGeom>
          </p:spPr>
          <p:txBody>
            <a:bodyPr anchor="ctr" rtlCol="false" tIns="50800" lIns="50800" bIns="50800" rIns="50800"/>
            <a:lstStyle/>
            <a:p>
              <a:pPr algn="ctr">
                <a:lnSpc>
                  <a:spcPts val="2280"/>
                </a:lnSpc>
              </a:pPr>
            </a:p>
          </p:txBody>
        </p:sp>
      </p:grpSp>
      <p:sp>
        <p:nvSpPr>
          <p:cNvPr name="Freeform 21" id="21"/>
          <p:cNvSpPr/>
          <p:nvPr/>
        </p:nvSpPr>
        <p:spPr>
          <a:xfrm flipH="false" flipV="false" rot="0">
            <a:off x="3849253" y="5203052"/>
            <a:ext cx="11301259" cy="3008960"/>
          </a:xfrm>
          <a:custGeom>
            <a:avLst/>
            <a:gdLst/>
            <a:ahLst/>
            <a:cxnLst/>
            <a:rect r="r" b="b" t="t" l="l"/>
            <a:pathLst>
              <a:path h="3008960" w="11301259">
                <a:moveTo>
                  <a:pt x="0" y="0"/>
                </a:moveTo>
                <a:lnTo>
                  <a:pt x="11301259" y="0"/>
                </a:lnTo>
                <a:lnTo>
                  <a:pt x="11301259" y="3008960"/>
                </a:lnTo>
                <a:lnTo>
                  <a:pt x="0" y="3008960"/>
                </a:lnTo>
                <a:lnTo>
                  <a:pt x="0" y="0"/>
                </a:lnTo>
                <a:close/>
              </a:path>
            </a:pathLst>
          </a:custGeom>
          <a:blipFill>
            <a:blip r:embed="rId3"/>
            <a:stretch>
              <a:fillRect l="0" t="0" r="0" b="0"/>
            </a:stretch>
          </a:blipFill>
        </p:spPr>
      </p:sp>
      <p:sp>
        <p:nvSpPr>
          <p:cNvPr name="AutoShape 22" id="22"/>
          <p:cNvSpPr/>
          <p:nvPr/>
        </p:nvSpPr>
        <p:spPr>
          <a:xfrm>
            <a:off x="3741072" y="6386391"/>
            <a:ext cx="487243" cy="0"/>
          </a:xfrm>
          <a:prstGeom prst="line">
            <a:avLst/>
          </a:prstGeom>
          <a:ln cap="flat" w="38100">
            <a:solidFill>
              <a:srgbClr val="000000"/>
            </a:solidFill>
            <a:prstDash val="solid"/>
            <a:headEnd type="none" len="sm" w="sm"/>
            <a:tailEnd type="triangle" len="med" w="lg"/>
          </a:ln>
        </p:spPr>
      </p:sp>
      <p:sp>
        <p:nvSpPr>
          <p:cNvPr name="AutoShape 23" id="23"/>
          <p:cNvSpPr/>
          <p:nvPr/>
        </p:nvSpPr>
        <p:spPr>
          <a:xfrm flipV="true">
            <a:off x="5445699" y="5031602"/>
            <a:ext cx="0" cy="487243"/>
          </a:xfrm>
          <a:prstGeom prst="line">
            <a:avLst/>
          </a:prstGeom>
          <a:ln cap="flat" w="38100">
            <a:solidFill>
              <a:srgbClr val="000000"/>
            </a:solidFill>
            <a:prstDash val="solid"/>
            <a:headEnd type="none" len="sm" w="sm"/>
            <a:tailEnd type="triangle" len="med" w="lg"/>
          </a:ln>
        </p:spPr>
      </p:sp>
      <p:sp>
        <p:nvSpPr>
          <p:cNvPr name="AutoShape 24" id="24"/>
          <p:cNvSpPr/>
          <p:nvPr/>
        </p:nvSpPr>
        <p:spPr>
          <a:xfrm flipV="true">
            <a:off x="7301567" y="5031602"/>
            <a:ext cx="0" cy="715246"/>
          </a:xfrm>
          <a:prstGeom prst="line">
            <a:avLst/>
          </a:prstGeom>
          <a:ln cap="flat" w="38100">
            <a:solidFill>
              <a:srgbClr val="000000"/>
            </a:solidFill>
            <a:prstDash val="solid"/>
            <a:headEnd type="none" len="sm" w="sm"/>
            <a:tailEnd type="triangle" len="med" w="lg"/>
          </a:ln>
        </p:spPr>
      </p:sp>
      <p:sp>
        <p:nvSpPr>
          <p:cNvPr name="AutoShape 25" id="25"/>
          <p:cNvSpPr/>
          <p:nvPr/>
        </p:nvSpPr>
        <p:spPr>
          <a:xfrm flipV="true">
            <a:off x="8409630" y="5031602"/>
            <a:ext cx="0" cy="715246"/>
          </a:xfrm>
          <a:prstGeom prst="line">
            <a:avLst/>
          </a:prstGeom>
          <a:ln cap="flat" w="38100">
            <a:solidFill>
              <a:srgbClr val="000000"/>
            </a:solidFill>
            <a:prstDash val="solid"/>
            <a:headEnd type="none" len="sm" w="sm"/>
            <a:tailEnd type="triangle" len="med" w="lg"/>
          </a:ln>
        </p:spPr>
      </p:sp>
      <p:sp>
        <p:nvSpPr>
          <p:cNvPr name="AutoShape 26" id="26"/>
          <p:cNvSpPr/>
          <p:nvPr/>
        </p:nvSpPr>
        <p:spPr>
          <a:xfrm flipH="true">
            <a:off x="5464749" y="7568546"/>
            <a:ext cx="0" cy="828039"/>
          </a:xfrm>
          <a:prstGeom prst="line">
            <a:avLst/>
          </a:prstGeom>
          <a:ln cap="flat" w="38100">
            <a:solidFill>
              <a:srgbClr val="000000"/>
            </a:solidFill>
            <a:prstDash val="solid"/>
            <a:headEnd type="none" len="sm" w="sm"/>
            <a:tailEnd type="triangle" len="med" w="lg"/>
          </a:ln>
        </p:spPr>
      </p:sp>
      <p:sp>
        <p:nvSpPr>
          <p:cNvPr name="AutoShape 27" id="27"/>
          <p:cNvSpPr/>
          <p:nvPr/>
        </p:nvSpPr>
        <p:spPr>
          <a:xfrm>
            <a:off x="7753314" y="7980442"/>
            <a:ext cx="0" cy="387569"/>
          </a:xfrm>
          <a:prstGeom prst="line">
            <a:avLst/>
          </a:prstGeom>
          <a:ln cap="flat" w="38100">
            <a:solidFill>
              <a:srgbClr val="000000"/>
            </a:solidFill>
            <a:prstDash val="solid"/>
            <a:headEnd type="none" len="sm" w="sm"/>
            <a:tailEnd type="triangle" len="med" w="lg"/>
          </a:ln>
        </p:spPr>
      </p:sp>
      <p:grpSp>
        <p:nvGrpSpPr>
          <p:cNvPr name="Group 28" id="28"/>
          <p:cNvGrpSpPr/>
          <p:nvPr/>
        </p:nvGrpSpPr>
        <p:grpSpPr>
          <a:xfrm rot="0">
            <a:off x="9090606" y="8793037"/>
            <a:ext cx="6243697" cy="1270714"/>
            <a:chOff x="0" y="0"/>
            <a:chExt cx="1644431" cy="334674"/>
          </a:xfrm>
        </p:grpSpPr>
        <p:sp>
          <p:nvSpPr>
            <p:cNvPr name="Freeform 29" id="29"/>
            <p:cNvSpPr/>
            <p:nvPr/>
          </p:nvSpPr>
          <p:spPr>
            <a:xfrm flipH="false" flipV="false" rot="0">
              <a:off x="0" y="0"/>
              <a:ext cx="1644431" cy="334674"/>
            </a:xfrm>
            <a:custGeom>
              <a:avLst/>
              <a:gdLst/>
              <a:ahLst/>
              <a:cxnLst/>
              <a:rect r="r" b="b" t="t" l="l"/>
              <a:pathLst>
                <a:path h="334674" w="1644431">
                  <a:moveTo>
                    <a:pt x="63238" y="0"/>
                  </a:moveTo>
                  <a:lnTo>
                    <a:pt x="1581193" y="0"/>
                  </a:lnTo>
                  <a:cubicBezTo>
                    <a:pt x="1616118" y="0"/>
                    <a:pt x="1644431" y="28313"/>
                    <a:pt x="1644431" y="63238"/>
                  </a:cubicBezTo>
                  <a:lnTo>
                    <a:pt x="1644431" y="271436"/>
                  </a:lnTo>
                  <a:cubicBezTo>
                    <a:pt x="1644431" y="306361"/>
                    <a:pt x="1616118" y="334674"/>
                    <a:pt x="1581193" y="334674"/>
                  </a:cubicBezTo>
                  <a:lnTo>
                    <a:pt x="63238" y="334674"/>
                  </a:lnTo>
                  <a:cubicBezTo>
                    <a:pt x="28313" y="334674"/>
                    <a:pt x="0" y="306361"/>
                    <a:pt x="0" y="271436"/>
                  </a:cubicBezTo>
                  <a:lnTo>
                    <a:pt x="0" y="63238"/>
                  </a:lnTo>
                  <a:cubicBezTo>
                    <a:pt x="0" y="28313"/>
                    <a:pt x="28313" y="0"/>
                    <a:pt x="63238" y="0"/>
                  </a:cubicBezTo>
                  <a:close/>
                </a:path>
              </a:pathLst>
            </a:custGeom>
            <a:solidFill>
              <a:srgbClr val="FFEFB3"/>
            </a:solidFill>
            <a:ln w="19050" cap="rnd">
              <a:solidFill>
                <a:srgbClr val="F4B526"/>
              </a:solidFill>
              <a:prstDash val="solid"/>
              <a:round/>
            </a:ln>
          </p:spPr>
        </p:sp>
        <p:sp>
          <p:nvSpPr>
            <p:cNvPr name="TextBox 30" id="30"/>
            <p:cNvSpPr txBox="true"/>
            <p:nvPr/>
          </p:nvSpPr>
          <p:spPr>
            <a:xfrm>
              <a:off x="0" y="9525"/>
              <a:ext cx="1644431" cy="325149"/>
            </a:xfrm>
            <a:prstGeom prst="rect">
              <a:avLst/>
            </a:prstGeom>
          </p:spPr>
          <p:txBody>
            <a:bodyPr anchor="ctr" rtlCol="false" tIns="50800" lIns="50800" bIns="50800" rIns="50800"/>
            <a:lstStyle/>
            <a:p>
              <a:pPr algn="ctr">
                <a:lnSpc>
                  <a:spcPts val="2280"/>
                </a:lnSpc>
              </a:pPr>
            </a:p>
          </p:txBody>
        </p:sp>
      </p:grpSp>
      <p:grpSp>
        <p:nvGrpSpPr>
          <p:cNvPr name="Group 31" id="31"/>
          <p:cNvGrpSpPr/>
          <p:nvPr/>
        </p:nvGrpSpPr>
        <p:grpSpPr>
          <a:xfrm rot="0">
            <a:off x="9499882" y="3760888"/>
            <a:ext cx="6243697" cy="1270714"/>
            <a:chOff x="0" y="0"/>
            <a:chExt cx="1644431" cy="334674"/>
          </a:xfrm>
        </p:grpSpPr>
        <p:sp>
          <p:nvSpPr>
            <p:cNvPr name="Freeform 32" id="32"/>
            <p:cNvSpPr/>
            <p:nvPr/>
          </p:nvSpPr>
          <p:spPr>
            <a:xfrm flipH="false" flipV="false" rot="0">
              <a:off x="0" y="0"/>
              <a:ext cx="1644431" cy="334674"/>
            </a:xfrm>
            <a:custGeom>
              <a:avLst/>
              <a:gdLst/>
              <a:ahLst/>
              <a:cxnLst/>
              <a:rect r="r" b="b" t="t" l="l"/>
              <a:pathLst>
                <a:path h="334674" w="1644431">
                  <a:moveTo>
                    <a:pt x="63238" y="0"/>
                  </a:moveTo>
                  <a:lnTo>
                    <a:pt x="1581193" y="0"/>
                  </a:lnTo>
                  <a:cubicBezTo>
                    <a:pt x="1616118" y="0"/>
                    <a:pt x="1644431" y="28313"/>
                    <a:pt x="1644431" y="63238"/>
                  </a:cubicBezTo>
                  <a:lnTo>
                    <a:pt x="1644431" y="271436"/>
                  </a:lnTo>
                  <a:cubicBezTo>
                    <a:pt x="1644431" y="306361"/>
                    <a:pt x="1616118" y="334674"/>
                    <a:pt x="1581193" y="334674"/>
                  </a:cubicBezTo>
                  <a:lnTo>
                    <a:pt x="63238" y="334674"/>
                  </a:lnTo>
                  <a:cubicBezTo>
                    <a:pt x="28313" y="334674"/>
                    <a:pt x="0" y="306361"/>
                    <a:pt x="0" y="271436"/>
                  </a:cubicBezTo>
                  <a:lnTo>
                    <a:pt x="0" y="63238"/>
                  </a:lnTo>
                  <a:cubicBezTo>
                    <a:pt x="0" y="28313"/>
                    <a:pt x="28313" y="0"/>
                    <a:pt x="63238" y="0"/>
                  </a:cubicBezTo>
                  <a:close/>
                </a:path>
              </a:pathLst>
            </a:custGeom>
            <a:solidFill>
              <a:srgbClr val="B3CDFF"/>
            </a:solidFill>
            <a:ln w="19050" cap="rnd">
              <a:solidFill>
                <a:srgbClr val="6699FF"/>
              </a:solidFill>
              <a:prstDash val="solid"/>
              <a:round/>
            </a:ln>
          </p:spPr>
        </p:sp>
        <p:sp>
          <p:nvSpPr>
            <p:cNvPr name="TextBox 33" id="33"/>
            <p:cNvSpPr txBox="true"/>
            <p:nvPr/>
          </p:nvSpPr>
          <p:spPr>
            <a:xfrm>
              <a:off x="0" y="9525"/>
              <a:ext cx="1644431" cy="325149"/>
            </a:xfrm>
            <a:prstGeom prst="rect">
              <a:avLst/>
            </a:prstGeom>
          </p:spPr>
          <p:txBody>
            <a:bodyPr anchor="ctr" rtlCol="false" tIns="50800" lIns="50800" bIns="50800" rIns="50800"/>
            <a:lstStyle/>
            <a:p>
              <a:pPr algn="ctr">
                <a:lnSpc>
                  <a:spcPts val="2280"/>
                </a:lnSpc>
              </a:pPr>
            </a:p>
          </p:txBody>
        </p:sp>
      </p:grpSp>
      <p:sp>
        <p:nvSpPr>
          <p:cNvPr name="Freeform 34" id="34"/>
          <p:cNvSpPr/>
          <p:nvPr/>
        </p:nvSpPr>
        <p:spPr>
          <a:xfrm flipH="false" flipV="false" rot="0">
            <a:off x="16354708" y="3928008"/>
            <a:ext cx="647636" cy="599873"/>
          </a:xfrm>
          <a:custGeom>
            <a:avLst/>
            <a:gdLst/>
            <a:ahLst/>
            <a:cxnLst/>
            <a:rect r="r" b="b" t="t" l="l"/>
            <a:pathLst>
              <a:path h="599873" w="647636">
                <a:moveTo>
                  <a:pt x="0" y="0"/>
                </a:moveTo>
                <a:lnTo>
                  <a:pt x="647637" y="0"/>
                </a:lnTo>
                <a:lnTo>
                  <a:pt x="647637" y="599873"/>
                </a:lnTo>
                <a:lnTo>
                  <a:pt x="0" y="5998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5" id="35"/>
          <p:cNvSpPr/>
          <p:nvPr/>
        </p:nvSpPr>
        <p:spPr>
          <a:xfrm flipH="false" flipV="false" rot="0">
            <a:off x="15838830" y="3943071"/>
            <a:ext cx="654154" cy="331983"/>
          </a:xfrm>
          <a:custGeom>
            <a:avLst/>
            <a:gdLst/>
            <a:ahLst/>
            <a:cxnLst/>
            <a:rect r="r" b="b" t="t" l="l"/>
            <a:pathLst>
              <a:path h="331983" w="654154">
                <a:moveTo>
                  <a:pt x="0" y="0"/>
                </a:moveTo>
                <a:lnTo>
                  <a:pt x="654154" y="0"/>
                </a:lnTo>
                <a:lnTo>
                  <a:pt x="654154" y="331983"/>
                </a:lnTo>
                <a:lnTo>
                  <a:pt x="0" y="331983"/>
                </a:lnTo>
                <a:lnTo>
                  <a:pt x="0" y="0"/>
                </a:lnTo>
                <a:close/>
              </a:path>
            </a:pathLst>
          </a:custGeom>
          <a:blipFill>
            <a:blip r:embed="rId6"/>
            <a:stretch>
              <a:fillRect l="0" t="0" r="0" b="0"/>
            </a:stretch>
          </a:blipFill>
        </p:spPr>
      </p:sp>
      <p:sp>
        <p:nvSpPr>
          <p:cNvPr name="Freeform 36" id="36"/>
          <p:cNvSpPr/>
          <p:nvPr/>
        </p:nvSpPr>
        <p:spPr>
          <a:xfrm flipH="false" flipV="false" rot="0">
            <a:off x="16015544" y="4458780"/>
            <a:ext cx="300727" cy="405702"/>
          </a:xfrm>
          <a:custGeom>
            <a:avLst/>
            <a:gdLst/>
            <a:ahLst/>
            <a:cxnLst/>
            <a:rect r="r" b="b" t="t" l="l"/>
            <a:pathLst>
              <a:path h="405702" w="300727">
                <a:moveTo>
                  <a:pt x="0" y="0"/>
                </a:moveTo>
                <a:lnTo>
                  <a:pt x="300726" y="0"/>
                </a:lnTo>
                <a:lnTo>
                  <a:pt x="300726" y="405702"/>
                </a:lnTo>
                <a:lnTo>
                  <a:pt x="0" y="405702"/>
                </a:lnTo>
                <a:lnTo>
                  <a:pt x="0" y="0"/>
                </a:lnTo>
                <a:close/>
              </a:path>
            </a:pathLst>
          </a:custGeom>
          <a:blipFill>
            <a:blip r:embed="rId7"/>
            <a:stretch>
              <a:fillRect l="0" t="0" r="0" b="0"/>
            </a:stretch>
          </a:blipFill>
        </p:spPr>
      </p:sp>
      <p:sp>
        <p:nvSpPr>
          <p:cNvPr name="Freeform 37" id="37"/>
          <p:cNvSpPr/>
          <p:nvPr/>
        </p:nvSpPr>
        <p:spPr>
          <a:xfrm flipH="false" flipV="false" rot="-6635281">
            <a:off x="7961818" y="8622266"/>
            <a:ext cx="895625" cy="937828"/>
          </a:xfrm>
          <a:custGeom>
            <a:avLst/>
            <a:gdLst/>
            <a:ahLst/>
            <a:cxnLst/>
            <a:rect r="r" b="b" t="t" l="l"/>
            <a:pathLst>
              <a:path h="937828" w="895625">
                <a:moveTo>
                  <a:pt x="0" y="0"/>
                </a:moveTo>
                <a:lnTo>
                  <a:pt x="895625" y="0"/>
                </a:lnTo>
                <a:lnTo>
                  <a:pt x="895625" y="937827"/>
                </a:lnTo>
                <a:lnTo>
                  <a:pt x="0" y="9378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8" id="38"/>
          <p:cNvSpPr txBox="true"/>
          <p:nvPr/>
        </p:nvSpPr>
        <p:spPr>
          <a:xfrm rot="0">
            <a:off x="2482980" y="1999707"/>
            <a:ext cx="13322041" cy="941070"/>
          </a:xfrm>
          <a:prstGeom prst="rect">
            <a:avLst/>
          </a:prstGeom>
        </p:spPr>
        <p:txBody>
          <a:bodyPr anchor="t" rtlCol="false" tIns="0" lIns="0" bIns="0" rIns="0">
            <a:spAutoFit/>
          </a:bodyPr>
          <a:lstStyle/>
          <a:p>
            <a:pPr algn="ctr" marL="0" indent="0" lvl="0">
              <a:lnSpc>
                <a:spcPts val="6840"/>
              </a:lnSpc>
              <a:spcBef>
                <a:spcPct val="0"/>
              </a:spcBef>
            </a:pPr>
            <a:r>
              <a:rPr lang="en-US" sz="6000">
                <a:solidFill>
                  <a:srgbClr val="000000"/>
                </a:solidFill>
                <a:latin typeface="Poppins"/>
                <a:ea typeface="Poppins"/>
                <a:cs typeface="Poppins"/>
                <a:sym typeface="Poppins"/>
              </a:rPr>
              <a:t>Componentes Placa Makey Makey</a:t>
            </a:r>
          </a:p>
        </p:txBody>
      </p:sp>
      <p:sp>
        <p:nvSpPr>
          <p:cNvPr name="TextBox 39" id="39"/>
          <p:cNvSpPr txBox="true"/>
          <p:nvPr/>
        </p:nvSpPr>
        <p:spPr>
          <a:xfrm rot="0">
            <a:off x="2121894" y="4801097"/>
            <a:ext cx="3761416" cy="230505"/>
          </a:xfrm>
          <a:prstGeom prst="rect">
            <a:avLst/>
          </a:prstGeom>
        </p:spPr>
        <p:txBody>
          <a:bodyPr anchor="t" rtlCol="false" tIns="0" lIns="0" bIns="0" rIns="0">
            <a:spAutoFit/>
          </a:bodyPr>
          <a:lstStyle/>
          <a:p>
            <a:pPr algn="r" marL="0" indent="0" lvl="1">
              <a:lnSpc>
                <a:spcPts val="1710"/>
              </a:lnSpc>
              <a:spcBef>
                <a:spcPct val="0"/>
              </a:spcBef>
            </a:pPr>
            <a:r>
              <a:rPr lang="en-US" sz="1500">
                <a:solidFill>
                  <a:srgbClr val="000000"/>
                </a:solidFill>
                <a:latin typeface="Poppins"/>
                <a:ea typeface="Poppins"/>
                <a:cs typeface="Poppins"/>
                <a:sym typeface="Poppins"/>
              </a:rPr>
              <a:t>Adelante</a:t>
            </a:r>
          </a:p>
        </p:txBody>
      </p:sp>
      <p:sp>
        <p:nvSpPr>
          <p:cNvPr name="TextBox 40" id="40"/>
          <p:cNvSpPr txBox="true"/>
          <p:nvPr/>
        </p:nvSpPr>
        <p:spPr>
          <a:xfrm rot="0">
            <a:off x="-221304" y="6235985"/>
            <a:ext cx="3761416" cy="230505"/>
          </a:xfrm>
          <a:prstGeom prst="rect">
            <a:avLst/>
          </a:prstGeom>
        </p:spPr>
        <p:txBody>
          <a:bodyPr anchor="t" rtlCol="false" tIns="0" lIns="0" bIns="0" rIns="0">
            <a:spAutoFit/>
          </a:bodyPr>
          <a:lstStyle/>
          <a:p>
            <a:pPr algn="r" marL="0" indent="0" lvl="1">
              <a:lnSpc>
                <a:spcPts val="1710"/>
              </a:lnSpc>
              <a:spcBef>
                <a:spcPct val="0"/>
              </a:spcBef>
            </a:pPr>
            <a:r>
              <a:rPr lang="en-US" sz="1500">
                <a:solidFill>
                  <a:srgbClr val="000000"/>
                </a:solidFill>
                <a:latin typeface="Poppins"/>
                <a:ea typeface="Poppins"/>
                <a:cs typeface="Poppins"/>
                <a:sym typeface="Poppins"/>
              </a:rPr>
              <a:t>Izquierda</a:t>
            </a:r>
          </a:p>
        </p:txBody>
      </p:sp>
      <p:sp>
        <p:nvSpPr>
          <p:cNvPr name="TextBox 41" id="41"/>
          <p:cNvSpPr txBox="true"/>
          <p:nvPr/>
        </p:nvSpPr>
        <p:spPr>
          <a:xfrm rot="0">
            <a:off x="1968545" y="8387060"/>
            <a:ext cx="3761416" cy="230505"/>
          </a:xfrm>
          <a:prstGeom prst="rect">
            <a:avLst/>
          </a:prstGeom>
        </p:spPr>
        <p:txBody>
          <a:bodyPr anchor="t" rtlCol="false" tIns="0" lIns="0" bIns="0" rIns="0">
            <a:spAutoFit/>
          </a:bodyPr>
          <a:lstStyle/>
          <a:p>
            <a:pPr algn="r" marL="0" indent="0" lvl="1">
              <a:lnSpc>
                <a:spcPts val="1710"/>
              </a:lnSpc>
              <a:spcBef>
                <a:spcPct val="0"/>
              </a:spcBef>
            </a:pPr>
            <a:r>
              <a:rPr lang="en-US" sz="1500">
                <a:solidFill>
                  <a:srgbClr val="000000"/>
                </a:solidFill>
                <a:latin typeface="Poppins"/>
                <a:ea typeface="Poppins"/>
                <a:cs typeface="Poppins"/>
                <a:sym typeface="Poppins"/>
              </a:rPr>
              <a:t>Abajo</a:t>
            </a:r>
          </a:p>
        </p:txBody>
      </p:sp>
      <p:sp>
        <p:nvSpPr>
          <p:cNvPr name="TextBox 42" id="42"/>
          <p:cNvSpPr txBox="true"/>
          <p:nvPr/>
        </p:nvSpPr>
        <p:spPr>
          <a:xfrm rot="0">
            <a:off x="3177778" y="7096318"/>
            <a:ext cx="3761416" cy="230505"/>
          </a:xfrm>
          <a:prstGeom prst="rect">
            <a:avLst/>
          </a:prstGeom>
        </p:spPr>
        <p:txBody>
          <a:bodyPr anchor="t" rtlCol="false" tIns="0" lIns="0" bIns="0" rIns="0">
            <a:spAutoFit/>
          </a:bodyPr>
          <a:lstStyle/>
          <a:p>
            <a:pPr algn="r" marL="0" indent="0" lvl="1">
              <a:lnSpc>
                <a:spcPts val="1710"/>
              </a:lnSpc>
              <a:spcBef>
                <a:spcPct val="0"/>
              </a:spcBef>
            </a:pPr>
            <a:r>
              <a:rPr lang="en-US" sz="1500">
                <a:solidFill>
                  <a:srgbClr val="000000"/>
                </a:solidFill>
                <a:latin typeface="Poppins"/>
                <a:ea typeface="Poppins"/>
                <a:cs typeface="Poppins"/>
                <a:sym typeface="Poppins"/>
              </a:rPr>
              <a:t>Derecha</a:t>
            </a:r>
          </a:p>
        </p:txBody>
      </p:sp>
      <p:sp>
        <p:nvSpPr>
          <p:cNvPr name="TextBox 43" id="43"/>
          <p:cNvSpPr txBox="true"/>
          <p:nvPr/>
        </p:nvSpPr>
        <p:spPr>
          <a:xfrm rot="0">
            <a:off x="6650891" y="4791572"/>
            <a:ext cx="988353" cy="230505"/>
          </a:xfrm>
          <a:prstGeom prst="rect">
            <a:avLst/>
          </a:prstGeom>
        </p:spPr>
        <p:txBody>
          <a:bodyPr anchor="t" rtlCol="false" tIns="0" lIns="0" bIns="0" rIns="0">
            <a:spAutoFit/>
          </a:bodyPr>
          <a:lstStyle/>
          <a:p>
            <a:pPr algn="r" marL="0" indent="0" lvl="1">
              <a:lnSpc>
                <a:spcPts val="1710"/>
              </a:lnSpc>
              <a:spcBef>
                <a:spcPct val="0"/>
              </a:spcBef>
            </a:pPr>
            <a:r>
              <a:rPr lang="en-US" sz="1500">
                <a:solidFill>
                  <a:srgbClr val="000000"/>
                </a:solidFill>
                <a:latin typeface="Poppins"/>
                <a:ea typeface="Poppins"/>
                <a:cs typeface="Poppins"/>
                <a:sym typeface="Poppins"/>
              </a:rPr>
              <a:t>Espacio</a:t>
            </a:r>
          </a:p>
        </p:txBody>
      </p:sp>
      <p:sp>
        <p:nvSpPr>
          <p:cNvPr name="TextBox 44" id="44"/>
          <p:cNvSpPr txBox="true"/>
          <p:nvPr/>
        </p:nvSpPr>
        <p:spPr>
          <a:xfrm rot="0">
            <a:off x="7639244" y="4801097"/>
            <a:ext cx="988353" cy="230505"/>
          </a:xfrm>
          <a:prstGeom prst="rect">
            <a:avLst/>
          </a:prstGeom>
        </p:spPr>
        <p:txBody>
          <a:bodyPr anchor="t" rtlCol="false" tIns="0" lIns="0" bIns="0" rIns="0">
            <a:spAutoFit/>
          </a:bodyPr>
          <a:lstStyle/>
          <a:p>
            <a:pPr algn="r" marL="0" indent="0" lvl="1">
              <a:lnSpc>
                <a:spcPts val="1710"/>
              </a:lnSpc>
              <a:spcBef>
                <a:spcPct val="0"/>
              </a:spcBef>
            </a:pPr>
            <a:r>
              <a:rPr lang="en-US" sz="1500">
                <a:solidFill>
                  <a:srgbClr val="000000"/>
                </a:solidFill>
                <a:latin typeface="Poppins"/>
                <a:ea typeface="Poppins"/>
                <a:cs typeface="Poppins"/>
                <a:sym typeface="Poppins"/>
              </a:rPr>
              <a:t>Click</a:t>
            </a:r>
          </a:p>
        </p:txBody>
      </p:sp>
      <p:sp>
        <p:nvSpPr>
          <p:cNvPr name="TextBox 45" id="45"/>
          <p:cNvSpPr txBox="true"/>
          <p:nvPr/>
        </p:nvSpPr>
        <p:spPr>
          <a:xfrm rot="0">
            <a:off x="7301567" y="8387060"/>
            <a:ext cx="716873" cy="230505"/>
          </a:xfrm>
          <a:prstGeom prst="rect">
            <a:avLst/>
          </a:prstGeom>
        </p:spPr>
        <p:txBody>
          <a:bodyPr anchor="t" rtlCol="false" tIns="0" lIns="0" bIns="0" rIns="0">
            <a:spAutoFit/>
          </a:bodyPr>
          <a:lstStyle/>
          <a:p>
            <a:pPr algn="r" marL="0" indent="0" lvl="1">
              <a:lnSpc>
                <a:spcPts val="1710"/>
              </a:lnSpc>
              <a:spcBef>
                <a:spcPct val="0"/>
              </a:spcBef>
            </a:pPr>
            <a:r>
              <a:rPr lang="en-US" sz="1500">
                <a:solidFill>
                  <a:srgbClr val="000000"/>
                </a:solidFill>
                <a:latin typeface="Poppins"/>
                <a:ea typeface="Poppins"/>
                <a:cs typeface="Poppins"/>
                <a:sym typeface="Poppins"/>
              </a:rPr>
              <a:t>Tierra</a:t>
            </a:r>
          </a:p>
        </p:txBody>
      </p:sp>
      <p:sp>
        <p:nvSpPr>
          <p:cNvPr name="TextBox 46" id="46"/>
          <p:cNvSpPr txBox="true"/>
          <p:nvPr/>
        </p:nvSpPr>
        <p:spPr>
          <a:xfrm rot="0">
            <a:off x="9469803" y="9098829"/>
            <a:ext cx="5502917" cy="649605"/>
          </a:xfrm>
          <a:prstGeom prst="rect">
            <a:avLst/>
          </a:prstGeom>
        </p:spPr>
        <p:txBody>
          <a:bodyPr anchor="t" rtlCol="false" tIns="0" lIns="0" bIns="0" rIns="0">
            <a:spAutoFit/>
          </a:bodyPr>
          <a:lstStyle/>
          <a:p>
            <a:pPr algn="just" marL="0" indent="0" lvl="1">
              <a:lnSpc>
                <a:spcPts val="1710"/>
              </a:lnSpc>
              <a:spcBef>
                <a:spcPct val="0"/>
              </a:spcBef>
            </a:pPr>
            <a:r>
              <a:rPr lang="en-US" sz="1500">
                <a:solidFill>
                  <a:srgbClr val="000000"/>
                </a:solidFill>
                <a:latin typeface="Poppins"/>
                <a:ea typeface="Poppins"/>
                <a:cs typeface="Poppins"/>
                <a:sym typeface="Poppins"/>
              </a:rPr>
              <a:t>Se</a:t>
            </a:r>
            <a:r>
              <a:rPr lang="en-US" sz="1500">
                <a:solidFill>
                  <a:srgbClr val="000000"/>
                </a:solidFill>
                <a:latin typeface="Poppins"/>
                <a:ea typeface="Poppins"/>
                <a:cs typeface="Poppins"/>
                <a:sym typeface="Poppins"/>
              </a:rPr>
              <a:t> debe conectar un cable caimán a la barra inferior. El estudiante debe sostener el extremo metálico de este metal para cerrar el circuito.</a:t>
            </a:r>
          </a:p>
        </p:txBody>
      </p:sp>
      <p:sp>
        <p:nvSpPr>
          <p:cNvPr name="TextBox 47" id="47"/>
          <p:cNvSpPr txBox="true"/>
          <p:nvPr/>
        </p:nvSpPr>
        <p:spPr>
          <a:xfrm rot="0">
            <a:off x="9870273" y="4010522"/>
            <a:ext cx="5502917" cy="859155"/>
          </a:xfrm>
          <a:prstGeom prst="rect">
            <a:avLst/>
          </a:prstGeom>
        </p:spPr>
        <p:txBody>
          <a:bodyPr anchor="t" rtlCol="false" tIns="0" lIns="0" bIns="0" rIns="0">
            <a:spAutoFit/>
          </a:bodyPr>
          <a:lstStyle/>
          <a:p>
            <a:pPr algn="just" marL="0" indent="0" lvl="1">
              <a:lnSpc>
                <a:spcPts val="1710"/>
              </a:lnSpc>
              <a:spcBef>
                <a:spcPct val="0"/>
              </a:spcBef>
            </a:pPr>
            <a:r>
              <a:rPr lang="en-US" sz="1500">
                <a:solidFill>
                  <a:srgbClr val="000000"/>
                </a:solidFill>
                <a:latin typeface="Poppins"/>
                <a:ea typeface="Poppins"/>
                <a:cs typeface="Poppins"/>
                <a:sym typeface="Poppins"/>
              </a:rPr>
              <a:t>Se debe conectar un extremo del cable caimán a las cualquiera de las teclas (arriba, abajo, izquierda, derecha, etc) . El otro extremo se conectad al objeto conductor.</a:t>
            </a:r>
          </a:p>
        </p:txBody>
      </p:sp>
      <p:sp>
        <p:nvSpPr>
          <p:cNvPr name="Freeform 48" id="48"/>
          <p:cNvSpPr/>
          <p:nvPr/>
        </p:nvSpPr>
        <p:spPr>
          <a:xfrm flipH="true" flipV="false" rot="-3515563">
            <a:off x="8319181" y="3975948"/>
            <a:ext cx="895625" cy="937828"/>
          </a:xfrm>
          <a:custGeom>
            <a:avLst/>
            <a:gdLst/>
            <a:ahLst/>
            <a:cxnLst/>
            <a:rect r="r" b="b" t="t" l="l"/>
            <a:pathLst>
              <a:path h="937828" w="895625">
                <a:moveTo>
                  <a:pt x="895626" y="0"/>
                </a:moveTo>
                <a:lnTo>
                  <a:pt x="0" y="0"/>
                </a:lnTo>
                <a:lnTo>
                  <a:pt x="0" y="937828"/>
                </a:lnTo>
                <a:lnTo>
                  <a:pt x="895626" y="937828"/>
                </a:lnTo>
                <a:lnTo>
                  <a:pt x="895626"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49" id="49"/>
          <p:cNvSpPr txBox="true"/>
          <p:nvPr/>
        </p:nvSpPr>
        <p:spPr>
          <a:xfrm rot="0">
            <a:off x="1516270" y="2927426"/>
            <a:ext cx="15110572" cy="1110616"/>
          </a:xfrm>
          <a:prstGeom prst="rect">
            <a:avLst/>
          </a:prstGeom>
        </p:spPr>
        <p:txBody>
          <a:bodyPr anchor="t" rtlCol="false" tIns="0" lIns="0" bIns="0" rIns="0">
            <a:spAutoFit/>
          </a:bodyPr>
          <a:lstStyle/>
          <a:p>
            <a:pPr algn="just" marL="0" indent="0" lvl="0">
              <a:lnSpc>
                <a:spcPts val="4559"/>
              </a:lnSpc>
            </a:pPr>
            <a:r>
              <a:rPr lang="en-US" sz="2399">
                <a:solidFill>
                  <a:srgbClr val="737373"/>
                </a:solidFill>
                <a:latin typeface="Poppins"/>
                <a:ea typeface="Poppins"/>
                <a:cs typeface="Poppins"/>
                <a:sym typeface="Poppins"/>
              </a:rPr>
              <a:t>La placa actúa como un teclado de computadora. Debemos conectar los objetos a los puntos de presión y asegurar el retorno de energía</a:t>
            </a:r>
          </a:p>
        </p:txBody>
      </p:sp>
      <p:sp>
        <p:nvSpPr>
          <p:cNvPr name="TextBox 50" id="50"/>
          <p:cNvSpPr txBox="true"/>
          <p:nvPr/>
        </p:nvSpPr>
        <p:spPr>
          <a:xfrm rot="0">
            <a:off x="6631600" y="1153252"/>
            <a:ext cx="5580854" cy="291465"/>
          </a:xfrm>
          <a:prstGeom prst="rect">
            <a:avLst/>
          </a:prstGeom>
        </p:spPr>
        <p:txBody>
          <a:bodyPr anchor="t" rtlCol="false" tIns="0" lIns="0" bIns="0" rIns="0">
            <a:spAutoFit/>
          </a:bodyPr>
          <a:lstStyle/>
          <a:p>
            <a:pPr algn="ctr" marL="0" indent="0" lvl="1">
              <a:lnSpc>
                <a:spcPts val="2280"/>
              </a:lnSpc>
              <a:spcBef>
                <a:spcPct val="0"/>
              </a:spcBef>
            </a:pPr>
            <a:r>
              <a:rPr lang="en-US" b="true" sz="2000">
                <a:solidFill>
                  <a:srgbClr val="E0E0E0"/>
                </a:solidFill>
                <a:latin typeface="DM Sans Bold"/>
                <a:ea typeface="DM Sans Bold"/>
                <a:cs typeface="DM Sans Bold"/>
                <a:sym typeface="DM Sans Bold"/>
              </a:rPr>
              <a:t>Estación 1: Piano</a:t>
            </a:r>
            <a:r>
              <a:rPr lang="en-US" b="true" sz="2000">
                <a:solidFill>
                  <a:srgbClr val="E0E0E0"/>
                </a:solidFill>
                <a:latin typeface="DM Sans Bold"/>
                <a:ea typeface="DM Sans Bold"/>
                <a:cs typeface="DM Sans Bold"/>
                <a:sym typeface="DM Sans Bold"/>
              </a:rPr>
              <a:t> Digital con Makey Makey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737299" y="2507315"/>
            <a:ext cx="1126590" cy="797582"/>
            <a:chOff x="0" y="0"/>
            <a:chExt cx="296715" cy="210063"/>
          </a:xfrm>
        </p:grpSpPr>
        <p:sp>
          <p:nvSpPr>
            <p:cNvPr name="Freeform 3" id="3"/>
            <p:cNvSpPr/>
            <p:nvPr/>
          </p:nvSpPr>
          <p:spPr>
            <a:xfrm flipH="false" flipV="false" rot="0">
              <a:off x="0" y="0"/>
              <a:ext cx="296715" cy="210063"/>
            </a:xfrm>
            <a:custGeom>
              <a:avLst/>
              <a:gdLst/>
              <a:ahLst/>
              <a:cxnLst/>
              <a:rect r="r" b="b" t="t" l="l"/>
              <a:pathLst>
                <a:path h="210063" w="296715">
                  <a:moveTo>
                    <a:pt x="105031" y="0"/>
                  </a:moveTo>
                  <a:lnTo>
                    <a:pt x="191684" y="0"/>
                  </a:lnTo>
                  <a:cubicBezTo>
                    <a:pt x="219540" y="0"/>
                    <a:pt x="246255" y="11066"/>
                    <a:pt x="265952" y="30763"/>
                  </a:cubicBezTo>
                  <a:cubicBezTo>
                    <a:pt x="285649" y="50460"/>
                    <a:pt x="296715" y="77175"/>
                    <a:pt x="296715" y="105031"/>
                  </a:cubicBezTo>
                  <a:lnTo>
                    <a:pt x="296715" y="105031"/>
                  </a:lnTo>
                  <a:cubicBezTo>
                    <a:pt x="296715" y="132887"/>
                    <a:pt x="285649" y="159603"/>
                    <a:pt x="265952" y="179300"/>
                  </a:cubicBezTo>
                  <a:cubicBezTo>
                    <a:pt x="246255" y="198997"/>
                    <a:pt x="219540" y="210063"/>
                    <a:pt x="191684" y="210063"/>
                  </a:cubicBezTo>
                  <a:lnTo>
                    <a:pt x="105031" y="210063"/>
                  </a:lnTo>
                  <a:cubicBezTo>
                    <a:pt x="77175" y="210063"/>
                    <a:pt x="50460" y="198997"/>
                    <a:pt x="30763" y="179300"/>
                  </a:cubicBezTo>
                  <a:cubicBezTo>
                    <a:pt x="11066" y="159603"/>
                    <a:pt x="0" y="132887"/>
                    <a:pt x="0" y="105031"/>
                  </a:cubicBezTo>
                  <a:lnTo>
                    <a:pt x="0" y="105031"/>
                  </a:lnTo>
                  <a:cubicBezTo>
                    <a:pt x="0" y="77175"/>
                    <a:pt x="11066" y="50460"/>
                    <a:pt x="30763" y="30763"/>
                  </a:cubicBezTo>
                  <a:cubicBezTo>
                    <a:pt x="50460" y="11066"/>
                    <a:pt x="77175" y="0"/>
                    <a:pt x="105031" y="0"/>
                  </a:cubicBezTo>
                  <a:close/>
                </a:path>
              </a:pathLst>
            </a:custGeom>
            <a:solidFill>
              <a:srgbClr val="FFEFB3"/>
            </a:solidFill>
          </p:spPr>
        </p:sp>
        <p:sp>
          <p:nvSpPr>
            <p:cNvPr name="TextBox 4" id="4"/>
            <p:cNvSpPr txBox="true"/>
            <p:nvPr/>
          </p:nvSpPr>
          <p:spPr>
            <a:xfrm>
              <a:off x="0" y="9525"/>
              <a:ext cx="296715" cy="200538"/>
            </a:xfrm>
            <a:prstGeom prst="rect">
              <a:avLst/>
            </a:prstGeom>
          </p:spPr>
          <p:txBody>
            <a:bodyPr anchor="ctr" rtlCol="false" tIns="50800" lIns="50800" bIns="50800" rIns="50800"/>
            <a:lstStyle/>
            <a:p>
              <a:pPr algn="ctr">
                <a:lnSpc>
                  <a:spcPts val="2280"/>
                </a:lnSpc>
              </a:pPr>
            </a:p>
          </p:txBody>
        </p:sp>
      </p:grpSp>
      <p:grpSp>
        <p:nvGrpSpPr>
          <p:cNvPr name="Group 5" id="5"/>
          <p:cNvGrpSpPr/>
          <p:nvPr/>
        </p:nvGrpSpPr>
        <p:grpSpPr>
          <a:xfrm rot="0">
            <a:off x="1770001" y="2330075"/>
            <a:ext cx="6615991" cy="8578431"/>
            <a:chOff x="0" y="0"/>
            <a:chExt cx="976757" cy="1266484"/>
          </a:xfrm>
        </p:grpSpPr>
        <p:sp>
          <p:nvSpPr>
            <p:cNvPr name="Freeform 6" id="6"/>
            <p:cNvSpPr/>
            <p:nvPr/>
          </p:nvSpPr>
          <p:spPr>
            <a:xfrm flipH="false" flipV="false" rot="0">
              <a:off x="0" y="0"/>
              <a:ext cx="976757" cy="1266484"/>
            </a:xfrm>
            <a:custGeom>
              <a:avLst/>
              <a:gdLst/>
              <a:ahLst/>
              <a:cxnLst/>
              <a:rect r="r" b="b" t="t" l="l"/>
              <a:pathLst>
                <a:path h="1266484" w="976757">
                  <a:moveTo>
                    <a:pt x="26914" y="0"/>
                  </a:moveTo>
                  <a:lnTo>
                    <a:pt x="949843" y="0"/>
                  </a:lnTo>
                  <a:cubicBezTo>
                    <a:pt x="956981" y="0"/>
                    <a:pt x="963827" y="2836"/>
                    <a:pt x="968874" y="7883"/>
                  </a:cubicBezTo>
                  <a:cubicBezTo>
                    <a:pt x="973922" y="12930"/>
                    <a:pt x="976757" y="19776"/>
                    <a:pt x="976757" y="26914"/>
                  </a:cubicBezTo>
                  <a:lnTo>
                    <a:pt x="976757" y="1239570"/>
                  </a:lnTo>
                  <a:cubicBezTo>
                    <a:pt x="976757" y="1254434"/>
                    <a:pt x="964707" y="1266484"/>
                    <a:pt x="949843" y="1266484"/>
                  </a:cubicBezTo>
                  <a:lnTo>
                    <a:pt x="26914" y="1266484"/>
                  </a:lnTo>
                  <a:cubicBezTo>
                    <a:pt x="19776" y="1266484"/>
                    <a:pt x="12930" y="1263648"/>
                    <a:pt x="7883" y="1258601"/>
                  </a:cubicBezTo>
                  <a:cubicBezTo>
                    <a:pt x="2836" y="1253553"/>
                    <a:pt x="0" y="1246708"/>
                    <a:pt x="0" y="1239570"/>
                  </a:cubicBezTo>
                  <a:lnTo>
                    <a:pt x="0" y="26914"/>
                  </a:lnTo>
                  <a:cubicBezTo>
                    <a:pt x="0" y="19776"/>
                    <a:pt x="2836" y="12930"/>
                    <a:pt x="7883" y="7883"/>
                  </a:cubicBezTo>
                  <a:cubicBezTo>
                    <a:pt x="12930" y="2836"/>
                    <a:pt x="19776" y="0"/>
                    <a:pt x="26914" y="0"/>
                  </a:cubicBezTo>
                  <a:close/>
                </a:path>
              </a:pathLst>
            </a:custGeom>
            <a:blipFill>
              <a:blip r:embed="rId2"/>
              <a:stretch>
                <a:fillRect l="-35978" t="0" r="-94811" b="0"/>
              </a:stretch>
            </a:blipFill>
          </p:spPr>
        </p:sp>
      </p:grpSp>
      <p:grpSp>
        <p:nvGrpSpPr>
          <p:cNvPr name="Group 7" id="7"/>
          <p:cNvGrpSpPr/>
          <p:nvPr/>
        </p:nvGrpSpPr>
        <p:grpSpPr>
          <a:xfrm rot="0">
            <a:off x="8961679" y="4390622"/>
            <a:ext cx="7922668" cy="2602986"/>
            <a:chOff x="0" y="0"/>
            <a:chExt cx="2086629" cy="685560"/>
          </a:xfrm>
        </p:grpSpPr>
        <p:sp>
          <p:nvSpPr>
            <p:cNvPr name="Freeform 8" id="8"/>
            <p:cNvSpPr/>
            <p:nvPr/>
          </p:nvSpPr>
          <p:spPr>
            <a:xfrm flipH="false" flipV="false" rot="0">
              <a:off x="0" y="0"/>
              <a:ext cx="2086629" cy="685560"/>
            </a:xfrm>
            <a:custGeom>
              <a:avLst/>
              <a:gdLst/>
              <a:ahLst/>
              <a:cxnLst/>
              <a:rect r="r" b="b" t="t" l="l"/>
              <a:pathLst>
                <a:path h="685560" w="2086629">
                  <a:moveTo>
                    <a:pt x="22475" y="0"/>
                  </a:moveTo>
                  <a:lnTo>
                    <a:pt x="2064153" y="0"/>
                  </a:lnTo>
                  <a:cubicBezTo>
                    <a:pt x="2070114" y="0"/>
                    <a:pt x="2075831" y="2368"/>
                    <a:pt x="2080046" y="6583"/>
                  </a:cubicBezTo>
                  <a:cubicBezTo>
                    <a:pt x="2084261" y="10798"/>
                    <a:pt x="2086629" y="16514"/>
                    <a:pt x="2086629" y="22475"/>
                  </a:cubicBezTo>
                  <a:lnTo>
                    <a:pt x="2086629" y="663085"/>
                  </a:lnTo>
                  <a:cubicBezTo>
                    <a:pt x="2086629" y="669046"/>
                    <a:pt x="2084261" y="674762"/>
                    <a:pt x="2080046" y="678977"/>
                  </a:cubicBezTo>
                  <a:cubicBezTo>
                    <a:pt x="2075831" y="683192"/>
                    <a:pt x="2070114" y="685560"/>
                    <a:pt x="2064153" y="685560"/>
                  </a:cubicBezTo>
                  <a:lnTo>
                    <a:pt x="22475" y="685560"/>
                  </a:lnTo>
                  <a:cubicBezTo>
                    <a:pt x="16514" y="685560"/>
                    <a:pt x="10798" y="683192"/>
                    <a:pt x="6583" y="678977"/>
                  </a:cubicBezTo>
                  <a:cubicBezTo>
                    <a:pt x="2368" y="674762"/>
                    <a:pt x="0" y="669046"/>
                    <a:pt x="0" y="663085"/>
                  </a:cubicBezTo>
                  <a:lnTo>
                    <a:pt x="0" y="22475"/>
                  </a:lnTo>
                  <a:cubicBezTo>
                    <a:pt x="0" y="16514"/>
                    <a:pt x="2368" y="10798"/>
                    <a:pt x="6583" y="6583"/>
                  </a:cubicBezTo>
                  <a:cubicBezTo>
                    <a:pt x="10798" y="2368"/>
                    <a:pt x="16514" y="0"/>
                    <a:pt x="22475" y="0"/>
                  </a:cubicBezTo>
                  <a:close/>
                </a:path>
              </a:pathLst>
            </a:custGeom>
            <a:solidFill>
              <a:srgbClr val="FFEFB3"/>
            </a:solidFill>
          </p:spPr>
        </p:sp>
        <p:sp>
          <p:nvSpPr>
            <p:cNvPr name="TextBox 9" id="9"/>
            <p:cNvSpPr txBox="true"/>
            <p:nvPr/>
          </p:nvSpPr>
          <p:spPr>
            <a:xfrm>
              <a:off x="0" y="9525"/>
              <a:ext cx="2086629" cy="676035"/>
            </a:xfrm>
            <a:prstGeom prst="rect">
              <a:avLst/>
            </a:prstGeom>
          </p:spPr>
          <p:txBody>
            <a:bodyPr anchor="ctr" rtlCol="false" tIns="50800" lIns="50800" bIns="50800" rIns="50800"/>
            <a:lstStyle/>
            <a:p>
              <a:pPr algn="ctr">
                <a:lnSpc>
                  <a:spcPts val="2280"/>
                </a:lnSpc>
              </a:pPr>
            </a:p>
          </p:txBody>
        </p:sp>
      </p:grpSp>
      <p:sp>
        <p:nvSpPr>
          <p:cNvPr name="Freeform 10" id="10"/>
          <p:cNvSpPr/>
          <p:nvPr/>
        </p:nvSpPr>
        <p:spPr>
          <a:xfrm flipH="false" flipV="false" rot="0">
            <a:off x="496428" y="188648"/>
            <a:ext cx="1910158" cy="1910158"/>
          </a:xfrm>
          <a:custGeom>
            <a:avLst/>
            <a:gdLst/>
            <a:ahLst/>
            <a:cxnLst/>
            <a:rect r="r" b="b" t="t" l="l"/>
            <a:pathLst>
              <a:path h="1910158" w="1910158">
                <a:moveTo>
                  <a:pt x="0" y="0"/>
                </a:moveTo>
                <a:lnTo>
                  <a:pt x="1910158" y="0"/>
                </a:lnTo>
                <a:lnTo>
                  <a:pt x="1910158" y="1910158"/>
                </a:lnTo>
                <a:lnTo>
                  <a:pt x="0" y="1910158"/>
                </a:lnTo>
                <a:lnTo>
                  <a:pt x="0" y="0"/>
                </a:lnTo>
                <a:close/>
              </a:path>
            </a:pathLst>
          </a:custGeom>
          <a:blipFill>
            <a:blip r:embed="rId3"/>
            <a:stretch>
              <a:fillRect l="0" t="0" r="0" b="0"/>
            </a:stretch>
          </a:blipFill>
        </p:spPr>
      </p:sp>
      <p:sp>
        <p:nvSpPr>
          <p:cNvPr name="Freeform 11" id="11"/>
          <p:cNvSpPr/>
          <p:nvPr/>
        </p:nvSpPr>
        <p:spPr>
          <a:xfrm flipH="false" flipV="false" rot="0">
            <a:off x="9202247" y="4877641"/>
            <a:ext cx="1041592" cy="1041592"/>
          </a:xfrm>
          <a:custGeom>
            <a:avLst/>
            <a:gdLst/>
            <a:ahLst/>
            <a:cxnLst/>
            <a:rect r="r" b="b" t="t" l="l"/>
            <a:pathLst>
              <a:path h="1041592" w="1041592">
                <a:moveTo>
                  <a:pt x="0" y="0"/>
                </a:moveTo>
                <a:lnTo>
                  <a:pt x="1041592" y="0"/>
                </a:lnTo>
                <a:lnTo>
                  <a:pt x="1041592" y="1041592"/>
                </a:lnTo>
                <a:lnTo>
                  <a:pt x="0" y="10415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8961679" y="7393658"/>
            <a:ext cx="2494223" cy="2707434"/>
          </a:xfrm>
          <a:custGeom>
            <a:avLst/>
            <a:gdLst/>
            <a:ahLst/>
            <a:cxnLst/>
            <a:rect r="r" b="b" t="t" l="l"/>
            <a:pathLst>
              <a:path h="2707434" w="2494223">
                <a:moveTo>
                  <a:pt x="0" y="0"/>
                </a:moveTo>
                <a:lnTo>
                  <a:pt x="2494223" y="0"/>
                </a:lnTo>
                <a:lnTo>
                  <a:pt x="2494223" y="2707434"/>
                </a:lnTo>
                <a:lnTo>
                  <a:pt x="0" y="2707434"/>
                </a:lnTo>
                <a:lnTo>
                  <a:pt x="0" y="0"/>
                </a:lnTo>
                <a:close/>
              </a:path>
            </a:pathLst>
          </a:custGeom>
          <a:blipFill>
            <a:blip r:embed="rId6"/>
            <a:stretch>
              <a:fillRect l="0" t="0" r="0" b="0"/>
            </a:stretch>
          </a:blipFill>
        </p:spPr>
      </p:sp>
      <p:sp>
        <p:nvSpPr>
          <p:cNvPr name="TextBox 13" id="13"/>
          <p:cNvSpPr txBox="true"/>
          <p:nvPr/>
        </p:nvSpPr>
        <p:spPr>
          <a:xfrm rot="0">
            <a:off x="8961679" y="2488265"/>
            <a:ext cx="9326321" cy="1504950"/>
          </a:xfrm>
          <a:prstGeom prst="rect">
            <a:avLst/>
          </a:prstGeom>
        </p:spPr>
        <p:txBody>
          <a:bodyPr anchor="t" rtlCol="false" tIns="0" lIns="0" bIns="0" rIns="0">
            <a:spAutoFit/>
          </a:bodyPr>
          <a:lstStyle/>
          <a:p>
            <a:pPr algn="l">
              <a:lnSpc>
                <a:spcPts val="5700"/>
              </a:lnSpc>
            </a:pPr>
            <a:r>
              <a:rPr lang="en-US" sz="5000" b="true">
                <a:solidFill>
                  <a:srgbClr val="000000"/>
                </a:solidFill>
                <a:latin typeface="Poppins Bold"/>
                <a:ea typeface="Poppins Bold"/>
                <a:cs typeface="Poppins Bold"/>
                <a:sym typeface="Poppins Bold"/>
              </a:rPr>
              <a:t>Desafío:</a:t>
            </a:r>
          </a:p>
          <a:p>
            <a:pPr algn="l" marL="0" indent="0" lvl="0">
              <a:lnSpc>
                <a:spcPts val="5700"/>
              </a:lnSpc>
              <a:spcBef>
                <a:spcPct val="0"/>
              </a:spcBef>
            </a:pPr>
            <a:r>
              <a:rPr lang="en-US" sz="5000">
                <a:solidFill>
                  <a:srgbClr val="000000"/>
                </a:solidFill>
                <a:latin typeface="Poppins"/>
                <a:ea typeface="Poppins"/>
                <a:cs typeface="Poppins"/>
                <a:sym typeface="Poppins"/>
              </a:rPr>
              <a:t>Creando un Piano Digital</a:t>
            </a:r>
          </a:p>
        </p:txBody>
      </p:sp>
      <p:sp>
        <p:nvSpPr>
          <p:cNvPr name="TextBox 14" id="14"/>
          <p:cNvSpPr txBox="true"/>
          <p:nvPr/>
        </p:nvSpPr>
        <p:spPr>
          <a:xfrm rot="0">
            <a:off x="10492727" y="5215608"/>
            <a:ext cx="6032587" cy="1778000"/>
          </a:xfrm>
          <a:prstGeom prst="rect">
            <a:avLst/>
          </a:prstGeom>
        </p:spPr>
        <p:txBody>
          <a:bodyPr anchor="t" rtlCol="false" tIns="0" lIns="0" bIns="0" rIns="0">
            <a:spAutoFit/>
          </a:bodyPr>
          <a:lstStyle/>
          <a:p>
            <a:pPr algn="just" marL="0" indent="0" lvl="0">
              <a:lnSpc>
                <a:spcPts val="2800"/>
              </a:lnSpc>
            </a:pPr>
            <a:r>
              <a:rPr lang="en-US" sz="2000">
                <a:solidFill>
                  <a:srgbClr val="0D0C09"/>
                </a:solidFill>
                <a:latin typeface="Poppins"/>
                <a:ea typeface="Poppins"/>
                <a:cs typeface="Poppins"/>
                <a:sym typeface="Poppins"/>
              </a:rPr>
              <a:t>Comprender la conductividad eléctrica mediante la creación de un instrumento musical interactivo, utilizando la placa Makey Makey y Scratch.</a:t>
            </a:r>
          </a:p>
          <a:p>
            <a:pPr algn="just" marL="0" indent="0" lvl="0">
              <a:lnSpc>
                <a:spcPts val="2800"/>
              </a:lnSpc>
            </a:pPr>
          </a:p>
        </p:txBody>
      </p:sp>
      <p:sp>
        <p:nvSpPr>
          <p:cNvPr name="TextBox 15" id="15"/>
          <p:cNvSpPr txBox="true"/>
          <p:nvPr/>
        </p:nvSpPr>
        <p:spPr>
          <a:xfrm rot="0">
            <a:off x="10492727" y="4904266"/>
            <a:ext cx="3938956" cy="331851"/>
          </a:xfrm>
          <a:prstGeom prst="rect">
            <a:avLst/>
          </a:prstGeom>
        </p:spPr>
        <p:txBody>
          <a:bodyPr anchor="t" rtlCol="false" tIns="0" lIns="0" bIns="0" rIns="0">
            <a:spAutoFit/>
          </a:bodyPr>
          <a:lstStyle/>
          <a:p>
            <a:pPr algn="l" marL="0" indent="0" lvl="1">
              <a:lnSpc>
                <a:spcPts val="2622"/>
              </a:lnSpc>
              <a:spcBef>
                <a:spcPct val="0"/>
              </a:spcBef>
            </a:pPr>
            <a:r>
              <a:rPr lang="en-US" b="true" sz="2300">
                <a:solidFill>
                  <a:srgbClr val="000000"/>
                </a:solidFill>
                <a:latin typeface="DM Sans Bold"/>
                <a:ea typeface="DM Sans Bold"/>
                <a:cs typeface="DM Sans Bold"/>
                <a:sym typeface="DM Sans Bold"/>
              </a:rPr>
              <a:t>OBJETIVO</a:t>
            </a:r>
          </a:p>
        </p:txBody>
      </p:sp>
      <p:sp>
        <p:nvSpPr>
          <p:cNvPr name="TextBox 16" id="16"/>
          <p:cNvSpPr txBox="true"/>
          <p:nvPr/>
        </p:nvSpPr>
        <p:spPr>
          <a:xfrm rot="0">
            <a:off x="11706223" y="7482577"/>
            <a:ext cx="5178124" cy="1303401"/>
          </a:xfrm>
          <a:prstGeom prst="rect">
            <a:avLst/>
          </a:prstGeom>
        </p:spPr>
        <p:txBody>
          <a:bodyPr anchor="t" rtlCol="false" tIns="0" lIns="0" bIns="0" rIns="0">
            <a:spAutoFit/>
          </a:bodyPr>
          <a:lstStyle/>
          <a:p>
            <a:pPr algn="just" marL="0" indent="0" lvl="1">
              <a:lnSpc>
                <a:spcPts val="2622"/>
              </a:lnSpc>
              <a:spcBef>
                <a:spcPct val="0"/>
              </a:spcBef>
            </a:pPr>
            <a:r>
              <a:rPr lang="en-US" sz="2300">
                <a:solidFill>
                  <a:srgbClr val="000000"/>
                </a:solidFill>
                <a:latin typeface="DM Sans"/>
                <a:ea typeface="DM Sans"/>
                <a:cs typeface="DM Sans"/>
                <a:sym typeface="DM Sans"/>
              </a:rPr>
              <a:t>Utilizando</a:t>
            </a:r>
            <a:r>
              <a:rPr lang="en-US" sz="2300">
                <a:solidFill>
                  <a:srgbClr val="000000"/>
                </a:solidFill>
                <a:latin typeface="DM Sans"/>
                <a:ea typeface="DM Sans"/>
                <a:cs typeface="DM Sans"/>
                <a:sym typeface="DM Sans"/>
              </a:rPr>
              <a:t> materiales simples como cartulina, papel aluminio, basta para armar este piano digital que irá conectado a la placa Makey Makey.</a:t>
            </a:r>
          </a:p>
        </p:txBody>
      </p:sp>
      <p:sp>
        <p:nvSpPr>
          <p:cNvPr name="TextBox 17" id="17"/>
          <p:cNvSpPr txBox="true"/>
          <p:nvPr/>
        </p:nvSpPr>
        <p:spPr>
          <a:xfrm rot="0">
            <a:off x="6631600" y="1153252"/>
            <a:ext cx="5580854" cy="291465"/>
          </a:xfrm>
          <a:prstGeom prst="rect">
            <a:avLst/>
          </a:prstGeom>
        </p:spPr>
        <p:txBody>
          <a:bodyPr anchor="t" rtlCol="false" tIns="0" lIns="0" bIns="0" rIns="0">
            <a:spAutoFit/>
          </a:bodyPr>
          <a:lstStyle/>
          <a:p>
            <a:pPr algn="ctr" marL="0" indent="0" lvl="1">
              <a:lnSpc>
                <a:spcPts val="2280"/>
              </a:lnSpc>
              <a:spcBef>
                <a:spcPct val="0"/>
              </a:spcBef>
            </a:pPr>
            <a:r>
              <a:rPr lang="en-US" b="true" sz="2000">
                <a:solidFill>
                  <a:srgbClr val="E0E0E0"/>
                </a:solidFill>
                <a:latin typeface="DM Sans Bold"/>
                <a:ea typeface="DM Sans Bold"/>
                <a:cs typeface="DM Sans Bold"/>
                <a:sym typeface="DM Sans Bold"/>
              </a:rPr>
              <a:t>Estación 1: Piano</a:t>
            </a:r>
            <a:r>
              <a:rPr lang="en-US" b="true" sz="2000">
                <a:solidFill>
                  <a:srgbClr val="E0E0E0"/>
                </a:solidFill>
                <a:latin typeface="DM Sans Bold"/>
                <a:ea typeface="DM Sans Bold"/>
                <a:cs typeface="DM Sans Bold"/>
                <a:sym typeface="DM Sans Bold"/>
              </a:rPr>
              <a:t> Digital con Makey Makey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96428" y="188648"/>
            <a:ext cx="1910158" cy="1910158"/>
          </a:xfrm>
          <a:custGeom>
            <a:avLst/>
            <a:gdLst/>
            <a:ahLst/>
            <a:cxnLst/>
            <a:rect r="r" b="b" t="t" l="l"/>
            <a:pathLst>
              <a:path h="1910158" w="1910158">
                <a:moveTo>
                  <a:pt x="0" y="0"/>
                </a:moveTo>
                <a:lnTo>
                  <a:pt x="1910158" y="0"/>
                </a:lnTo>
                <a:lnTo>
                  <a:pt x="1910158" y="1910158"/>
                </a:lnTo>
                <a:lnTo>
                  <a:pt x="0" y="1910158"/>
                </a:lnTo>
                <a:lnTo>
                  <a:pt x="0" y="0"/>
                </a:lnTo>
                <a:close/>
              </a:path>
            </a:pathLst>
          </a:custGeom>
          <a:blipFill>
            <a:blip r:embed="rId2"/>
            <a:stretch>
              <a:fillRect l="0" t="0" r="0" b="0"/>
            </a:stretch>
          </a:blipFill>
        </p:spPr>
      </p:sp>
      <p:grpSp>
        <p:nvGrpSpPr>
          <p:cNvPr name="Group 3" id="3"/>
          <p:cNvGrpSpPr/>
          <p:nvPr/>
        </p:nvGrpSpPr>
        <p:grpSpPr>
          <a:xfrm rot="0">
            <a:off x="1028700" y="2309930"/>
            <a:ext cx="1126590" cy="797582"/>
            <a:chOff x="0" y="0"/>
            <a:chExt cx="296715" cy="210063"/>
          </a:xfrm>
        </p:grpSpPr>
        <p:sp>
          <p:nvSpPr>
            <p:cNvPr name="Freeform 4" id="4"/>
            <p:cNvSpPr/>
            <p:nvPr/>
          </p:nvSpPr>
          <p:spPr>
            <a:xfrm flipH="false" flipV="false" rot="0">
              <a:off x="0" y="0"/>
              <a:ext cx="296715" cy="210063"/>
            </a:xfrm>
            <a:custGeom>
              <a:avLst/>
              <a:gdLst/>
              <a:ahLst/>
              <a:cxnLst/>
              <a:rect r="r" b="b" t="t" l="l"/>
              <a:pathLst>
                <a:path h="210063" w="296715">
                  <a:moveTo>
                    <a:pt x="105031" y="0"/>
                  </a:moveTo>
                  <a:lnTo>
                    <a:pt x="191684" y="0"/>
                  </a:lnTo>
                  <a:cubicBezTo>
                    <a:pt x="219540" y="0"/>
                    <a:pt x="246255" y="11066"/>
                    <a:pt x="265952" y="30763"/>
                  </a:cubicBezTo>
                  <a:cubicBezTo>
                    <a:pt x="285649" y="50460"/>
                    <a:pt x="296715" y="77175"/>
                    <a:pt x="296715" y="105031"/>
                  </a:cubicBezTo>
                  <a:lnTo>
                    <a:pt x="296715" y="105031"/>
                  </a:lnTo>
                  <a:cubicBezTo>
                    <a:pt x="296715" y="132887"/>
                    <a:pt x="285649" y="159603"/>
                    <a:pt x="265952" y="179300"/>
                  </a:cubicBezTo>
                  <a:cubicBezTo>
                    <a:pt x="246255" y="198997"/>
                    <a:pt x="219540" y="210063"/>
                    <a:pt x="191684" y="210063"/>
                  </a:cubicBezTo>
                  <a:lnTo>
                    <a:pt x="105031" y="210063"/>
                  </a:lnTo>
                  <a:cubicBezTo>
                    <a:pt x="77175" y="210063"/>
                    <a:pt x="50460" y="198997"/>
                    <a:pt x="30763" y="179300"/>
                  </a:cubicBezTo>
                  <a:cubicBezTo>
                    <a:pt x="11066" y="159603"/>
                    <a:pt x="0" y="132887"/>
                    <a:pt x="0" y="105031"/>
                  </a:cubicBezTo>
                  <a:lnTo>
                    <a:pt x="0" y="105031"/>
                  </a:lnTo>
                  <a:cubicBezTo>
                    <a:pt x="0" y="77175"/>
                    <a:pt x="11066" y="50460"/>
                    <a:pt x="30763" y="30763"/>
                  </a:cubicBezTo>
                  <a:cubicBezTo>
                    <a:pt x="50460" y="11066"/>
                    <a:pt x="77175" y="0"/>
                    <a:pt x="105031" y="0"/>
                  </a:cubicBezTo>
                  <a:close/>
                </a:path>
              </a:pathLst>
            </a:custGeom>
            <a:solidFill>
              <a:srgbClr val="FFEFB3"/>
            </a:solidFill>
          </p:spPr>
        </p:sp>
        <p:sp>
          <p:nvSpPr>
            <p:cNvPr name="TextBox 5" id="5"/>
            <p:cNvSpPr txBox="true"/>
            <p:nvPr/>
          </p:nvSpPr>
          <p:spPr>
            <a:xfrm>
              <a:off x="0" y="9525"/>
              <a:ext cx="296715" cy="200538"/>
            </a:xfrm>
            <a:prstGeom prst="rect">
              <a:avLst/>
            </a:prstGeom>
          </p:spPr>
          <p:txBody>
            <a:bodyPr anchor="ctr" rtlCol="false" tIns="50800" lIns="50800" bIns="50800" rIns="50800"/>
            <a:lstStyle/>
            <a:p>
              <a:pPr algn="ctr">
                <a:lnSpc>
                  <a:spcPts val="2280"/>
                </a:lnSpc>
              </a:pPr>
            </a:p>
          </p:txBody>
        </p:sp>
      </p:grpSp>
      <p:sp>
        <p:nvSpPr>
          <p:cNvPr name="Freeform 6" id="6"/>
          <p:cNvSpPr/>
          <p:nvPr/>
        </p:nvSpPr>
        <p:spPr>
          <a:xfrm flipH="false" flipV="false" rot="0">
            <a:off x="3824594" y="4723928"/>
            <a:ext cx="3298418" cy="2039022"/>
          </a:xfrm>
          <a:custGeom>
            <a:avLst/>
            <a:gdLst/>
            <a:ahLst/>
            <a:cxnLst/>
            <a:rect r="r" b="b" t="t" l="l"/>
            <a:pathLst>
              <a:path h="2039022" w="3298418">
                <a:moveTo>
                  <a:pt x="0" y="0"/>
                </a:moveTo>
                <a:lnTo>
                  <a:pt x="3298418" y="0"/>
                </a:lnTo>
                <a:lnTo>
                  <a:pt x="3298418" y="2039022"/>
                </a:lnTo>
                <a:lnTo>
                  <a:pt x="0" y="2039022"/>
                </a:lnTo>
                <a:lnTo>
                  <a:pt x="0" y="0"/>
                </a:lnTo>
                <a:close/>
              </a:path>
            </a:pathLst>
          </a:custGeom>
          <a:blipFill>
            <a:blip r:embed="rId3"/>
            <a:stretch>
              <a:fillRect l="0" t="0" r="0" b="0"/>
            </a:stretch>
          </a:blipFill>
        </p:spPr>
      </p:sp>
      <p:sp>
        <p:nvSpPr>
          <p:cNvPr name="Freeform 7" id="7"/>
          <p:cNvSpPr/>
          <p:nvPr/>
        </p:nvSpPr>
        <p:spPr>
          <a:xfrm flipH="false" flipV="false" rot="-986915">
            <a:off x="3241370" y="6285810"/>
            <a:ext cx="1472353" cy="1485350"/>
          </a:xfrm>
          <a:custGeom>
            <a:avLst/>
            <a:gdLst/>
            <a:ahLst/>
            <a:cxnLst/>
            <a:rect r="r" b="b" t="t" l="l"/>
            <a:pathLst>
              <a:path h="1485350" w="1472353">
                <a:moveTo>
                  <a:pt x="0" y="0"/>
                </a:moveTo>
                <a:lnTo>
                  <a:pt x="1472353" y="0"/>
                </a:lnTo>
                <a:lnTo>
                  <a:pt x="1472353" y="1485350"/>
                </a:lnTo>
                <a:lnTo>
                  <a:pt x="0" y="1485350"/>
                </a:lnTo>
                <a:lnTo>
                  <a:pt x="0" y="0"/>
                </a:lnTo>
                <a:close/>
              </a:path>
            </a:pathLst>
          </a:custGeom>
          <a:blipFill>
            <a:blip r:embed="rId4"/>
            <a:stretch>
              <a:fillRect l="0" t="0" r="0" b="0"/>
            </a:stretch>
          </a:blipFill>
        </p:spPr>
      </p:sp>
      <p:sp>
        <p:nvSpPr>
          <p:cNvPr name="Freeform 8" id="8"/>
          <p:cNvSpPr/>
          <p:nvPr/>
        </p:nvSpPr>
        <p:spPr>
          <a:xfrm flipH="false" flipV="false" rot="0">
            <a:off x="809847" y="4875937"/>
            <a:ext cx="3193479" cy="1735005"/>
          </a:xfrm>
          <a:custGeom>
            <a:avLst/>
            <a:gdLst/>
            <a:ahLst/>
            <a:cxnLst/>
            <a:rect r="r" b="b" t="t" l="l"/>
            <a:pathLst>
              <a:path h="1735005" w="3193479">
                <a:moveTo>
                  <a:pt x="0" y="0"/>
                </a:moveTo>
                <a:lnTo>
                  <a:pt x="3193479" y="0"/>
                </a:lnTo>
                <a:lnTo>
                  <a:pt x="3193479" y="1735005"/>
                </a:lnTo>
                <a:lnTo>
                  <a:pt x="0" y="1735005"/>
                </a:lnTo>
                <a:lnTo>
                  <a:pt x="0" y="0"/>
                </a:lnTo>
                <a:close/>
              </a:path>
            </a:pathLst>
          </a:custGeom>
          <a:blipFill>
            <a:blip r:embed="rId5"/>
            <a:stretch>
              <a:fillRect l="0" t="0" r="0" b="0"/>
            </a:stretch>
          </a:blipFill>
        </p:spPr>
      </p:sp>
      <p:sp>
        <p:nvSpPr>
          <p:cNvPr name="Freeform 9" id="9"/>
          <p:cNvSpPr/>
          <p:nvPr/>
        </p:nvSpPr>
        <p:spPr>
          <a:xfrm flipH="false" flipV="false" rot="0">
            <a:off x="14924004" y="4675325"/>
            <a:ext cx="2089735" cy="1935617"/>
          </a:xfrm>
          <a:custGeom>
            <a:avLst/>
            <a:gdLst/>
            <a:ahLst/>
            <a:cxnLst/>
            <a:rect r="r" b="b" t="t" l="l"/>
            <a:pathLst>
              <a:path h="1935617" w="2089735">
                <a:moveTo>
                  <a:pt x="0" y="0"/>
                </a:moveTo>
                <a:lnTo>
                  <a:pt x="2089735" y="0"/>
                </a:lnTo>
                <a:lnTo>
                  <a:pt x="2089735" y="1935617"/>
                </a:lnTo>
                <a:lnTo>
                  <a:pt x="0" y="19356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3259414" y="4723928"/>
            <a:ext cx="2110766" cy="1071214"/>
          </a:xfrm>
          <a:custGeom>
            <a:avLst/>
            <a:gdLst/>
            <a:ahLst/>
            <a:cxnLst/>
            <a:rect r="r" b="b" t="t" l="l"/>
            <a:pathLst>
              <a:path h="1071214" w="2110766">
                <a:moveTo>
                  <a:pt x="0" y="0"/>
                </a:moveTo>
                <a:lnTo>
                  <a:pt x="2110765" y="0"/>
                </a:lnTo>
                <a:lnTo>
                  <a:pt x="2110765" y="1071214"/>
                </a:lnTo>
                <a:lnTo>
                  <a:pt x="0" y="1071214"/>
                </a:lnTo>
                <a:lnTo>
                  <a:pt x="0" y="0"/>
                </a:lnTo>
                <a:close/>
              </a:path>
            </a:pathLst>
          </a:custGeom>
          <a:blipFill>
            <a:blip r:embed="rId8"/>
            <a:stretch>
              <a:fillRect l="0" t="0" r="0" b="0"/>
            </a:stretch>
          </a:blipFill>
        </p:spPr>
      </p:sp>
      <p:sp>
        <p:nvSpPr>
          <p:cNvPr name="Freeform 11" id="11"/>
          <p:cNvSpPr/>
          <p:nvPr/>
        </p:nvSpPr>
        <p:spPr>
          <a:xfrm flipH="false" flipV="false" rot="0">
            <a:off x="13829618" y="6107752"/>
            <a:ext cx="970357" cy="1309083"/>
          </a:xfrm>
          <a:custGeom>
            <a:avLst/>
            <a:gdLst/>
            <a:ahLst/>
            <a:cxnLst/>
            <a:rect r="r" b="b" t="t" l="l"/>
            <a:pathLst>
              <a:path h="1309083" w="970357">
                <a:moveTo>
                  <a:pt x="0" y="0"/>
                </a:moveTo>
                <a:lnTo>
                  <a:pt x="970357" y="0"/>
                </a:lnTo>
                <a:lnTo>
                  <a:pt x="970357" y="1309083"/>
                </a:lnTo>
                <a:lnTo>
                  <a:pt x="0" y="1309083"/>
                </a:lnTo>
                <a:lnTo>
                  <a:pt x="0" y="0"/>
                </a:lnTo>
                <a:close/>
              </a:path>
            </a:pathLst>
          </a:custGeom>
          <a:blipFill>
            <a:blip r:embed="rId9"/>
            <a:stretch>
              <a:fillRect l="0" t="0" r="0" b="0"/>
            </a:stretch>
          </a:blipFill>
        </p:spPr>
      </p:sp>
      <p:sp>
        <p:nvSpPr>
          <p:cNvPr name="Freeform 12" id="12"/>
          <p:cNvSpPr/>
          <p:nvPr/>
        </p:nvSpPr>
        <p:spPr>
          <a:xfrm flipH="false" flipV="false" rot="0">
            <a:off x="8073190" y="4496305"/>
            <a:ext cx="3146086" cy="3222895"/>
          </a:xfrm>
          <a:custGeom>
            <a:avLst/>
            <a:gdLst/>
            <a:ahLst/>
            <a:cxnLst/>
            <a:rect r="r" b="b" t="t" l="l"/>
            <a:pathLst>
              <a:path h="3222895" w="3146086">
                <a:moveTo>
                  <a:pt x="0" y="0"/>
                </a:moveTo>
                <a:lnTo>
                  <a:pt x="3146087" y="0"/>
                </a:lnTo>
                <a:lnTo>
                  <a:pt x="3146087" y="3222895"/>
                </a:lnTo>
                <a:lnTo>
                  <a:pt x="0" y="3222895"/>
                </a:lnTo>
                <a:lnTo>
                  <a:pt x="0" y="0"/>
                </a:lnTo>
                <a:close/>
              </a:path>
            </a:pathLst>
          </a:custGeom>
          <a:blipFill>
            <a:blip r:embed="rId10"/>
            <a:stretch>
              <a:fillRect l="0" t="0" r="0" b="0"/>
            </a:stretch>
          </a:blipFill>
        </p:spPr>
      </p:sp>
      <p:sp>
        <p:nvSpPr>
          <p:cNvPr name="TextBox 13" id="13"/>
          <p:cNvSpPr txBox="true"/>
          <p:nvPr/>
        </p:nvSpPr>
        <p:spPr>
          <a:xfrm rot="0">
            <a:off x="1317827" y="2308671"/>
            <a:ext cx="9092933" cy="781050"/>
          </a:xfrm>
          <a:prstGeom prst="rect">
            <a:avLst/>
          </a:prstGeom>
        </p:spPr>
        <p:txBody>
          <a:bodyPr anchor="t" rtlCol="false" tIns="0" lIns="0" bIns="0" rIns="0">
            <a:spAutoFit/>
          </a:bodyPr>
          <a:lstStyle/>
          <a:p>
            <a:pPr algn="l" marL="0" indent="0" lvl="0">
              <a:lnSpc>
                <a:spcPts val="5700"/>
              </a:lnSpc>
              <a:spcBef>
                <a:spcPct val="0"/>
              </a:spcBef>
            </a:pPr>
            <a:r>
              <a:rPr lang="en-US" b="true" sz="5000">
                <a:solidFill>
                  <a:srgbClr val="000000"/>
                </a:solidFill>
                <a:latin typeface="Poppins Bold"/>
                <a:ea typeface="Poppins Bold"/>
                <a:cs typeface="Poppins Bold"/>
                <a:sym typeface="Poppins Bold"/>
              </a:rPr>
              <a:t>Materiales</a:t>
            </a:r>
            <a:r>
              <a:rPr lang="en-US" b="true" sz="5000">
                <a:solidFill>
                  <a:srgbClr val="000000"/>
                </a:solidFill>
                <a:latin typeface="Poppins Bold"/>
                <a:ea typeface="Poppins Bold"/>
                <a:cs typeface="Poppins Bold"/>
                <a:sym typeface="Poppins Bold"/>
              </a:rPr>
              <a:t> Necesarios</a:t>
            </a:r>
          </a:p>
        </p:txBody>
      </p:sp>
      <p:sp>
        <p:nvSpPr>
          <p:cNvPr name="TextBox 14" id="14"/>
          <p:cNvSpPr txBox="true"/>
          <p:nvPr/>
        </p:nvSpPr>
        <p:spPr>
          <a:xfrm rot="0">
            <a:off x="734737" y="3818401"/>
            <a:ext cx="5129557" cy="461010"/>
          </a:xfrm>
          <a:prstGeom prst="rect">
            <a:avLst/>
          </a:prstGeom>
        </p:spPr>
        <p:txBody>
          <a:bodyPr anchor="t" rtlCol="false" tIns="0" lIns="0" bIns="0" rIns="0">
            <a:spAutoFit/>
          </a:bodyPr>
          <a:lstStyle/>
          <a:p>
            <a:pPr algn="ctr" marL="0" indent="0" lvl="0">
              <a:lnSpc>
                <a:spcPts val="3419"/>
              </a:lnSpc>
              <a:spcBef>
                <a:spcPct val="0"/>
              </a:spcBef>
            </a:pPr>
            <a:r>
              <a:rPr lang="en-US" b="true" sz="3000">
                <a:solidFill>
                  <a:srgbClr val="000000"/>
                </a:solidFill>
                <a:latin typeface="Poppins Bold"/>
                <a:ea typeface="Poppins Bold"/>
                <a:cs typeface="Poppins Bold"/>
                <a:sym typeface="Poppins Bold"/>
              </a:rPr>
              <a:t>El Cerebro y Conexión</a:t>
            </a:r>
          </a:p>
        </p:txBody>
      </p:sp>
      <p:sp>
        <p:nvSpPr>
          <p:cNvPr name="TextBox 15" id="15"/>
          <p:cNvSpPr txBox="true"/>
          <p:nvPr/>
        </p:nvSpPr>
        <p:spPr>
          <a:xfrm rot="0">
            <a:off x="6859458" y="3818401"/>
            <a:ext cx="5129557" cy="461010"/>
          </a:xfrm>
          <a:prstGeom prst="rect">
            <a:avLst/>
          </a:prstGeom>
        </p:spPr>
        <p:txBody>
          <a:bodyPr anchor="t" rtlCol="false" tIns="0" lIns="0" bIns="0" rIns="0">
            <a:spAutoFit/>
          </a:bodyPr>
          <a:lstStyle/>
          <a:p>
            <a:pPr algn="ctr" marL="0" indent="0" lvl="0">
              <a:lnSpc>
                <a:spcPts val="3419"/>
              </a:lnSpc>
              <a:spcBef>
                <a:spcPct val="0"/>
              </a:spcBef>
            </a:pPr>
            <a:r>
              <a:rPr lang="en-US" b="true" sz="3000">
                <a:solidFill>
                  <a:srgbClr val="000000"/>
                </a:solidFill>
                <a:latin typeface="Poppins Bold"/>
                <a:ea typeface="Poppins Bold"/>
                <a:cs typeface="Poppins Bold"/>
                <a:sym typeface="Poppins Bold"/>
              </a:rPr>
              <a:t>Los Puentes</a:t>
            </a:r>
          </a:p>
        </p:txBody>
      </p:sp>
      <p:sp>
        <p:nvSpPr>
          <p:cNvPr name="TextBox 16" id="16"/>
          <p:cNvSpPr txBox="true"/>
          <p:nvPr/>
        </p:nvSpPr>
        <p:spPr>
          <a:xfrm rot="0">
            <a:off x="12518099" y="3818401"/>
            <a:ext cx="5129557" cy="461010"/>
          </a:xfrm>
          <a:prstGeom prst="rect">
            <a:avLst/>
          </a:prstGeom>
        </p:spPr>
        <p:txBody>
          <a:bodyPr anchor="t" rtlCol="false" tIns="0" lIns="0" bIns="0" rIns="0">
            <a:spAutoFit/>
          </a:bodyPr>
          <a:lstStyle/>
          <a:p>
            <a:pPr algn="ctr" marL="0" indent="0" lvl="0">
              <a:lnSpc>
                <a:spcPts val="3419"/>
              </a:lnSpc>
              <a:spcBef>
                <a:spcPct val="0"/>
              </a:spcBef>
            </a:pPr>
            <a:r>
              <a:rPr lang="en-US" b="true" sz="3000">
                <a:solidFill>
                  <a:srgbClr val="000000"/>
                </a:solidFill>
                <a:latin typeface="Poppins Bold"/>
                <a:ea typeface="Poppins Bold"/>
                <a:cs typeface="Poppins Bold"/>
                <a:sym typeface="Poppins Bold"/>
              </a:rPr>
              <a:t>Los Conductores</a:t>
            </a:r>
          </a:p>
        </p:txBody>
      </p:sp>
      <p:sp>
        <p:nvSpPr>
          <p:cNvPr name="TextBox 17" id="17"/>
          <p:cNvSpPr txBox="true"/>
          <p:nvPr/>
        </p:nvSpPr>
        <p:spPr>
          <a:xfrm rot="0">
            <a:off x="1317827" y="8149242"/>
            <a:ext cx="4412787" cy="884555"/>
          </a:xfrm>
          <a:prstGeom prst="rect">
            <a:avLst/>
          </a:prstGeom>
        </p:spPr>
        <p:txBody>
          <a:bodyPr anchor="t" rtlCol="false" tIns="0" lIns="0" bIns="0" rIns="0">
            <a:spAutoFit/>
          </a:bodyPr>
          <a:lstStyle/>
          <a:p>
            <a:pPr algn="l" marL="431801" indent="-215900" lvl="1">
              <a:lnSpc>
                <a:spcPts val="2260"/>
              </a:lnSpc>
              <a:buFont typeface="Arial"/>
              <a:buChar char="•"/>
            </a:pPr>
            <a:r>
              <a:rPr lang="en-US" sz="2000">
                <a:solidFill>
                  <a:srgbClr val="737373"/>
                </a:solidFill>
                <a:latin typeface="Poppins"/>
                <a:ea typeface="Poppins"/>
                <a:cs typeface="Poppins"/>
                <a:sym typeface="Poppins"/>
              </a:rPr>
              <a:t>1 Placa Makey Makey</a:t>
            </a:r>
          </a:p>
          <a:p>
            <a:pPr algn="l" marL="431801" indent="-215900" lvl="1">
              <a:lnSpc>
                <a:spcPts val="2260"/>
              </a:lnSpc>
              <a:buFont typeface="Arial"/>
              <a:buChar char="•"/>
            </a:pPr>
            <a:r>
              <a:rPr lang="en-US" sz="2000">
                <a:solidFill>
                  <a:srgbClr val="737373"/>
                </a:solidFill>
                <a:latin typeface="Poppins"/>
                <a:ea typeface="Poppins"/>
                <a:cs typeface="Poppins"/>
                <a:sym typeface="Poppins"/>
              </a:rPr>
              <a:t>1 Cable USB</a:t>
            </a:r>
          </a:p>
          <a:p>
            <a:pPr algn="l" marL="431801" indent="-215900" lvl="1">
              <a:lnSpc>
                <a:spcPts val="2260"/>
              </a:lnSpc>
              <a:buFont typeface="Arial"/>
              <a:buChar char="•"/>
            </a:pPr>
            <a:r>
              <a:rPr lang="en-US" sz="2000">
                <a:solidFill>
                  <a:srgbClr val="737373"/>
                </a:solidFill>
                <a:latin typeface="Poppins"/>
                <a:ea typeface="Poppins"/>
                <a:cs typeface="Poppins"/>
                <a:sym typeface="Poppins"/>
              </a:rPr>
              <a:t>1 Computadora con Scratch</a:t>
            </a:r>
          </a:p>
        </p:txBody>
      </p:sp>
      <p:sp>
        <p:nvSpPr>
          <p:cNvPr name="TextBox 18" id="18"/>
          <p:cNvSpPr txBox="true"/>
          <p:nvPr/>
        </p:nvSpPr>
        <p:spPr>
          <a:xfrm rot="0">
            <a:off x="8073190" y="8149242"/>
            <a:ext cx="4412787" cy="313055"/>
          </a:xfrm>
          <a:prstGeom prst="rect">
            <a:avLst/>
          </a:prstGeom>
        </p:spPr>
        <p:txBody>
          <a:bodyPr anchor="t" rtlCol="false" tIns="0" lIns="0" bIns="0" rIns="0">
            <a:spAutoFit/>
          </a:bodyPr>
          <a:lstStyle/>
          <a:p>
            <a:pPr algn="l" marL="431801" indent="-215900" lvl="1">
              <a:lnSpc>
                <a:spcPts val="2260"/>
              </a:lnSpc>
              <a:buFont typeface="Arial"/>
              <a:buChar char="•"/>
            </a:pPr>
            <a:r>
              <a:rPr lang="en-US" sz="2000">
                <a:solidFill>
                  <a:srgbClr val="737373"/>
                </a:solidFill>
                <a:latin typeface="Poppins"/>
                <a:ea typeface="Poppins"/>
                <a:cs typeface="Poppins"/>
                <a:sym typeface="Poppins"/>
              </a:rPr>
              <a:t>5 Cables tipo Caiman</a:t>
            </a:r>
          </a:p>
        </p:txBody>
      </p:sp>
      <p:sp>
        <p:nvSpPr>
          <p:cNvPr name="TextBox 19" id="19"/>
          <p:cNvSpPr txBox="true"/>
          <p:nvPr/>
        </p:nvSpPr>
        <p:spPr>
          <a:xfrm rot="0">
            <a:off x="13481141" y="8149242"/>
            <a:ext cx="4412787" cy="313055"/>
          </a:xfrm>
          <a:prstGeom prst="rect">
            <a:avLst/>
          </a:prstGeom>
        </p:spPr>
        <p:txBody>
          <a:bodyPr anchor="t" rtlCol="false" tIns="0" lIns="0" bIns="0" rIns="0">
            <a:spAutoFit/>
          </a:bodyPr>
          <a:lstStyle/>
          <a:p>
            <a:pPr algn="l" marL="431801" indent="-215900" lvl="1">
              <a:lnSpc>
                <a:spcPts val="2260"/>
              </a:lnSpc>
              <a:buFont typeface="Arial"/>
              <a:buChar char="•"/>
            </a:pPr>
            <a:r>
              <a:rPr lang="en-US" sz="2000">
                <a:solidFill>
                  <a:srgbClr val="737373"/>
                </a:solidFill>
                <a:latin typeface="Poppins"/>
                <a:ea typeface="Poppins"/>
                <a:cs typeface="Poppins"/>
                <a:sym typeface="Poppins"/>
              </a:rPr>
              <a:t>5 Objetos Conductores</a:t>
            </a:r>
          </a:p>
        </p:txBody>
      </p:sp>
      <p:sp>
        <p:nvSpPr>
          <p:cNvPr name="TextBox 20" id="20"/>
          <p:cNvSpPr txBox="true"/>
          <p:nvPr/>
        </p:nvSpPr>
        <p:spPr>
          <a:xfrm rot="0">
            <a:off x="6631600" y="1153252"/>
            <a:ext cx="5580854" cy="291465"/>
          </a:xfrm>
          <a:prstGeom prst="rect">
            <a:avLst/>
          </a:prstGeom>
        </p:spPr>
        <p:txBody>
          <a:bodyPr anchor="t" rtlCol="false" tIns="0" lIns="0" bIns="0" rIns="0">
            <a:spAutoFit/>
          </a:bodyPr>
          <a:lstStyle/>
          <a:p>
            <a:pPr algn="ctr" marL="0" indent="0" lvl="1">
              <a:lnSpc>
                <a:spcPts val="2280"/>
              </a:lnSpc>
              <a:spcBef>
                <a:spcPct val="0"/>
              </a:spcBef>
            </a:pPr>
            <a:r>
              <a:rPr lang="en-US" b="true" sz="2000">
                <a:solidFill>
                  <a:srgbClr val="E0E0E0"/>
                </a:solidFill>
                <a:latin typeface="DM Sans Bold"/>
                <a:ea typeface="DM Sans Bold"/>
                <a:cs typeface="DM Sans Bold"/>
                <a:sym typeface="DM Sans Bold"/>
              </a:rPr>
              <a:t>Estación 1: Piano</a:t>
            </a:r>
            <a:r>
              <a:rPr lang="en-US" b="true" sz="2000">
                <a:solidFill>
                  <a:srgbClr val="E0E0E0"/>
                </a:solidFill>
                <a:latin typeface="DM Sans Bold"/>
                <a:ea typeface="DM Sans Bold"/>
                <a:cs typeface="DM Sans Bold"/>
                <a:sym typeface="DM Sans Bold"/>
              </a:rPr>
              <a:t> Digital con Makey Makey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51507" y="2500627"/>
            <a:ext cx="1126590" cy="797582"/>
            <a:chOff x="0" y="0"/>
            <a:chExt cx="296715" cy="210063"/>
          </a:xfrm>
        </p:grpSpPr>
        <p:sp>
          <p:nvSpPr>
            <p:cNvPr name="Freeform 3" id="3"/>
            <p:cNvSpPr/>
            <p:nvPr/>
          </p:nvSpPr>
          <p:spPr>
            <a:xfrm flipH="false" flipV="false" rot="0">
              <a:off x="0" y="0"/>
              <a:ext cx="296715" cy="210063"/>
            </a:xfrm>
            <a:custGeom>
              <a:avLst/>
              <a:gdLst/>
              <a:ahLst/>
              <a:cxnLst/>
              <a:rect r="r" b="b" t="t" l="l"/>
              <a:pathLst>
                <a:path h="210063" w="296715">
                  <a:moveTo>
                    <a:pt x="105031" y="0"/>
                  </a:moveTo>
                  <a:lnTo>
                    <a:pt x="191684" y="0"/>
                  </a:lnTo>
                  <a:cubicBezTo>
                    <a:pt x="219540" y="0"/>
                    <a:pt x="246255" y="11066"/>
                    <a:pt x="265952" y="30763"/>
                  </a:cubicBezTo>
                  <a:cubicBezTo>
                    <a:pt x="285649" y="50460"/>
                    <a:pt x="296715" y="77175"/>
                    <a:pt x="296715" y="105031"/>
                  </a:cubicBezTo>
                  <a:lnTo>
                    <a:pt x="296715" y="105031"/>
                  </a:lnTo>
                  <a:cubicBezTo>
                    <a:pt x="296715" y="132887"/>
                    <a:pt x="285649" y="159603"/>
                    <a:pt x="265952" y="179300"/>
                  </a:cubicBezTo>
                  <a:cubicBezTo>
                    <a:pt x="246255" y="198997"/>
                    <a:pt x="219540" y="210063"/>
                    <a:pt x="191684" y="210063"/>
                  </a:cubicBezTo>
                  <a:lnTo>
                    <a:pt x="105031" y="210063"/>
                  </a:lnTo>
                  <a:cubicBezTo>
                    <a:pt x="77175" y="210063"/>
                    <a:pt x="50460" y="198997"/>
                    <a:pt x="30763" y="179300"/>
                  </a:cubicBezTo>
                  <a:cubicBezTo>
                    <a:pt x="11066" y="159603"/>
                    <a:pt x="0" y="132887"/>
                    <a:pt x="0" y="105031"/>
                  </a:cubicBezTo>
                  <a:lnTo>
                    <a:pt x="0" y="105031"/>
                  </a:lnTo>
                  <a:cubicBezTo>
                    <a:pt x="0" y="77175"/>
                    <a:pt x="11066" y="50460"/>
                    <a:pt x="30763" y="30763"/>
                  </a:cubicBezTo>
                  <a:cubicBezTo>
                    <a:pt x="50460" y="11066"/>
                    <a:pt x="77175" y="0"/>
                    <a:pt x="105031" y="0"/>
                  </a:cubicBezTo>
                  <a:close/>
                </a:path>
              </a:pathLst>
            </a:custGeom>
            <a:solidFill>
              <a:srgbClr val="FFEFB3"/>
            </a:solidFill>
          </p:spPr>
        </p:sp>
        <p:sp>
          <p:nvSpPr>
            <p:cNvPr name="TextBox 4" id="4"/>
            <p:cNvSpPr txBox="true"/>
            <p:nvPr/>
          </p:nvSpPr>
          <p:spPr>
            <a:xfrm>
              <a:off x="0" y="9525"/>
              <a:ext cx="296715" cy="200538"/>
            </a:xfrm>
            <a:prstGeom prst="rect">
              <a:avLst/>
            </a:prstGeom>
          </p:spPr>
          <p:txBody>
            <a:bodyPr anchor="ctr" rtlCol="false" tIns="50800" lIns="50800" bIns="50800" rIns="50800"/>
            <a:lstStyle/>
            <a:p>
              <a:pPr algn="ctr">
                <a:lnSpc>
                  <a:spcPts val="2280"/>
                </a:lnSpc>
              </a:pPr>
            </a:p>
          </p:txBody>
        </p:sp>
      </p:grpSp>
      <p:sp>
        <p:nvSpPr>
          <p:cNvPr name="Freeform 5" id="5"/>
          <p:cNvSpPr/>
          <p:nvPr/>
        </p:nvSpPr>
        <p:spPr>
          <a:xfrm flipH="false" flipV="false" rot="0">
            <a:off x="496428" y="188648"/>
            <a:ext cx="1910158" cy="1910158"/>
          </a:xfrm>
          <a:custGeom>
            <a:avLst/>
            <a:gdLst/>
            <a:ahLst/>
            <a:cxnLst/>
            <a:rect r="r" b="b" t="t" l="l"/>
            <a:pathLst>
              <a:path h="1910158" w="1910158">
                <a:moveTo>
                  <a:pt x="0" y="0"/>
                </a:moveTo>
                <a:lnTo>
                  <a:pt x="1910158" y="0"/>
                </a:lnTo>
                <a:lnTo>
                  <a:pt x="1910158" y="1910158"/>
                </a:lnTo>
                <a:lnTo>
                  <a:pt x="0" y="1910158"/>
                </a:lnTo>
                <a:lnTo>
                  <a:pt x="0" y="0"/>
                </a:lnTo>
                <a:close/>
              </a:path>
            </a:pathLst>
          </a:custGeom>
          <a:blipFill>
            <a:blip r:embed="rId2"/>
            <a:stretch>
              <a:fillRect l="0" t="0" r="0" b="0"/>
            </a:stretch>
          </a:blipFill>
        </p:spPr>
      </p:sp>
      <p:sp>
        <p:nvSpPr>
          <p:cNvPr name="Freeform 6" id="6"/>
          <p:cNvSpPr/>
          <p:nvPr/>
        </p:nvSpPr>
        <p:spPr>
          <a:xfrm>
            <a:off x="14520563" y="6100287"/>
            <a:ext cx="1297898" cy="3301593"/>
          </a:xfrm>
          <a:custGeom>
            <a:avLst/>
            <a:gdLst/>
            <a:ahLst/>
            <a:cxnLst/>
            <a:rect r="r" b="b" t="t" l="l"/>
            <a:pathLst>
              <a:path h="3301593" w="1297898">
                <a:moveTo>
                  <a:pt x="1074000" y="0"/>
                </a:moveTo>
                <a:quadBezTo>
                  <a:pt x="1836969" y="3882306"/>
                  <a:pt x="0" y="3199453"/>
                </a:quadBezTo>
              </a:path>
            </a:pathLst>
          </a:custGeom>
          <a:ln cap="flat" w="38100">
            <a:solidFill>
              <a:srgbClr val="F4B526"/>
            </a:solidFill>
            <a:prstDash val="sysDash"/>
            <a:headEnd type="none" len="sm" w="sm"/>
            <a:tailEnd type="none" len="sm" w="sm"/>
          </a:ln>
        </p:spPr>
      </p:sp>
      <p:sp>
        <p:nvSpPr>
          <p:cNvPr name="Freeform 7" id="7"/>
          <p:cNvSpPr/>
          <p:nvPr/>
        </p:nvSpPr>
        <p:spPr>
          <a:xfrm flipH="false" flipV="false" rot="0">
            <a:off x="9545649" y="3613342"/>
            <a:ext cx="5254176" cy="5201634"/>
          </a:xfrm>
          <a:custGeom>
            <a:avLst/>
            <a:gdLst/>
            <a:ahLst/>
            <a:cxnLst/>
            <a:rect r="r" b="b" t="t" l="l"/>
            <a:pathLst>
              <a:path h="5201634" w="5254176">
                <a:moveTo>
                  <a:pt x="0" y="0"/>
                </a:moveTo>
                <a:lnTo>
                  <a:pt x="5254175" y="0"/>
                </a:lnTo>
                <a:lnTo>
                  <a:pt x="5254175" y="5201634"/>
                </a:lnTo>
                <a:lnTo>
                  <a:pt x="0" y="52016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8032449" y="4387905"/>
            <a:ext cx="2223102" cy="1568085"/>
            <a:chOff x="0" y="0"/>
            <a:chExt cx="2964136" cy="2090780"/>
          </a:xfrm>
        </p:grpSpPr>
        <p:sp>
          <p:nvSpPr>
            <p:cNvPr name="Freeform 9" id="9"/>
            <p:cNvSpPr/>
            <p:nvPr/>
          </p:nvSpPr>
          <p:spPr>
            <a:xfrm flipH="false" flipV="false" rot="0">
              <a:off x="1756662" y="574546"/>
              <a:ext cx="1207474" cy="1516235"/>
            </a:xfrm>
            <a:custGeom>
              <a:avLst/>
              <a:gdLst/>
              <a:ahLst/>
              <a:cxnLst/>
              <a:rect r="r" b="b" t="t" l="l"/>
              <a:pathLst>
                <a:path h="1516235" w="1207474">
                  <a:moveTo>
                    <a:pt x="0" y="0"/>
                  </a:moveTo>
                  <a:lnTo>
                    <a:pt x="1207474" y="0"/>
                  </a:lnTo>
                  <a:lnTo>
                    <a:pt x="1207474" y="1516234"/>
                  </a:lnTo>
                  <a:lnTo>
                    <a:pt x="0" y="1516234"/>
                  </a:lnTo>
                  <a:lnTo>
                    <a:pt x="0" y="0"/>
                  </a:lnTo>
                  <a:close/>
                </a:path>
              </a:pathLst>
            </a:custGeom>
            <a:blipFill>
              <a:blip r:embed="rId5"/>
              <a:stretch>
                <a:fillRect l="0" t="0" r="0" b="0"/>
              </a:stretch>
            </a:blipFill>
          </p:spPr>
        </p:sp>
        <p:sp>
          <p:nvSpPr>
            <p:cNvPr name="Freeform 10" id="10"/>
            <p:cNvSpPr/>
            <p:nvPr/>
          </p:nvSpPr>
          <p:spPr>
            <a:xfrm flipH="false" flipV="false" rot="0">
              <a:off x="0" y="0"/>
              <a:ext cx="2115037" cy="1149091"/>
            </a:xfrm>
            <a:custGeom>
              <a:avLst/>
              <a:gdLst/>
              <a:ahLst/>
              <a:cxnLst/>
              <a:rect r="r" b="b" t="t" l="l"/>
              <a:pathLst>
                <a:path h="1149091" w="2115037">
                  <a:moveTo>
                    <a:pt x="0" y="0"/>
                  </a:moveTo>
                  <a:lnTo>
                    <a:pt x="2115037" y="0"/>
                  </a:lnTo>
                  <a:lnTo>
                    <a:pt x="2115037" y="1149091"/>
                  </a:lnTo>
                  <a:lnTo>
                    <a:pt x="0" y="1149091"/>
                  </a:lnTo>
                  <a:lnTo>
                    <a:pt x="0" y="0"/>
                  </a:lnTo>
                  <a:close/>
                </a:path>
              </a:pathLst>
            </a:custGeom>
            <a:blipFill>
              <a:blip r:embed="rId6"/>
              <a:stretch>
                <a:fillRect l="0" t="0" r="0" b="0"/>
              </a:stretch>
            </a:blipFill>
          </p:spPr>
        </p:sp>
      </p:grpSp>
      <p:sp>
        <p:nvSpPr>
          <p:cNvPr name="Freeform 11" id="11"/>
          <p:cNvSpPr/>
          <p:nvPr/>
        </p:nvSpPr>
        <p:spPr>
          <a:xfrm flipH="false" flipV="false" rot="0">
            <a:off x="9988615" y="3723500"/>
            <a:ext cx="1766163" cy="1227483"/>
          </a:xfrm>
          <a:custGeom>
            <a:avLst/>
            <a:gdLst/>
            <a:ahLst/>
            <a:cxnLst/>
            <a:rect r="r" b="b" t="t" l="l"/>
            <a:pathLst>
              <a:path h="1227483" w="1766163">
                <a:moveTo>
                  <a:pt x="0" y="0"/>
                </a:moveTo>
                <a:lnTo>
                  <a:pt x="1766163" y="0"/>
                </a:lnTo>
                <a:lnTo>
                  <a:pt x="1766163" y="1227484"/>
                </a:lnTo>
                <a:lnTo>
                  <a:pt x="0" y="1227484"/>
                </a:lnTo>
                <a:lnTo>
                  <a:pt x="0" y="0"/>
                </a:lnTo>
                <a:close/>
              </a:path>
            </a:pathLst>
          </a:custGeom>
          <a:blipFill>
            <a:blip r:embed="rId7"/>
            <a:stretch>
              <a:fillRect l="0" t="0" r="0" b="0"/>
            </a:stretch>
          </a:blipFill>
        </p:spPr>
      </p:sp>
      <p:sp>
        <p:nvSpPr>
          <p:cNvPr name="Freeform 12" id="12"/>
          <p:cNvSpPr/>
          <p:nvPr/>
        </p:nvSpPr>
        <p:spPr>
          <a:xfrm flipH="false" flipV="false" rot="948274">
            <a:off x="13061280" y="4200927"/>
            <a:ext cx="1431629" cy="1326046"/>
          </a:xfrm>
          <a:custGeom>
            <a:avLst/>
            <a:gdLst/>
            <a:ahLst/>
            <a:cxnLst/>
            <a:rect r="r" b="b" t="t" l="l"/>
            <a:pathLst>
              <a:path h="1326046" w="1431629">
                <a:moveTo>
                  <a:pt x="0" y="0"/>
                </a:moveTo>
                <a:lnTo>
                  <a:pt x="1431629" y="0"/>
                </a:lnTo>
                <a:lnTo>
                  <a:pt x="1431629" y="1326046"/>
                </a:lnTo>
                <a:lnTo>
                  <a:pt x="0" y="13260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2552901" y="4040956"/>
            <a:ext cx="1167629" cy="592571"/>
          </a:xfrm>
          <a:custGeom>
            <a:avLst/>
            <a:gdLst/>
            <a:ahLst/>
            <a:cxnLst/>
            <a:rect r="r" b="b" t="t" l="l"/>
            <a:pathLst>
              <a:path h="592571" w="1167629">
                <a:moveTo>
                  <a:pt x="0" y="0"/>
                </a:moveTo>
                <a:lnTo>
                  <a:pt x="1167628" y="0"/>
                </a:lnTo>
                <a:lnTo>
                  <a:pt x="1167628" y="592572"/>
                </a:lnTo>
                <a:lnTo>
                  <a:pt x="0" y="592572"/>
                </a:lnTo>
                <a:lnTo>
                  <a:pt x="0" y="0"/>
                </a:lnTo>
                <a:close/>
              </a:path>
            </a:pathLst>
          </a:custGeom>
          <a:blipFill>
            <a:blip r:embed="rId10"/>
            <a:stretch>
              <a:fillRect l="0" t="0" r="0" b="0"/>
            </a:stretch>
          </a:blipFill>
        </p:spPr>
      </p:sp>
      <p:sp>
        <p:nvSpPr>
          <p:cNvPr name="Freeform 14" id="14"/>
          <p:cNvSpPr/>
          <p:nvPr/>
        </p:nvSpPr>
        <p:spPr>
          <a:xfrm flipH="false" flipV="false" rot="0">
            <a:off x="12907762" y="6977958"/>
            <a:ext cx="1613002" cy="1485978"/>
          </a:xfrm>
          <a:custGeom>
            <a:avLst/>
            <a:gdLst/>
            <a:ahLst/>
            <a:cxnLst/>
            <a:rect r="r" b="b" t="t" l="l"/>
            <a:pathLst>
              <a:path h="1485978" w="1613002">
                <a:moveTo>
                  <a:pt x="0" y="0"/>
                </a:moveTo>
                <a:lnTo>
                  <a:pt x="1613001" y="0"/>
                </a:lnTo>
                <a:lnTo>
                  <a:pt x="1613001" y="1485978"/>
                </a:lnTo>
                <a:lnTo>
                  <a:pt x="0" y="1485978"/>
                </a:lnTo>
                <a:lnTo>
                  <a:pt x="0" y="0"/>
                </a:lnTo>
                <a:close/>
              </a:path>
            </a:pathLst>
          </a:custGeom>
          <a:blipFill>
            <a:blip r:embed="rId11"/>
            <a:stretch>
              <a:fillRect l="0" t="0" r="0" b="0"/>
            </a:stretch>
          </a:blipFill>
        </p:spPr>
      </p:sp>
      <p:sp>
        <p:nvSpPr>
          <p:cNvPr name="Freeform 15" id="15"/>
          <p:cNvSpPr/>
          <p:nvPr/>
        </p:nvSpPr>
        <p:spPr>
          <a:xfrm>
            <a:off x="13610520" y="4070781"/>
            <a:ext cx="1984224" cy="2013318"/>
          </a:xfrm>
          <a:custGeom>
            <a:avLst/>
            <a:gdLst/>
            <a:ahLst/>
            <a:cxnLst/>
            <a:rect r="r" b="b" t="t" l="l"/>
            <a:pathLst>
              <a:path h="2013318" w="1984224">
                <a:moveTo>
                  <a:pt x="0" y="336692"/>
                </a:moveTo>
                <a:quadBezTo>
                  <a:pt x="1382692" y="-823327"/>
                  <a:pt x="1984224" y="2013318"/>
                </a:quadBezTo>
              </a:path>
            </a:pathLst>
          </a:custGeom>
          <a:ln cap="flat" w="38100">
            <a:solidFill>
              <a:srgbClr val="F4B526"/>
            </a:solidFill>
            <a:prstDash val="sysDash"/>
            <a:headEnd type="none" len="sm" w="sm"/>
            <a:tailEnd type="none" len="sm" w="sm"/>
          </a:ln>
        </p:spPr>
      </p:sp>
      <p:sp>
        <p:nvSpPr>
          <p:cNvPr name="TextBox 16" id="16"/>
          <p:cNvSpPr txBox="true"/>
          <p:nvPr/>
        </p:nvSpPr>
        <p:spPr>
          <a:xfrm rot="0">
            <a:off x="6879566" y="8533229"/>
            <a:ext cx="2795662" cy="1533525"/>
          </a:xfrm>
          <a:prstGeom prst="rect">
            <a:avLst/>
          </a:prstGeom>
        </p:spPr>
        <p:txBody>
          <a:bodyPr anchor="t" rtlCol="false" tIns="0" lIns="0" bIns="0" rIns="0">
            <a:spAutoFit/>
          </a:bodyPr>
          <a:lstStyle/>
          <a:p>
            <a:pPr algn="just" marL="0" indent="0" lvl="0">
              <a:lnSpc>
                <a:spcPts val="3000"/>
              </a:lnSpc>
            </a:pPr>
            <a:r>
              <a:rPr lang="en-US" sz="2000">
                <a:solidFill>
                  <a:srgbClr val="000000"/>
                </a:solidFill>
                <a:latin typeface="Poppins"/>
                <a:ea typeface="Poppins"/>
                <a:cs typeface="Poppins"/>
                <a:sym typeface="Poppins"/>
              </a:rPr>
              <a:t>Al sostener el cable Tierra la energía regresa a la placa completando el ciclo</a:t>
            </a:r>
          </a:p>
        </p:txBody>
      </p:sp>
      <p:sp>
        <p:nvSpPr>
          <p:cNvPr name="Freeform 17" id="17"/>
          <p:cNvSpPr/>
          <p:nvPr/>
        </p:nvSpPr>
        <p:spPr>
          <a:xfrm flipH="false" flipV="false" rot="8345252">
            <a:off x="10054645" y="8195760"/>
            <a:ext cx="675210" cy="453511"/>
          </a:xfrm>
          <a:custGeom>
            <a:avLst/>
            <a:gdLst/>
            <a:ahLst/>
            <a:cxnLst/>
            <a:rect r="r" b="b" t="t" l="l"/>
            <a:pathLst>
              <a:path h="453511" w="675210">
                <a:moveTo>
                  <a:pt x="0" y="0"/>
                </a:moveTo>
                <a:lnTo>
                  <a:pt x="675209" y="0"/>
                </a:lnTo>
                <a:lnTo>
                  <a:pt x="675209" y="453510"/>
                </a:lnTo>
                <a:lnTo>
                  <a:pt x="0" y="453510"/>
                </a:lnTo>
                <a:lnTo>
                  <a:pt x="0" y="0"/>
                </a:lnTo>
                <a:close/>
              </a:path>
            </a:pathLst>
          </a:custGeom>
          <a:blipFill>
            <a:blip r:embed="rId12"/>
            <a:stretch>
              <a:fillRect l="-217876" t="-610654" r="-148065" b="0"/>
            </a:stretch>
          </a:blipFill>
        </p:spPr>
      </p:sp>
      <p:sp>
        <p:nvSpPr>
          <p:cNvPr name="Freeform 18" id="18"/>
          <p:cNvSpPr/>
          <p:nvPr/>
        </p:nvSpPr>
        <p:spPr>
          <a:xfrm>
            <a:off x="8523275" y="5190833"/>
            <a:ext cx="1692558" cy="3405693"/>
          </a:xfrm>
          <a:custGeom>
            <a:avLst/>
            <a:gdLst/>
            <a:ahLst/>
            <a:cxnLst/>
            <a:rect r="r" b="b" t="t" l="l"/>
            <a:pathLst>
              <a:path h="3405693" w="1692558">
                <a:moveTo>
                  <a:pt x="63650" y="0"/>
                </a:moveTo>
                <a:quadBezTo>
                  <a:pt x="-328223" y="3019480"/>
                  <a:pt x="1692558" y="3405693"/>
                </a:quadBezTo>
              </a:path>
            </a:pathLst>
          </a:custGeom>
          <a:ln cap="flat" w="38100">
            <a:solidFill>
              <a:srgbClr val="F4B526"/>
            </a:solidFill>
            <a:prstDash val="sysDash"/>
            <a:headEnd type="none" len="sm" w="sm"/>
            <a:tailEnd type="none" len="sm" w="sm"/>
          </a:ln>
        </p:spPr>
      </p:sp>
      <p:sp>
        <p:nvSpPr>
          <p:cNvPr name="Freeform 19" id="19"/>
          <p:cNvSpPr/>
          <p:nvPr/>
        </p:nvSpPr>
        <p:spPr>
          <a:xfrm flipH="false" flipV="false" rot="0">
            <a:off x="9873819" y="7968159"/>
            <a:ext cx="1432734" cy="2749390"/>
          </a:xfrm>
          <a:custGeom>
            <a:avLst/>
            <a:gdLst/>
            <a:ahLst/>
            <a:cxnLst/>
            <a:rect r="r" b="b" t="t" l="l"/>
            <a:pathLst>
              <a:path h="2749390" w="1432734">
                <a:moveTo>
                  <a:pt x="0" y="0"/>
                </a:moveTo>
                <a:lnTo>
                  <a:pt x="1432734" y="0"/>
                </a:lnTo>
                <a:lnTo>
                  <a:pt x="1432734" y="2749390"/>
                </a:lnTo>
                <a:lnTo>
                  <a:pt x="0" y="274939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0" id="20"/>
          <p:cNvSpPr/>
          <p:nvPr/>
        </p:nvSpPr>
        <p:spPr>
          <a:xfrm flipH="true" flipV="false" rot="0">
            <a:off x="13610520" y="7968159"/>
            <a:ext cx="1432734" cy="2749390"/>
          </a:xfrm>
          <a:custGeom>
            <a:avLst/>
            <a:gdLst/>
            <a:ahLst/>
            <a:cxnLst/>
            <a:rect r="r" b="b" t="t" l="l"/>
            <a:pathLst>
              <a:path h="2749390" w="1432734">
                <a:moveTo>
                  <a:pt x="1432734" y="0"/>
                </a:moveTo>
                <a:lnTo>
                  <a:pt x="0" y="0"/>
                </a:lnTo>
                <a:lnTo>
                  <a:pt x="0" y="2749390"/>
                </a:lnTo>
                <a:lnTo>
                  <a:pt x="1432734" y="2749390"/>
                </a:lnTo>
                <a:lnTo>
                  <a:pt x="1432734"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1" id="21"/>
          <p:cNvSpPr/>
          <p:nvPr/>
        </p:nvSpPr>
        <p:spPr>
          <a:xfrm flipH="false" flipV="false" rot="0">
            <a:off x="13376658" y="4199580"/>
            <a:ext cx="675210" cy="453511"/>
          </a:xfrm>
          <a:custGeom>
            <a:avLst/>
            <a:gdLst/>
            <a:ahLst/>
            <a:cxnLst/>
            <a:rect r="r" b="b" t="t" l="l"/>
            <a:pathLst>
              <a:path h="453511" w="675210">
                <a:moveTo>
                  <a:pt x="0" y="0"/>
                </a:moveTo>
                <a:lnTo>
                  <a:pt x="675209" y="0"/>
                </a:lnTo>
                <a:lnTo>
                  <a:pt x="675209" y="453511"/>
                </a:lnTo>
                <a:lnTo>
                  <a:pt x="0" y="453511"/>
                </a:lnTo>
                <a:lnTo>
                  <a:pt x="0" y="0"/>
                </a:lnTo>
                <a:close/>
              </a:path>
            </a:pathLst>
          </a:custGeom>
          <a:blipFill>
            <a:blip r:embed="rId12"/>
            <a:stretch>
              <a:fillRect l="-217876" t="-610654" r="-148065" b="0"/>
            </a:stretch>
          </a:blipFill>
        </p:spPr>
      </p:sp>
      <p:grpSp>
        <p:nvGrpSpPr>
          <p:cNvPr name="Group 22" id="22"/>
          <p:cNvGrpSpPr/>
          <p:nvPr/>
        </p:nvGrpSpPr>
        <p:grpSpPr>
          <a:xfrm rot="0">
            <a:off x="6891172" y="2698942"/>
            <a:ext cx="676447" cy="705573"/>
            <a:chOff x="0" y="0"/>
            <a:chExt cx="812800" cy="847797"/>
          </a:xfrm>
        </p:grpSpPr>
        <p:sp>
          <p:nvSpPr>
            <p:cNvPr name="Freeform 23" id="23"/>
            <p:cNvSpPr/>
            <p:nvPr/>
          </p:nvSpPr>
          <p:spPr>
            <a:xfrm flipH="false" flipV="false" rot="0">
              <a:off x="0" y="0"/>
              <a:ext cx="812800" cy="847797"/>
            </a:xfrm>
            <a:custGeom>
              <a:avLst/>
              <a:gdLst/>
              <a:ahLst/>
              <a:cxnLst/>
              <a:rect r="r" b="b" t="t" l="l"/>
              <a:pathLst>
                <a:path h="847797" w="812800">
                  <a:moveTo>
                    <a:pt x="406400" y="0"/>
                  </a:moveTo>
                  <a:cubicBezTo>
                    <a:pt x="181951" y="0"/>
                    <a:pt x="0" y="189786"/>
                    <a:pt x="0" y="423899"/>
                  </a:cubicBezTo>
                  <a:cubicBezTo>
                    <a:pt x="0" y="658011"/>
                    <a:pt x="181951" y="847797"/>
                    <a:pt x="406400" y="847797"/>
                  </a:cubicBezTo>
                  <a:cubicBezTo>
                    <a:pt x="630849" y="847797"/>
                    <a:pt x="812800" y="658011"/>
                    <a:pt x="812800" y="423899"/>
                  </a:cubicBezTo>
                  <a:cubicBezTo>
                    <a:pt x="812800" y="189786"/>
                    <a:pt x="630849" y="0"/>
                    <a:pt x="406400" y="0"/>
                  </a:cubicBezTo>
                  <a:close/>
                </a:path>
              </a:pathLst>
            </a:custGeom>
            <a:solidFill>
              <a:srgbClr val="FFEFB3"/>
            </a:solidFill>
          </p:spPr>
        </p:sp>
        <p:sp>
          <p:nvSpPr>
            <p:cNvPr name="TextBox 24" id="24"/>
            <p:cNvSpPr txBox="true"/>
            <p:nvPr/>
          </p:nvSpPr>
          <p:spPr>
            <a:xfrm>
              <a:off x="76200" y="69956"/>
              <a:ext cx="660400" cy="698360"/>
            </a:xfrm>
            <a:prstGeom prst="rect">
              <a:avLst/>
            </a:prstGeom>
          </p:spPr>
          <p:txBody>
            <a:bodyPr anchor="ctr" rtlCol="false" tIns="50800" lIns="50800" bIns="50800" rIns="50800"/>
            <a:lstStyle/>
            <a:p>
              <a:pPr algn="ctr">
                <a:lnSpc>
                  <a:spcPts val="2260"/>
                </a:lnSpc>
              </a:pPr>
              <a:r>
                <a:rPr lang="en-US" b="true" sz="2000">
                  <a:solidFill>
                    <a:srgbClr val="000000"/>
                  </a:solidFill>
                  <a:latin typeface="Poppins Bold"/>
                  <a:ea typeface="Poppins Bold"/>
                  <a:cs typeface="Poppins Bold"/>
                  <a:sym typeface="Poppins Bold"/>
                </a:rPr>
                <a:t>1</a:t>
              </a:r>
            </a:p>
          </p:txBody>
        </p:sp>
      </p:grpSp>
      <p:sp>
        <p:nvSpPr>
          <p:cNvPr name="TextBox 25" id="25"/>
          <p:cNvSpPr txBox="true"/>
          <p:nvPr/>
        </p:nvSpPr>
        <p:spPr>
          <a:xfrm rot="0">
            <a:off x="16195438" y="7082811"/>
            <a:ext cx="1804973" cy="2676525"/>
          </a:xfrm>
          <a:prstGeom prst="rect">
            <a:avLst/>
          </a:prstGeom>
        </p:spPr>
        <p:txBody>
          <a:bodyPr anchor="t" rtlCol="false" tIns="0" lIns="0" bIns="0" rIns="0">
            <a:spAutoFit/>
          </a:bodyPr>
          <a:lstStyle/>
          <a:p>
            <a:pPr algn="l" marL="0" indent="0" lvl="0">
              <a:lnSpc>
                <a:spcPts val="3000"/>
              </a:lnSpc>
            </a:pPr>
            <a:r>
              <a:rPr lang="en-US" sz="2000">
                <a:solidFill>
                  <a:srgbClr val="000000"/>
                </a:solidFill>
                <a:latin typeface="Poppins"/>
                <a:ea typeface="Poppins"/>
                <a:cs typeface="Poppins"/>
                <a:sym typeface="Poppins"/>
              </a:rPr>
              <a:t>El cuerpo humano actúa como un puente eléctrico cuando toca la fruta</a:t>
            </a:r>
          </a:p>
        </p:txBody>
      </p:sp>
      <p:sp>
        <p:nvSpPr>
          <p:cNvPr name="TextBox 26" id="26"/>
          <p:cNvSpPr txBox="true"/>
          <p:nvPr/>
        </p:nvSpPr>
        <p:spPr>
          <a:xfrm rot="0">
            <a:off x="1675886" y="2414595"/>
            <a:ext cx="5553509" cy="3541395"/>
          </a:xfrm>
          <a:prstGeom prst="rect">
            <a:avLst/>
          </a:prstGeom>
        </p:spPr>
        <p:txBody>
          <a:bodyPr anchor="t" rtlCol="false" tIns="0" lIns="0" bIns="0" rIns="0">
            <a:spAutoFit/>
          </a:bodyPr>
          <a:lstStyle/>
          <a:p>
            <a:pPr algn="l" marL="0" indent="0" lvl="0">
              <a:lnSpc>
                <a:spcPts val="6840"/>
              </a:lnSpc>
              <a:spcBef>
                <a:spcPct val="0"/>
              </a:spcBef>
            </a:pPr>
            <a:r>
              <a:rPr lang="en-US" sz="6000">
                <a:solidFill>
                  <a:srgbClr val="000000"/>
                </a:solidFill>
                <a:latin typeface="Poppins"/>
                <a:ea typeface="Poppins"/>
                <a:cs typeface="Poppins"/>
                <a:sym typeface="Poppins"/>
              </a:rPr>
              <a:t>¿Cómo cerramos el circuito eléctrico?</a:t>
            </a:r>
          </a:p>
        </p:txBody>
      </p:sp>
      <p:sp>
        <p:nvSpPr>
          <p:cNvPr name="TextBox 27" id="27"/>
          <p:cNvSpPr txBox="true"/>
          <p:nvPr/>
        </p:nvSpPr>
        <p:spPr>
          <a:xfrm rot="0">
            <a:off x="1704461" y="6007899"/>
            <a:ext cx="4565388" cy="2048637"/>
          </a:xfrm>
          <a:prstGeom prst="rect">
            <a:avLst/>
          </a:prstGeom>
        </p:spPr>
        <p:txBody>
          <a:bodyPr anchor="t" rtlCol="false" tIns="0" lIns="0" bIns="0" rIns="0">
            <a:spAutoFit/>
          </a:bodyPr>
          <a:lstStyle/>
          <a:p>
            <a:pPr algn="just" marL="0" indent="0" lvl="0">
              <a:lnSpc>
                <a:spcPts val="3233"/>
              </a:lnSpc>
            </a:pPr>
            <a:r>
              <a:rPr lang="en-US" sz="2199">
                <a:solidFill>
                  <a:srgbClr val="737373"/>
                </a:solidFill>
                <a:latin typeface="Poppins"/>
                <a:ea typeface="Poppins"/>
                <a:cs typeface="Poppins"/>
                <a:sym typeface="Poppins"/>
              </a:rPr>
              <a:t>Para que la placa envíe la señal, la electricidad debe viajar desde la placa, a través del objeto y el cuerpo humano, de vuelta a la conexión a tierra.</a:t>
            </a:r>
          </a:p>
        </p:txBody>
      </p:sp>
      <p:sp>
        <p:nvSpPr>
          <p:cNvPr name="TextBox 28" id="28"/>
          <p:cNvSpPr txBox="true"/>
          <p:nvPr/>
        </p:nvSpPr>
        <p:spPr>
          <a:xfrm rot="0">
            <a:off x="7695388" y="2613217"/>
            <a:ext cx="3453278" cy="771525"/>
          </a:xfrm>
          <a:prstGeom prst="rect">
            <a:avLst/>
          </a:prstGeom>
        </p:spPr>
        <p:txBody>
          <a:bodyPr anchor="t" rtlCol="false" tIns="0" lIns="0" bIns="0" rIns="0">
            <a:spAutoFit/>
          </a:bodyPr>
          <a:lstStyle/>
          <a:p>
            <a:pPr algn="just" marL="0" indent="0" lvl="0">
              <a:lnSpc>
                <a:spcPts val="3000"/>
              </a:lnSpc>
            </a:pPr>
            <a:r>
              <a:rPr lang="en-US" sz="2000">
                <a:solidFill>
                  <a:srgbClr val="000000"/>
                </a:solidFill>
                <a:latin typeface="Poppins"/>
                <a:ea typeface="Poppins"/>
                <a:cs typeface="Poppins"/>
                <a:sym typeface="Poppins"/>
              </a:rPr>
              <a:t>El computador provee la energía a la placa Makey</a:t>
            </a:r>
          </a:p>
        </p:txBody>
      </p:sp>
      <p:sp>
        <p:nvSpPr>
          <p:cNvPr name="TextBox 29" id="29"/>
          <p:cNvSpPr txBox="true"/>
          <p:nvPr/>
        </p:nvSpPr>
        <p:spPr>
          <a:xfrm rot="0">
            <a:off x="14984032" y="2545549"/>
            <a:ext cx="2778069" cy="1533525"/>
          </a:xfrm>
          <a:prstGeom prst="rect">
            <a:avLst/>
          </a:prstGeom>
        </p:spPr>
        <p:txBody>
          <a:bodyPr anchor="t" rtlCol="false" tIns="0" lIns="0" bIns="0" rIns="0">
            <a:spAutoFit/>
          </a:bodyPr>
          <a:lstStyle/>
          <a:p>
            <a:pPr algn="just" marL="0" indent="0" lvl="0">
              <a:lnSpc>
                <a:spcPts val="3000"/>
              </a:lnSpc>
            </a:pPr>
            <a:r>
              <a:rPr lang="en-US" sz="2000">
                <a:solidFill>
                  <a:srgbClr val="000000"/>
                </a:solidFill>
                <a:latin typeface="Poppins"/>
                <a:ea typeface="Poppins"/>
                <a:cs typeface="Poppins"/>
                <a:sym typeface="Poppins"/>
              </a:rPr>
              <a:t>La fruta o el papel aluminio transmiten la energía por su alta conductividad</a:t>
            </a:r>
          </a:p>
        </p:txBody>
      </p:sp>
      <p:grpSp>
        <p:nvGrpSpPr>
          <p:cNvPr name="Group 30" id="30"/>
          <p:cNvGrpSpPr/>
          <p:nvPr/>
        </p:nvGrpSpPr>
        <p:grpSpPr>
          <a:xfrm rot="0">
            <a:off x="14123377" y="2631274"/>
            <a:ext cx="676447" cy="705573"/>
            <a:chOff x="0" y="0"/>
            <a:chExt cx="812800" cy="847797"/>
          </a:xfrm>
        </p:grpSpPr>
        <p:sp>
          <p:nvSpPr>
            <p:cNvPr name="Freeform 31" id="31"/>
            <p:cNvSpPr/>
            <p:nvPr/>
          </p:nvSpPr>
          <p:spPr>
            <a:xfrm flipH="false" flipV="false" rot="0">
              <a:off x="0" y="0"/>
              <a:ext cx="812800" cy="847797"/>
            </a:xfrm>
            <a:custGeom>
              <a:avLst/>
              <a:gdLst/>
              <a:ahLst/>
              <a:cxnLst/>
              <a:rect r="r" b="b" t="t" l="l"/>
              <a:pathLst>
                <a:path h="847797" w="812800">
                  <a:moveTo>
                    <a:pt x="406400" y="0"/>
                  </a:moveTo>
                  <a:cubicBezTo>
                    <a:pt x="181951" y="0"/>
                    <a:pt x="0" y="189786"/>
                    <a:pt x="0" y="423899"/>
                  </a:cubicBezTo>
                  <a:cubicBezTo>
                    <a:pt x="0" y="658011"/>
                    <a:pt x="181951" y="847797"/>
                    <a:pt x="406400" y="847797"/>
                  </a:cubicBezTo>
                  <a:cubicBezTo>
                    <a:pt x="630849" y="847797"/>
                    <a:pt x="812800" y="658011"/>
                    <a:pt x="812800" y="423899"/>
                  </a:cubicBezTo>
                  <a:cubicBezTo>
                    <a:pt x="812800" y="189786"/>
                    <a:pt x="630849" y="0"/>
                    <a:pt x="406400" y="0"/>
                  </a:cubicBezTo>
                  <a:close/>
                </a:path>
              </a:pathLst>
            </a:custGeom>
            <a:solidFill>
              <a:srgbClr val="FFEFB3"/>
            </a:solidFill>
          </p:spPr>
        </p:sp>
        <p:sp>
          <p:nvSpPr>
            <p:cNvPr name="TextBox 32" id="32"/>
            <p:cNvSpPr txBox="true"/>
            <p:nvPr/>
          </p:nvSpPr>
          <p:spPr>
            <a:xfrm>
              <a:off x="76200" y="69956"/>
              <a:ext cx="660400" cy="698360"/>
            </a:xfrm>
            <a:prstGeom prst="rect">
              <a:avLst/>
            </a:prstGeom>
          </p:spPr>
          <p:txBody>
            <a:bodyPr anchor="ctr" rtlCol="false" tIns="50800" lIns="50800" bIns="50800" rIns="50800"/>
            <a:lstStyle/>
            <a:p>
              <a:pPr algn="ctr">
                <a:lnSpc>
                  <a:spcPts val="2260"/>
                </a:lnSpc>
              </a:pPr>
              <a:r>
                <a:rPr lang="en-US" b="true" sz="2000">
                  <a:solidFill>
                    <a:srgbClr val="000000"/>
                  </a:solidFill>
                  <a:latin typeface="Poppins Bold"/>
                  <a:ea typeface="Poppins Bold"/>
                  <a:cs typeface="Poppins Bold"/>
                  <a:sym typeface="Poppins Bold"/>
                </a:rPr>
                <a:t>2</a:t>
              </a:r>
            </a:p>
          </p:txBody>
        </p:sp>
      </p:grpSp>
      <p:grpSp>
        <p:nvGrpSpPr>
          <p:cNvPr name="Group 33" id="33"/>
          <p:cNvGrpSpPr/>
          <p:nvPr/>
        </p:nvGrpSpPr>
        <p:grpSpPr>
          <a:xfrm rot="0">
            <a:off x="15381215" y="7168536"/>
            <a:ext cx="676447" cy="705573"/>
            <a:chOff x="0" y="0"/>
            <a:chExt cx="812800" cy="847797"/>
          </a:xfrm>
        </p:grpSpPr>
        <p:sp>
          <p:nvSpPr>
            <p:cNvPr name="Freeform 34" id="34"/>
            <p:cNvSpPr/>
            <p:nvPr/>
          </p:nvSpPr>
          <p:spPr>
            <a:xfrm flipH="false" flipV="false" rot="0">
              <a:off x="0" y="0"/>
              <a:ext cx="812800" cy="847797"/>
            </a:xfrm>
            <a:custGeom>
              <a:avLst/>
              <a:gdLst/>
              <a:ahLst/>
              <a:cxnLst/>
              <a:rect r="r" b="b" t="t" l="l"/>
              <a:pathLst>
                <a:path h="847797" w="812800">
                  <a:moveTo>
                    <a:pt x="406400" y="0"/>
                  </a:moveTo>
                  <a:cubicBezTo>
                    <a:pt x="181951" y="0"/>
                    <a:pt x="0" y="189786"/>
                    <a:pt x="0" y="423899"/>
                  </a:cubicBezTo>
                  <a:cubicBezTo>
                    <a:pt x="0" y="658011"/>
                    <a:pt x="181951" y="847797"/>
                    <a:pt x="406400" y="847797"/>
                  </a:cubicBezTo>
                  <a:cubicBezTo>
                    <a:pt x="630849" y="847797"/>
                    <a:pt x="812800" y="658011"/>
                    <a:pt x="812800" y="423899"/>
                  </a:cubicBezTo>
                  <a:cubicBezTo>
                    <a:pt x="812800" y="189786"/>
                    <a:pt x="630849" y="0"/>
                    <a:pt x="406400" y="0"/>
                  </a:cubicBezTo>
                  <a:close/>
                </a:path>
              </a:pathLst>
            </a:custGeom>
            <a:solidFill>
              <a:srgbClr val="FFEFB3"/>
            </a:solidFill>
          </p:spPr>
        </p:sp>
        <p:sp>
          <p:nvSpPr>
            <p:cNvPr name="TextBox 35" id="35"/>
            <p:cNvSpPr txBox="true"/>
            <p:nvPr/>
          </p:nvSpPr>
          <p:spPr>
            <a:xfrm>
              <a:off x="76200" y="69956"/>
              <a:ext cx="660400" cy="698360"/>
            </a:xfrm>
            <a:prstGeom prst="rect">
              <a:avLst/>
            </a:prstGeom>
          </p:spPr>
          <p:txBody>
            <a:bodyPr anchor="ctr" rtlCol="false" tIns="50800" lIns="50800" bIns="50800" rIns="50800"/>
            <a:lstStyle/>
            <a:p>
              <a:pPr algn="ctr">
                <a:lnSpc>
                  <a:spcPts val="2260"/>
                </a:lnSpc>
              </a:pPr>
              <a:r>
                <a:rPr lang="en-US" b="true" sz="2000">
                  <a:solidFill>
                    <a:srgbClr val="000000"/>
                  </a:solidFill>
                  <a:latin typeface="Poppins Bold"/>
                  <a:ea typeface="Poppins Bold"/>
                  <a:cs typeface="Poppins Bold"/>
                  <a:sym typeface="Poppins Bold"/>
                </a:rPr>
                <a:t>3</a:t>
              </a:r>
            </a:p>
          </p:txBody>
        </p:sp>
      </p:grpSp>
      <p:grpSp>
        <p:nvGrpSpPr>
          <p:cNvPr name="Group 36" id="36"/>
          <p:cNvGrpSpPr/>
          <p:nvPr/>
        </p:nvGrpSpPr>
        <p:grpSpPr>
          <a:xfrm rot="0">
            <a:off x="6003094" y="8594166"/>
            <a:ext cx="676447" cy="705573"/>
            <a:chOff x="0" y="0"/>
            <a:chExt cx="812800" cy="847797"/>
          </a:xfrm>
        </p:grpSpPr>
        <p:sp>
          <p:nvSpPr>
            <p:cNvPr name="Freeform 37" id="37"/>
            <p:cNvSpPr/>
            <p:nvPr/>
          </p:nvSpPr>
          <p:spPr>
            <a:xfrm flipH="false" flipV="false" rot="0">
              <a:off x="0" y="0"/>
              <a:ext cx="812800" cy="847797"/>
            </a:xfrm>
            <a:custGeom>
              <a:avLst/>
              <a:gdLst/>
              <a:ahLst/>
              <a:cxnLst/>
              <a:rect r="r" b="b" t="t" l="l"/>
              <a:pathLst>
                <a:path h="847797" w="812800">
                  <a:moveTo>
                    <a:pt x="406400" y="0"/>
                  </a:moveTo>
                  <a:cubicBezTo>
                    <a:pt x="181951" y="0"/>
                    <a:pt x="0" y="189786"/>
                    <a:pt x="0" y="423899"/>
                  </a:cubicBezTo>
                  <a:cubicBezTo>
                    <a:pt x="0" y="658011"/>
                    <a:pt x="181951" y="847797"/>
                    <a:pt x="406400" y="847797"/>
                  </a:cubicBezTo>
                  <a:cubicBezTo>
                    <a:pt x="630849" y="847797"/>
                    <a:pt x="812800" y="658011"/>
                    <a:pt x="812800" y="423899"/>
                  </a:cubicBezTo>
                  <a:cubicBezTo>
                    <a:pt x="812800" y="189786"/>
                    <a:pt x="630849" y="0"/>
                    <a:pt x="406400" y="0"/>
                  </a:cubicBezTo>
                  <a:close/>
                </a:path>
              </a:pathLst>
            </a:custGeom>
            <a:solidFill>
              <a:srgbClr val="FFEFB3"/>
            </a:solidFill>
          </p:spPr>
        </p:sp>
        <p:sp>
          <p:nvSpPr>
            <p:cNvPr name="TextBox 38" id="38"/>
            <p:cNvSpPr txBox="true"/>
            <p:nvPr/>
          </p:nvSpPr>
          <p:spPr>
            <a:xfrm>
              <a:off x="76200" y="69956"/>
              <a:ext cx="660400" cy="698360"/>
            </a:xfrm>
            <a:prstGeom prst="rect">
              <a:avLst/>
            </a:prstGeom>
          </p:spPr>
          <p:txBody>
            <a:bodyPr anchor="ctr" rtlCol="false" tIns="50800" lIns="50800" bIns="50800" rIns="50800"/>
            <a:lstStyle/>
            <a:p>
              <a:pPr algn="ctr">
                <a:lnSpc>
                  <a:spcPts val="2260"/>
                </a:lnSpc>
              </a:pPr>
              <a:r>
                <a:rPr lang="en-US" b="true" sz="2000">
                  <a:solidFill>
                    <a:srgbClr val="000000"/>
                  </a:solidFill>
                  <a:latin typeface="Poppins Bold"/>
                  <a:ea typeface="Poppins Bold"/>
                  <a:cs typeface="Poppins Bold"/>
                  <a:sym typeface="Poppins Bold"/>
                </a:rPr>
                <a:t>4</a:t>
              </a:r>
            </a:p>
          </p:txBody>
        </p:sp>
      </p:grpSp>
      <p:sp>
        <p:nvSpPr>
          <p:cNvPr name="TextBox 39" id="39"/>
          <p:cNvSpPr txBox="true"/>
          <p:nvPr/>
        </p:nvSpPr>
        <p:spPr>
          <a:xfrm rot="0">
            <a:off x="6631600" y="1153252"/>
            <a:ext cx="5580854" cy="291465"/>
          </a:xfrm>
          <a:prstGeom prst="rect">
            <a:avLst/>
          </a:prstGeom>
        </p:spPr>
        <p:txBody>
          <a:bodyPr anchor="t" rtlCol="false" tIns="0" lIns="0" bIns="0" rIns="0">
            <a:spAutoFit/>
          </a:bodyPr>
          <a:lstStyle/>
          <a:p>
            <a:pPr algn="ctr" marL="0" indent="0" lvl="1">
              <a:lnSpc>
                <a:spcPts val="2280"/>
              </a:lnSpc>
              <a:spcBef>
                <a:spcPct val="0"/>
              </a:spcBef>
            </a:pPr>
            <a:r>
              <a:rPr lang="en-US" b="true" sz="2000">
                <a:solidFill>
                  <a:srgbClr val="E0E0E0"/>
                </a:solidFill>
                <a:latin typeface="DM Sans Bold"/>
                <a:ea typeface="DM Sans Bold"/>
                <a:cs typeface="DM Sans Bold"/>
                <a:sym typeface="DM Sans Bold"/>
              </a:rPr>
              <a:t>Estación 1: Piano</a:t>
            </a:r>
            <a:r>
              <a:rPr lang="en-US" b="true" sz="2000">
                <a:solidFill>
                  <a:srgbClr val="E0E0E0"/>
                </a:solidFill>
                <a:latin typeface="DM Sans Bold"/>
                <a:ea typeface="DM Sans Bold"/>
                <a:cs typeface="DM Sans Bold"/>
                <a:sym typeface="DM Sans Bold"/>
              </a:rPr>
              <a:t> Digital con Makey Makey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47150" y="2146431"/>
            <a:ext cx="1126590" cy="797582"/>
            <a:chOff x="0" y="0"/>
            <a:chExt cx="296715" cy="210063"/>
          </a:xfrm>
        </p:grpSpPr>
        <p:sp>
          <p:nvSpPr>
            <p:cNvPr name="Freeform 3" id="3"/>
            <p:cNvSpPr/>
            <p:nvPr/>
          </p:nvSpPr>
          <p:spPr>
            <a:xfrm flipH="false" flipV="false" rot="0">
              <a:off x="0" y="0"/>
              <a:ext cx="296715" cy="210063"/>
            </a:xfrm>
            <a:custGeom>
              <a:avLst/>
              <a:gdLst/>
              <a:ahLst/>
              <a:cxnLst/>
              <a:rect r="r" b="b" t="t" l="l"/>
              <a:pathLst>
                <a:path h="210063" w="296715">
                  <a:moveTo>
                    <a:pt x="105031" y="0"/>
                  </a:moveTo>
                  <a:lnTo>
                    <a:pt x="191684" y="0"/>
                  </a:lnTo>
                  <a:cubicBezTo>
                    <a:pt x="219540" y="0"/>
                    <a:pt x="246255" y="11066"/>
                    <a:pt x="265952" y="30763"/>
                  </a:cubicBezTo>
                  <a:cubicBezTo>
                    <a:pt x="285649" y="50460"/>
                    <a:pt x="296715" y="77175"/>
                    <a:pt x="296715" y="105031"/>
                  </a:cubicBezTo>
                  <a:lnTo>
                    <a:pt x="296715" y="105031"/>
                  </a:lnTo>
                  <a:cubicBezTo>
                    <a:pt x="296715" y="132887"/>
                    <a:pt x="285649" y="159603"/>
                    <a:pt x="265952" y="179300"/>
                  </a:cubicBezTo>
                  <a:cubicBezTo>
                    <a:pt x="246255" y="198997"/>
                    <a:pt x="219540" y="210063"/>
                    <a:pt x="191684" y="210063"/>
                  </a:cubicBezTo>
                  <a:lnTo>
                    <a:pt x="105031" y="210063"/>
                  </a:lnTo>
                  <a:cubicBezTo>
                    <a:pt x="77175" y="210063"/>
                    <a:pt x="50460" y="198997"/>
                    <a:pt x="30763" y="179300"/>
                  </a:cubicBezTo>
                  <a:cubicBezTo>
                    <a:pt x="11066" y="159603"/>
                    <a:pt x="0" y="132887"/>
                    <a:pt x="0" y="105031"/>
                  </a:cubicBezTo>
                  <a:lnTo>
                    <a:pt x="0" y="105031"/>
                  </a:lnTo>
                  <a:cubicBezTo>
                    <a:pt x="0" y="77175"/>
                    <a:pt x="11066" y="50460"/>
                    <a:pt x="30763" y="30763"/>
                  </a:cubicBezTo>
                  <a:cubicBezTo>
                    <a:pt x="50460" y="11066"/>
                    <a:pt x="77175" y="0"/>
                    <a:pt x="105031" y="0"/>
                  </a:cubicBezTo>
                  <a:close/>
                </a:path>
              </a:pathLst>
            </a:custGeom>
            <a:solidFill>
              <a:srgbClr val="FFEFB3"/>
            </a:solidFill>
          </p:spPr>
        </p:sp>
        <p:sp>
          <p:nvSpPr>
            <p:cNvPr name="TextBox 4" id="4"/>
            <p:cNvSpPr txBox="true"/>
            <p:nvPr/>
          </p:nvSpPr>
          <p:spPr>
            <a:xfrm>
              <a:off x="0" y="9525"/>
              <a:ext cx="296715" cy="200538"/>
            </a:xfrm>
            <a:prstGeom prst="rect">
              <a:avLst/>
            </a:prstGeom>
          </p:spPr>
          <p:txBody>
            <a:bodyPr anchor="ctr" rtlCol="false" tIns="50800" lIns="50800" bIns="50800" rIns="50800"/>
            <a:lstStyle/>
            <a:p>
              <a:pPr algn="ctr">
                <a:lnSpc>
                  <a:spcPts val="2280"/>
                </a:lnSpc>
              </a:pPr>
            </a:p>
          </p:txBody>
        </p:sp>
      </p:grpSp>
      <p:sp>
        <p:nvSpPr>
          <p:cNvPr name="Freeform 5" id="5"/>
          <p:cNvSpPr/>
          <p:nvPr/>
        </p:nvSpPr>
        <p:spPr>
          <a:xfrm flipH="false" flipV="false" rot="0">
            <a:off x="496428" y="188648"/>
            <a:ext cx="1910158" cy="1910158"/>
          </a:xfrm>
          <a:custGeom>
            <a:avLst/>
            <a:gdLst/>
            <a:ahLst/>
            <a:cxnLst/>
            <a:rect r="r" b="b" t="t" l="l"/>
            <a:pathLst>
              <a:path h="1910158" w="1910158">
                <a:moveTo>
                  <a:pt x="0" y="0"/>
                </a:moveTo>
                <a:lnTo>
                  <a:pt x="1910158" y="0"/>
                </a:lnTo>
                <a:lnTo>
                  <a:pt x="1910158" y="1910158"/>
                </a:lnTo>
                <a:lnTo>
                  <a:pt x="0" y="1910158"/>
                </a:lnTo>
                <a:lnTo>
                  <a:pt x="0" y="0"/>
                </a:lnTo>
                <a:close/>
              </a:path>
            </a:pathLst>
          </a:custGeom>
          <a:blipFill>
            <a:blip r:embed="rId2"/>
            <a:stretch>
              <a:fillRect l="0" t="0" r="0" b="0"/>
            </a:stretch>
          </a:blipFill>
        </p:spPr>
      </p:sp>
      <p:sp>
        <p:nvSpPr>
          <p:cNvPr name="Freeform 6" id="6"/>
          <p:cNvSpPr/>
          <p:nvPr/>
        </p:nvSpPr>
        <p:spPr>
          <a:xfrm flipH="false" flipV="false" rot="0">
            <a:off x="1451507" y="4251456"/>
            <a:ext cx="6433550" cy="4947708"/>
          </a:xfrm>
          <a:custGeom>
            <a:avLst/>
            <a:gdLst/>
            <a:ahLst/>
            <a:cxnLst/>
            <a:rect r="r" b="b" t="t" l="l"/>
            <a:pathLst>
              <a:path h="4947708" w="6433550">
                <a:moveTo>
                  <a:pt x="0" y="0"/>
                </a:moveTo>
                <a:lnTo>
                  <a:pt x="6433550" y="0"/>
                </a:lnTo>
                <a:lnTo>
                  <a:pt x="6433550" y="4947709"/>
                </a:lnTo>
                <a:lnTo>
                  <a:pt x="0" y="4947709"/>
                </a:lnTo>
                <a:lnTo>
                  <a:pt x="0" y="0"/>
                </a:lnTo>
                <a:close/>
              </a:path>
            </a:pathLst>
          </a:custGeom>
          <a:blipFill>
            <a:blip r:embed="rId3"/>
            <a:stretch>
              <a:fillRect l="0" t="0" r="-3860" b="-13605"/>
            </a:stretch>
          </a:blipFill>
        </p:spPr>
      </p:sp>
      <p:sp>
        <p:nvSpPr>
          <p:cNvPr name="AutoShape 7" id="7"/>
          <p:cNvSpPr/>
          <p:nvPr/>
        </p:nvSpPr>
        <p:spPr>
          <a:xfrm>
            <a:off x="6517300" y="5344300"/>
            <a:ext cx="487243" cy="0"/>
          </a:xfrm>
          <a:prstGeom prst="line">
            <a:avLst/>
          </a:prstGeom>
          <a:ln cap="flat" w="38100">
            <a:solidFill>
              <a:srgbClr val="000000"/>
            </a:solidFill>
            <a:prstDash val="solid"/>
            <a:headEnd type="none" len="sm" w="sm"/>
            <a:tailEnd type="triangle" len="med" w="lg"/>
          </a:ln>
        </p:spPr>
      </p:sp>
      <p:sp>
        <p:nvSpPr>
          <p:cNvPr name="AutoShape 8" id="8"/>
          <p:cNvSpPr/>
          <p:nvPr/>
        </p:nvSpPr>
        <p:spPr>
          <a:xfrm>
            <a:off x="7956475" y="7832883"/>
            <a:ext cx="487243" cy="0"/>
          </a:xfrm>
          <a:prstGeom prst="line">
            <a:avLst/>
          </a:prstGeom>
          <a:ln cap="flat" w="38100">
            <a:solidFill>
              <a:srgbClr val="000000"/>
            </a:solidFill>
            <a:prstDash val="solid"/>
            <a:headEnd type="none" len="sm" w="sm"/>
            <a:tailEnd type="triangle" len="med" w="lg"/>
          </a:ln>
        </p:spPr>
      </p:sp>
      <p:sp>
        <p:nvSpPr>
          <p:cNvPr name="TextBox 9" id="9"/>
          <p:cNvSpPr txBox="true"/>
          <p:nvPr/>
        </p:nvSpPr>
        <p:spPr>
          <a:xfrm rot="0">
            <a:off x="1612971" y="2079756"/>
            <a:ext cx="15787770" cy="1504950"/>
          </a:xfrm>
          <a:prstGeom prst="rect">
            <a:avLst/>
          </a:prstGeom>
        </p:spPr>
        <p:txBody>
          <a:bodyPr anchor="t" rtlCol="false" tIns="0" lIns="0" bIns="0" rIns="0">
            <a:spAutoFit/>
          </a:bodyPr>
          <a:lstStyle/>
          <a:p>
            <a:pPr algn="l">
              <a:lnSpc>
                <a:spcPts val="6840"/>
              </a:lnSpc>
            </a:pPr>
            <a:r>
              <a:rPr lang="en-US" sz="6000">
                <a:solidFill>
                  <a:srgbClr val="000000"/>
                </a:solidFill>
                <a:latin typeface="Poppins"/>
                <a:ea typeface="Poppins"/>
                <a:cs typeface="Poppins"/>
                <a:sym typeface="Poppins"/>
              </a:rPr>
              <a:t>Lógica Digital: </a:t>
            </a:r>
          </a:p>
          <a:p>
            <a:pPr algn="l" marL="0" indent="0" lvl="0">
              <a:lnSpc>
                <a:spcPts val="4559"/>
              </a:lnSpc>
              <a:spcBef>
                <a:spcPct val="0"/>
              </a:spcBef>
            </a:pPr>
            <a:r>
              <a:rPr lang="en-US" sz="3999">
                <a:solidFill>
                  <a:srgbClr val="000000"/>
                </a:solidFill>
                <a:latin typeface="Poppins"/>
                <a:ea typeface="Poppins"/>
                <a:cs typeface="Poppins"/>
                <a:sym typeface="Poppins"/>
              </a:rPr>
              <a:t>Traduciendo la Acción Física en Sonido</a:t>
            </a:r>
          </a:p>
        </p:txBody>
      </p:sp>
      <p:sp>
        <p:nvSpPr>
          <p:cNvPr name="TextBox 10" id="10"/>
          <p:cNvSpPr txBox="true"/>
          <p:nvPr/>
        </p:nvSpPr>
        <p:spPr>
          <a:xfrm rot="0">
            <a:off x="6812440" y="5184280"/>
            <a:ext cx="10056751" cy="310515"/>
          </a:xfrm>
          <a:prstGeom prst="rect">
            <a:avLst/>
          </a:prstGeom>
        </p:spPr>
        <p:txBody>
          <a:bodyPr anchor="t" rtlCol="false" tIns="0" lIns="0" bIns="0" rIns="0">
            <a:spAutoFit/>
          </a:bodyPr>
          <a:lstStyle/>
          <a:p>
            <a:pPr algn="r" marL="0" indent="0" lvl="1">
              <a:lnSpc>
                <a:spcPts val="2280"/>
              </a:lnSpc>
              <a:spcBef>
                <a:spcPct val="0"/>
              </a:spcBef>
            </a:pPr>
            <a:r>
              <a:rPr lang="en-US" b="true" sz="2000">
                <a:solidFill>
                  <a:srgbClr val="000000"/>
                </a:solidFill>
                <a:latin typeface="Poppins Bold"/>
                <a:ea typeface="Poppins Bold"/>
                <a:cs typeface="Poppins Bold"/>
                <a:sym typeface="Poppins Bold"/>
              </a:rPr>
              <a:t>El Gatillador: </a:t>
            </a:r>
            <a:r>
              <a:rPr lang="en-US" sz="2000">
                <a:solidFill>
                  <a:srgbClr val="000000"/>
                </a:solidFill>
                <a:latin typeface="Poppins"/>
                <a:ea typeface="Poppins"/>
                <a:cs typeface="Poppins"/>
                <a:sym typeface="Poppins"/>
              </a:rPr>
              <a:t>Scratch detecta el circuito cerrado que armamos físicamente</a:t>
            </a:r>
          </a:p>
        </p:txBody>
      </p:sp>
      <p:sp>
        <p:nvSpPr>
          <p:cNvPr name="TextBox 11" id="11"/>
          <p:cNvSpPr txBox="true"/>
          <p:nvPr/>
        </p:nvSpPr>
        <p:spPr>
          <a:xfrm rot="0">
            <a:off x="8655291" y="7604283"/>
            <a:ext cx="8213900" cy="596265"/>
          </a:xfrm>
          <a:prstGeom prst="rect">
            <a:avLst/>
          </a:prstGeom>
        </p:spPr>
        <p:txBody>
          <a:bodyPr anchor="t" rtlCol="false" tIns="0" lIns="0" bIns="0" rIns="0">
            <a:spAutoFit/>
          </a:bodyPr>
          <a:lstStyle/>
          <a:p>
            <a:pPr algn="just" marL="0" indent="0" lvl="1">
              <a:lnSpc>
                <a:spcPts val="2280"/>
              </a:lnSpc>
              <a:spcBef>
                <a:spcPct val="0"/>
              </a:spcBef>
            </a:pPr>
            <a:r>
              <a:rPr lang="en-US" b="true" sz="2000">
                <a:solidFill>
                  <a:srgbClr val="000000"/>
                </a:solidFill>
                <a:latin typeface="Poppins Bold"/>
                <a:ea typeface="Poppins Bold"/>
                <a:cs typeface="Poppins Bold"/>
                <a:sym typeface="Poppins Bold"/>
              </a:rPr>
              <a:t>La Respuesta:</a:t>
            </a:r>
            <a:r>
              <a:rPr lang="en-US" sz="2000">
                <a:solidFill>
                  <a:srgbClr val="000000"/>
                </a:solidFill>
                <a:latin typeface="Poppins"/>
                <a:ea typeface="Poppins"/>
                <a:cs typeface="Poppins"/>
                <a:sym typeface="Poppins"/>
              </a:rPr>
              <a:t> Transforma la señal eléctrica en una frecuencia de audio específica.</a:t>
            </a:r>
          </a:p>
        </p:txBody>
      </p:sp>
      <p:sp>
        <p:nvSpPr>
          <p:cNvPr name="TextBox 12" id="12"/>
          <p:cNvSpPr txBox="true"/>
          <p:nvPr/>
        </p:nvSpPr>
        <p:spPr>
          <a:xfrm rot="0">
            <a:off x="1622496" y="3601803"/>
            <a:ext cx="15256221" cy="819912"/>
          </a:xfrm>
          <a:prstGeom prst="rect">
            <a:avLst/>
          </a:prstGeom>
        </p:spPr>
        <p:txBody>
          <a:bodyPr anchor="t" rtlCol="false" tIns="0" lIns="0" bIns="0" rIns="0">
            <a:spAutoFit/>
          </a:bodyPr>
          <a:lstStyle/>
          <a:p>
            <a:pPr algn="just" marL="0" indent="0" lvl="0">
              <a:lnSpc>
                <a:spcPts val="3233"/>
              </a:lnSpc>
            </a:pPr>
            <a:r>
              <a:rPr lang="en-US" sz="2199">
                <a:solidFill>
                  <a:srgbClr val="737373"/>
                </a:solidFill>
                <a:latin typeface="Poppins"/>
                <a:ea typeface="Poppins"/>
                <a:cs typeface="Poppins"/>
                <a:sym typeface="Poppins"/>
              </a:rPr>
              <a:t>Utilizamos la extensión de Música de Scratch. El código es minimalista para garantizar resultados funcionales en menos de 5 minutos.</a:t>
            </a:r>
          </a:p>
        </p:txBody>
      </p:sp>
      <p:grpSp>
        <p:nvGrpSpPr>
          <p:cNvPr name="Group 13" id="13"/>
          <p:cNvGrpSpPr/>
          <p:nvPr/>
        </p:nvGrpSpPr>
        <p:grpSpPr>
          <a:xfrm rot="0">
            <a:off x="2007358" y="9218215"/>
            <a:ext cx="14638839" cy="752087"/>
            <a:chOff x="0" y="0"/>
            <a:chExt cx="19518452" cy="1002782"/>
          </a:xfrm>
        </p:grpSpPr>
        <p:grpSp>
          <p:nvGrpSpPr>
            <p:cNvPr name="Group 14" id="14"/>
            <p:cNvGrpSpPr/>
            <p:nvPr/>
          </p:nvGrpSpPr>
          <p:grpSpPr>
            <a:xfrm rot="0">
              <a:off x="0" y="220382"/>
              <a:ext cx="19518452" cy="744300"/>
              <a:chOff x="0" y="0"/>
              <a:chExt cx="3855497" cy="147022"/>
            </a:xfrm>
          </p:grpSpPr>
          <p:sp>
            <p:nvSpPr>
              <p:cNvPr name="Freeform 15" id="15"/>
              <p:cNvSpPr/>
              <p:nvPr/>
            </p:nvSpPr>
            <p:spPr>
              <a:xfrm flipH="false" flipV="false" rot="0">
                <a:off x="0" y="0"/>
                <a:ext cx="3855497" cy="147022"/>
              </a:xfrm>
              <a:custGeom>
                <a:avLst/>
                <a:gdLst/>
                <a:ahLst/>
                <a:cxnLst/>
                <a:rect r="r" b="b" t="t" l="l"/>
                <a:pathLst>
                  <a:path h="147022" w="3855497">
                    <a:moveTo>
                      <a:pt x="26972" y="0"/>
                    </a:moveTo>
                    <a:lnTo>
                      <a:pt x="3828525" y="0"/>
                    </a:lnTo>
                    <a:cubicBezTo>
                      <a:pt x="3835678" y="0"/>
                      <a:pt x="3842539" y="2842"/>
                      <a:pt x="3847597" y="7900"/>
                    </a:cubicBezTo>
                    <a:cubicBezTo>
                      <a:pt x="3852655" y="12958"/>
                      <a:pt x="3855497" y="19819"/>
                      <a:pt x="3855497" y="26972"/>
                    </a:cubicBezTo>
                    <a:lnTo>
                      <a:pt x="3855497" y="120050"/>
                    </a:lnTo>
                    <a:cubicBezTo>
                      <a:pt x="3855497" y="127204"/>
                      <a:pt x="3852655" y="134064"/>
                      <a:pt x="3847597" y="139122"/>
                    </a:cubicBezTo>
                    <a:cubicBezTo>
                      <a:pt x="3842539" y="144180"/>
                      <a:pt x="3835678" y="147022"/>
                      <a:pt x="3828525" y="147022"/>
                    </a:cubicBezTo>
                    <a:lnTo>
                      <a:pt x="26972" y="147022"/>
                    </a:lnTo>
                    <a:cubicBezTo>
                      <a:pt x="12076" y="147022"/>
                      <a:pt x="0" y="134946"/>
                      <a:pt x="0" y="120050"/>
                    </a:cubicBezTo>
                    <a:lnTo>
                      <a:pt x="0" y="26972"/>
                    </a:lnTo>
                    <a:cubicBezTo>
                      <a:pt x="0" y="19819"/>
                      <a:pt x="2842" y="12958"/>
                      <a:pt x="7900" y="7900"/>
                    </a:cubicBezTo>
                    <a:cubicBezTo>
                      <a:pt x="12958" y="2842"/>
                      <a:pt x="19819" y="0"/>
                      <a:pt x="26972" y="0"/>
                    </a:cubicBezTo>
                    <a:close/>
                  </a:path>
                </a:pathLst>
              </a:custGeom>
              <a:solidFill>
                <a:srgbClr val="FFEFB3"/>
              </a:solidFill>
              <a:ln w="38100" cap="rnd">
                <a:solidFill>
                  <a:srgbClr val="F4DE8D"/>
                </a:solidFill>
                <a:prstDash val="solid"/>
                <a:round/>
              </a:ln>
            </p:spPr>
          </p:sp>
          <p:sp>
            <p:nvSpPr>
              <p:cNvPr name="TextBox 16" id="16"/>
              <p:cNvSpPr txBox="true"/>
              <p:nvPr/>
            </p:nvSpPr>
            <p:spPr>
              <a:xfrm>
                <a:off x="0" y="-9525"/>
                <a:ext cx="3855497" cy="156547"/>
              </a:xfrm>
              <a:prstGeom prst="rect">
                <a:avLst/>
              </a:prstGeom>
            </p:spPr>
            <p:txBody>
              <a:bodyPr anchor="ctr" rtlCol="false" tIns="50800" lIns="50800" bIns="50800" rIns="50800"/>
              <a:lstStyle/>
              <a:p>
                <a:pPr algn="ctr">
                  <a:lnSpc>
                    <a:spcPts val="2260"/>
                  </a:lnSpc>
                </a:pPr>
              </a:p>
            </p:txBody>
          </p:sp>
        </p:grpSp>
        <p:sp>
          <p:nvSpPr>
            <p:cNvPr name="Freeform 17" id="17"/>
            <p:cNvSpPr/>
            <p:nvPr/>
          </p:nvSpPr>
          <p:spPr>
            <a:xfrm flipH="false" flipV="false" rot="0">
              <a:off x="283309" y="0"/>
              <a:ext cx="750833" cy="1002782"/>
            </a:xfrm>
            <a:custGeom>
              <a:avLst/>
              <a:gdLst/>
              <a:ahLst/>
              <a:cxnLst/>
              <a:rect r="r" b="b" t="t" l="l"/>
              <a:pathLst>
                <a:path h="1002782" w="750833">
                  <a:moveTo>
                    <a:pt x="0" y="0"/>
                  </a:moveTo>
                  <a:lnTo>
                    <a:pt x="750833" y="0"/>
                  </a:lnTo>
                  <a:lnTo>
                    <a:pt x="750833" y="1002782"/>
                  </a:lnTo>
                  <a:lnTo>
                    <a:pt x="0" y="1002782"/>
                  </a:lnTo>
                  <a:lnTo>
                    <a:pt x="0" y="0"/>
                  </a:lnTo>
                  <a:close/>
                </a:path>
              </a:pathLst>
            </a:custGeom>
            <a:blipFill>
              <a:blip r:embed="rId4"/>
              <a:stretch>
                <a:fillRect l="0" t="0" r="0" b="0"/>
              </a:stretch>
            </a:blipFill>
          </p:spPr>
        </p:sp>
        <p:sp>
          <p:nvSpPr>
            <p:cNvPr name="TextBox 18" id="18"/>
            <p:cNvSpPr txBox="true"/>
            <p:nvPr/>
          </p:nvSpPr>
          <p:spPr>
            <a:xfrm rot="0">
              <a:off x="442333" y="408255"/>
              <a:ext cx="18585557" cy="384429"/>
            </a:xfrm>
            <a:prstGeom prst="rect">
              <a:avLst/>
            </a:prstGeom>
          </p:spPr>
          <p:txBody>
            <a:bodyPr anchor="t" rtlCol="false" tIns="0" lIns="0" bIns="0" rIns="0">
              <a:spAutoFit/>
            </a:bodyPr>
            <a:lstStyle/>
            <a:p>
              <a:pPr algn="r" marL="0" indent="0" lvl="1">
                <a:lnSpc>
                  <a:spcPts val="2165"/>
                </a:lnSpc>
                <a:spcBef>
                  <a:spcPct val="0"/>
                </a:spcBef>
              </a:pPr>
              <a:r>
                <a:rPr lang="en-US" sz="1899">
                  <a:solidFill>
                    <a:srgbClr val="000000"/>
                  </a:solidFill>
                  <a:latin typeface="Poppins"/>
                  <a:ea typeface="Poppins"/>
                  <a:cs typeface="Poppins"/>
                  <a:sym typeface="Poppins"/>
                </a:rPr>
                <a:t>Para cada tecla física conectada, las estudiantes deben replicar y ajustar esta estructura lógica en el software</a:t>
              </a:r>
            </a:p>
          </p:txBody>
        </p:sp>
      </p:grpSp>
      <p:sp>
        <p:nvSpPr>
          <p:cNvPr name="TextBox 19" id="19"/>
          <p:cNvSpPr txBox="true"/>
          <p:nvPr/>
        </p:nvSpPr>
        <p:spPr>
          <a:xfrm rot="0">
            <a:off x="6631600" y="1153252"/>
            <a:ext cx="5580854" cy="291465"/>
          </a:xfrm>
          <a:prstGeom prst="rect">
            <a:avLst/>
          </a:prstGeom>
        </p:spPr>
        <p:txBody>
          <a:bodyPr anchor="t" rtlCol="false" tIns="0" lIns="0" bIns="0" rIns="0">
            <a:spAutoFit/>
          </a:bodyPr>
          <a:lstStyle/>
          <a:p>
            <a:pPr algn="ctr" marL="0" indent="0" lvl="1">
              <a:lnSpc>
                <a:spcPts val="2280"/>
              </a:lnSpc>
              <a:spcBef>
                <a:spcPct val="0"/>
              </a:spcBef>
            </a:pPr>
            <a:r>
              <a:rPr lang="en-US" b="true" sz="2000">
                <a:solidFill>
                  <a:srgbClr val="E0E0E0"/>
                </a:solidFill>
                <a:latin typeface="DM Sans Bold"/>
                <a:ea typeface="DM Sans Bold"/>
                <a:cs typeface="DM Sans Bold"/>
                <a:sym typeface="DM Sans Bold"/>
              </a:rPr>
              <a:t>Estación 1: Piano</a:t>
            </a:r>
            <a:r>
              <a:rPr lang="en-US" b="true" sz="2000">
                <a:solidFill>
                  <a:srgbClr val="E0E0E0"/>
                </a:solidFill>
                <a:latin typeface="DM Sans Bold"/>
                <a:ea typeface="DM Sans Bold"/>
                <a:cs typeface="DM Sans Bold"/>
                <a:sym typeface="DM Sans Bold"/>
              </a:rPr>
              <a:t> Digital con Makey Makey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43879" y="2041656"/>
            <a:ext cx="1126590" cy="797582"/>
            <a:chOff x="0" y="0"/>
            <a:chExt cx="296715" cy="210063"/>
          </a:xfrm>
        </p:grpSpPr>
        <p:sp>
          <p:nvSpPr>
            <p:cNvPr name="Freeform 3" id="3"/>
            <p:cNvSpPr/>
            <p:nvPr/>
          </p:nvSpPr>
          <p:spPr>
            <a:xfrm flipH="false" flipV="false" rot="0">
              <a:off x="0" y="0"/>
              <a:ext cx="296715" cy="210063"/>
            </a:xfrm>
            <a:custGeom>
              <a:avLst/>
              <a:gdLst/>
              <a:ahLst/>
              <a:cxnLst/>
              <a:rect r="r" b="b" t="t" l="l"/>
              <a:pathLst>
                <a:path h="210063" w="296715">
                  <a:moveTo>
                    <a:pt x="105031" y="0"/>
                  </a:moveTo>
                  <a:lnTo>
                    <a:pt x="191684" y="0"/>
                  </a:lnTo>
                  <a:cubicBezTo>
                    <a:pt x="219540" y="0"/>
                    <a:pt x="246255" y="11066"/>
                    <a:pt x="265952" y="30763"/>
                  </a:cubicBezTo>
                  <a:cubicBezTo>
                    <a:pt x="285649" y="50460"/>
                    <a:pt x="296715" y="77175"/>
                    <a:pt x="296715" y="105031"/>
                  </a:cubicBezTo>
                  <a:lnTo>
                    <a:pt x="296715" y="105031"/>
                  </a:lnTo>
                  <a:cubicBezTo>
                    <a:pt x="296715" y="132887"/>
                    <a:pt x="285649" y="159603"/>
                    <a:pt x="265952" y="179300"/>
                  </a:cubicBezTo>
                  <a:cubicBezTo>
                    <a:pt x="246255" y="198997"/>
                    <a:pt x="219540" y="210063"/>
                    <a:pt x="191684" y="210063"/>
                  </a:cubicBezTo>
                  <a:lnTo>
                    <a:pt x="105031" y="210063"/>
                  </a:lnTo>
                  <a:cubicBezTo>
                    <a:pt x="77175" y="210063"/>
                    <a:pt x="50460" y="198997"/>
                    <a:pt x="30763" y="179300"/>
                  </a:cubicBezTo>
                  <a:cubicBezTo>
                    <a:pt x="11066" y="159603"/>
                    <a:pt x="0" y="132887"/>
                    <a:pt x="0" y="105031"/>
                  </a:cubicBezTo>
                  <a:lnTo>
                    <a:pt x="0" y="105031"/>
                  </a:lnTo>
                  <a:cubicBezTo>
                    <a:pt x="0" y="77175"/>
                    <a:pt x="11066" y="50460"/>
                    <a:pt x="30763" y="30763"/>
                  </a:cubicBezTo>
                  <a:cubicBezTo>
                    <a:pt x="50460" y="11066"/>
                    <a:pt x="77175" y="0"/>
                    <a:pt x="105031" y="0"/>
                  </a:cubicBezTo>
                  <a:close/>
                </a:path>
              </a:pathLst>
            </a:custGeom>
            <a:solidFill>
              <a:srgbClr val="FFEFB3"/>
            </a:solidFill>
          </p:spPr>
        </p:sp>
        <p:sp>
          <p:nvSpPr>
            <p:cNvPr name="TextBox 4" id="4"/>
            <p:cNvSpPr txBox="true"/>
            <p:nvPr/>
          </p:nvSpPr>
          <p:spPr>
            <a:xfrm>
              <a:off x="0" y="9525"/>
              <a:ext cx="296715" cy="200538"/>
            </a:xfrm>
            <a:prstGeom prst="rect">
              <a:avLst/>
            </a:prstGeom>
          </p:spPr>
          <p:txBody>
            <a:bodyPr anchor="ctr" rtlCol="false" tIns="50800" lIns="50800" bIns="50800" rIns="50800"/>
            <a:lstStyle/>
            <a:p>
              <a:pPr algn="ctr">
                <a:lnSpc>
                  <a:spcPts val="2280"/>
                </a:lnSpc>
              </a:pPr>
            </a:p>
          </p:txBody>
        </p:sp>
      </p:grpSp>
      <p:sp>
        <p:nvSpPr>
          <p:cNvPr name="Freeform 5" id="5"/>
          <p:cNvSpPr/>
          <p:nvPr/>
        </p:nvSpPr>
        <p:spPr>
          <a:xfrm flipH="false" flipV="false" rot="0">
            <a:off x="496428" y="188648"/>
            <a:ext cx="1910158" cy="1910158"/>
          </a:xfrm>
          <a:custGeom>
            <a:avLst/>
            <a:gdLst/>
            <a:ahLst/>
            <a:cxnLst/>
            <a:rect r="r" b="b" t="t" l="l"/>
            <a:pathLst>
              <a:path h="1910158" w="1910158">
                <a:moveTo>
                  <a:pt x="0" y="0"/>
                </a:moveTo>
                <a:lnTo>
                  <a:pt x="1910158" y="0"/>
                </a:lnTo>
                <a:lnTo>
                  <a:pt x="1910158" y="1910158"/>
                </a:lnTo>
                <a:lnTo>
                  <a:pt x="0" y="1910158"/>
                </a:lnTo>
                <a:lnTo>
                  <a:pt x="0" y="0"/>
                </a:lnTo>
                <a:close/>
              </a:path>
            </a:pathLst>
          </a:custGeom>
          <a:blipFill>
            <a:blip r:embed="rId2"/>
            <a:stretch>
              <a:fillRect l="0" t="0" r="0" b="0"/>
            </a:stretch>
          </a:blipFill>
        </p:spPr>
      </p:sp>
      <p:graphicFrame>
        <p:nvGraphicFramePr>
          <p:cNvPr name="Table 6" id="6"/>
          <p:cNvGraphicFramePr>
            <a:graphicFrameLocks noGrp="true"/>
          </p:cNvGraphicFramePr>
          <p:nvPr/>
        </p:nvGraphicFramePr>
        <p:xfrm>
          <a:off x="6893181" y="3922261"/>
          <a:ext cx="9576657" cy="5429250"/>
        </p:xfrm>
        <a:graphic>
          <a:graphicData uri="http://schemas.openxmlformats.org/drawingml/2006/table">
            <a:tbl>
              <a:tblPr/>
              <a:tblGrid>
                <a:gridCol w="3772174"/>
                <a:gridCol w="2138302"/>
                <a:gridCol w="3666180"/>
              </a:tblGrid>
              <a:tr h="1328434">
                <a:tc>
                  <a:txBody>
                    <a:bodyPr anchor="t" rtlCol="false"/>
                    <a:lstStyle/>
                    <a:p>
                      <a:pPr algn="ctr">
                        <a:lnSpc>
                          <a:spcPts val="2379"/>
                        </a:lnSpc>
                        <a:defRPr/>
                      </a:pPr>
                      <a:r>
                        <a:rPr lang="en-US" sz="1699" b="true">
                          <a:solidFill>
                            <a:srgbClr val="000000"/>
                          </a:solidFill>
                          <a:latin typeface="Poppins Bold"/>
                          <a:ea typeface="Poppins Bold"/>
                          <a:cs typeface="Poppins Bold"/>
                          <a:sym typeface="Poppins Bold"/>
                        </a:rPr>
                        <a:t>INPUT FÍSICO (MAKEY MAKEY)</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D699"/>
                    </a:solidFill>
                  </a:tcPr>
                </a:tc>
                <a:tc>
                  <a:txBody>
                    <a:bodyPr anchor="t" rtlCol="false"/>
                    <a:lstStyle/>
                    <a:p>
                      <a:pPr algn="ctr">
                        <a:lnSpc>
                          <a:spcPts val="2379"/>
                        </a:lnSpc>
                        <a:defRPr/>
                      </a:pPr>
                      <a:r>
                        <a:rPr lang="en-US" sz="1699" b="true">
                          <a:solidFill>
                            <a:srgbClr val="000000"/>
                          </a:solidFill>
                          <a:latin typeface="Poppins Bold"/>
                          <a:ea typeface="Poppins Bold"/>
                          <a:cs typeface="Poppins Bold"/>
                          <a:sym typeface="Poppins Bold"/>
                        </a:rPr>
                        <a:t>NOTA SCRATCH</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D699"/>
                    </a:solidFill>
                  </a:tcPr>
                </a:tc>
                <a:tc>
                  <a:txBody>
                    <a:bodyPr anchor="t" rtlCol="false"/>
                    <a:lstStyle/>
                    <a:p>
                      <a:pPr algn="ctr">
                        <a:lnSpc>
                          <a:spcPts val="2380"/>
                        </a:lnSpc>
                        <a:defRPr/>
                      </a:pPr>
                      <a:r>
                        <a:rPr lang="en-US" sz="1700" b="true">
                          <a:solidFill>
                            <a:srgbClr val="000000"/>
                          </a:solidFill>
                          <a:latin typeface="Poppins Bold"/>
                          <a:ea typeface="Poppins Bold"/>
                          <a:cs typeface="Poppins Bold"/>
                          <a:sym typeface="Poppins Bold"/>
                        </a:rPr>
                        <a:t>EQUIVALENTE MUSICAL</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D699"/>
                    </a:solidFill>
                  </a:tcPr>
                </a:tc>
              </a:tr>
              <a:tr h="820163">
                <a:tc>
                  <a:txBody>
                    <a:bodyPr anchor="t" rtlCol="false"/>
                    <a:lstStyle/>
                    <a:p>
                      <a:pPr algn="l">
                        <a:lnSpc>
                          <a:spcPts val="2100"/>
                        </a:lnSpc>
                        <a:defRPr/>
                      </a:pPr>
                      <a:r>
                        <a:rPr lang="en-US" sz="1500">
                          <a:solidFill>
                            <a:srgbClr val="000000"/>
                          </a:solidFill>
                          <a:latin typeface="DM Sans"/>
                          <a:ea typeface="DM Sans"/>
                          <a:cs typeface="DM Sans"/>
                          <a:sym typeface="DM Sans"/>
                        </a:rPr>
                        <a:t>FLECHA IZQUIERDA</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EBCD"/>
                    </a:solidFill>
                  </a:tcPr>
                </a:tc>
                <a:tc>
                  <a:txBody>
                    <a:bodyPr anchor="t" rtlCol="false"/>
                    <a:lstStyle/>
                    <a:p>
                      <a:pPr algn="ctr">
                        <a:lnSpc>
                          <a:spcPts val="2100"/>
                        </a:lnSpc>
                        <a:defRPr/>
                      </a:pPr>
                      <a:r>
                        <a:rPr lang="en-US" sz="1500">
                          <a:solidFill>
                            <a:srgbClr val="000000"/>
                          </a:solidFill>
                          <a:latin typeface="DM Sans"/>
                          <a:ea typeface="DM Sans"/>
                          <a:cs typeface="DM Sans"/>
                          <a:sym typeface="DM Sans"/>
                        </a:rPr>
                        <a:t>NOTA 60</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c>
                  <a:txBody>
                    <a:bodyPr anchor="t" rtlCol="false"/>
                    <a:lstStyle/>
                    <a:p>
                      <a:pPr algn="ctr">
                        <a:lnSpc>
                          <a:spcPts val="2100"/>
                        </a:lnSpc>
                        <a:defRPr/>
                      </a:pPr>
                      <a:r>
                        <a:rPr lang="en-US" sz="1500">
                          <a:solidFill>
                            <a:srgbClr val="000000"/>
                          </a:solidFill>
                          <a:latin typeface="DM Sans"/>
                          <a:ea typeface="DM Sans"/>
                          <a:cs typeface="DM Sans"/>
                          <a:sym typeface="DM Sans"/>
                        </a:rPr>
                        <a:t>DO (C)</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r>
              <a:tr h="820163">
                <a:tc>
                  <a:txBody>
                    <a:bodyPr anchor="t" rtlCol="false"/>
                    <a:lstStyle/>
                    <a:p>
                      <a:pPr algn="l">
                        <a:lnSpc>
                          <a:spcPts val="2100"/>
                        </a:lnSpc>
                        <a:defRPr/>
                      </a:pPr>
                      <a:r>
                        <a:rPr lang="en-US" sz="1500">
                          <a:solidFill>
                            <a:srgbClr val="000000"/>
                          </a:solidFill>
                          <a:latin typeface="DM Sans"/>
                          <a:ea typeface="DM Sans"/>
                          <a:cs typeface="DM Sans"/>
                          <a:sym typeface="DM Sans"/>
                        </a:rPr>
                        <a:t>FLECHA ARRIBA</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EBCD"/>
                    </a:solidFill>
                  </a:tcPr>
                </a:tc>
                <a:tc>
                  <a:txBody>
                    <a:bodyPr anchor="t" rtlCol="false"/>
                    <a:lstStyle/>
                    <a:p>
                      <a:pPr algn="ctr">
                        <a:lnSpc>
                          <a:spcPts val="2100"/>
                        </a:lnSpc>
                        <a:defRPr/>
                      </a:pPr>
                      <a:r>
                        <a:rPr lang="en-US" sz="1500">
                          <a:solidFill>
                            <a:srgbClr val="000000"/>
                          </a:solidFill>
                          <a:latin typeface="DM Sans"/>
                          <a:ea typeface="DM Sans"/>
                          <a:cs typeface="DM Sans"/>
                          <a:sym typeface="DM Sans"/>
                        </a:rPr>
                        <a:t>NOTA 62</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c>
                  <a:txBody>
                    <a:bodyPr anchor="t" rtlCol="false"/>
                    <a:lstStyle/>
                    <a:p>
                      <a:pPr algn="ctr">
                        <a:lnSpc>
                          <a:spcPts val="2100"/>
                        </a:lnSpc>
                        <a:defRPr/>
                      </a:pPr>
                      <a:r>
                        <a:rPr lang="en-US" sz="1500">
                          <a:solidFill>
                            <a:srgbClr val="000000"/>
                          </a:solidFill>
                          <a:latin typeface="DM Sans"/>
                          <a:ea typeface="DM Sans"/>
                          <a:cs typeface="DM Sans"/>
                          <a:sym typeface="DM Sans"/>
                        </a:rPr>
                        <a:t>RE (D)</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r>
              <a:tr h="820163">
                <a:tc>
                  <a:txBody>
                    <a:bodyPr anchor="t" rtlCol="false"/>
                    <a:lstStyle/>
                    <a:p>
                      <a:pPr algn="l">
                        <a:lnSpc>
                          <a:spcPts val="2100"/>
                        </a:lnSpc>
                        <a:defRPr/>
                      </a:pPr>
                      <a:r>
                        <a:rPr lang="en-US" sz="1500">
                          <a:solidFill>
                            <a:srgbClr val="000000"/>
                          </a:solidFill>
                          <a:latin typeface="DM Sans"/>
                          <a:ea typeface="DM Sans"/>
                          <a:cs typeface="DM Sans"/>
                          <a:sym typeface="DM Sans"/>
                        </a:rPr>
                        <a:t>FLECHA DERECHA</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EBCD"/>
                    </a:solidFill>
                  </a:tcPr>
                </a:tc>
                <a:tc>
                  <a:txBody>
                    <a:bodyPr anchor="t" rtlCol="false"/>
                    <a:lstStyle/>
                    <a:p>
                      <a:pPr algn="ctr">
                        <a:lnSpc>
                          <a:spcPts val="2100"/>
                        </a:lnSpc>
                        <a:defRPr/>
                      </a:pPr>
                      <a:r>
                        <a:rPr lang="en-US" sz="1500">
                          <a:solidFill>
                            <a:srgbClr val="000000"/>
                          </a:solidFill>
                          <a:latin typeface="DM Sans"/>
                          <a:ea typeface="DM Sans"/>
                          <a:cs typeface="DM Sans"/>
                          <a:sym typeface="DM Sans"/>
                        </a:rPr>
                        <a:t>NOTA 64</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c>
                  <a:txBody>
                    <a:bodyPr anchor="t" rtlCol="false"/>
                    <a:lstStyle/>
                    <a:p>
                      <a:pPr algn="ctr">
                        <a:lnSpc>
                          <a:spcPts val="2100"/>
                        </a:lnSpc>
                        <a:defRPr/>
                      </a:pPr>
                      <a:r>
                        <a:rPr lang="en-US" sz="1500">
                          <a:solidFill>
                            <a:srgbClr val="000000"/>
                          </a:solidFill>
                          <a:latin typeface="DM Sans"/>
                          <a:ea typeface="DM Sans"/>
                          <a:cs typeface="DM Sans"/>
                          <a:sym typeface="DM Sans"/>
                        </a:rPr>
                        <a:t>MI (E)</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r>
              <a:tr h="820163">
                <a:tc>
                  <a:txBody>
                    <a:bodyPr anchor="t" rtlCol="false"/>
                    <a:lstStyle/>
                    <a:p>
                      <a:pPr algn="l">
                        <a:lnSpc>
                          <a:spcPts val="2100"/>
                        </a:lnSpc>
                        <a:defRPr/>
                      </a:pPr>
                      <a:r>
                        <a:rPr lang="en-US" sz="1500">
                          <a:solidFill>
                            <a:srgbClr val="000000"/>
                          </a:solidFill>
                          <a:latin typeface="DM Sans"/>
                          <a:ea typeface="DM Sans"/>
                          <a:cs typeface="DM Sans"/>
                          <a:sym typeface="DM Sans"/>
                        </a:rPr>
                        <a:t>FLECHA ABAJO</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EBCD"/>
                    </a:solidFill>
                  </a:tcPr>
                </a:tc>
                <a:tc>
                  <a:txBody>
                    <a:bodyPr anchor="t" rtlCol="false"/>
                    <a:lstStyle/>
                    <a:p>
                      <a:pPr algn="ctr">
                        <a:lnSpc>
                          <a:spcPts val="2100"/>
                        </a:lnSpc>
                        <a:defRPr/>
                      </a:pPr>
                      <a:r>
                        <a:rPr lang="en-US" sz="1500">
                          <a:solidFill>
                            <a:srgbClr val="000000"/>
                          </a:solidFill>
                          <a:latin typeface="DM Sans"/>
                          <a:ea typeface="DM Sans"/>
                          <a:cs typeface="DM Sans"/>
                          <a:sym typeface="DM Sans"/>
                        </a:rPr>
                        <a:t>NOTA 65</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c>
                  <a:txBody>
                    <a:bodyPr anchor="t" rtlCol="false"/>
                    <a:lstStyle/>
                    <a:p>
                      <a:pPr algn="ctr">
                        <a:lnSpc>
                          <a:spcPts val="2100"/>
                        </a:lnSpc>
                        <a:defRPr/>
                      </a:pPr>
                      <a:r>
                        <a:rPr lang="en-US" sz="1500">
                          <a:solidFill>
                            <a:srgbClr val="000000"/>
                          </a:solidFill>
                          <a:latin typeface="DM Sans"/>
                          <a:ea typeface="DM Sans"/>
                          <a:cs typeface="DM Sans"/>
                          <a:sym typeface="DM Sans"/>
                        </a:rPr>
                        <a:t>FA (F)</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r>
              <a:tr h="820163">
                <a:tc>
                  <a:txBody>
                    <a:bodyPr anchor="t" rtlCol="false"/>
                    <a:lstStyle/>
                    <a:p>
                      <a:pPr algn="l">
                        <a:lnSpc>
                          <a:spcPts val="2100"/>
                        </a:lnSpc>
                        <a:defRPr/>
                      </a:pPr>
                      <a:r>
                        <a:rPr lang="en-US" sz="1500">
                          <a:solidFill>
                            <a:srgbClr val="000000"/>
                          </a:solidFill>
                          <a:latin typeface="DM Sans"/>
                          <a:ea typeface="DM Sans"/>
                          <a:cs typeface="DM Sans"/>
                          <a:sym typeface="DM Sans"/>
                        </a:rPr>
                        <a:t>ESPACIO</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EBCD"/>
                    </a:solidFill>
                  </a:tcPr>
                </a:tc>
                <a:tc>
                  <a:txBody>
                    <a:bodyPr anchor="t" rtlCol="false"/>
                    <a:lstStyle/>
                    <a:p>
                      <a:pPr algn="ctr">
                        <a:lnSpc>
                          <a:spcPts val="2100"/>
                        </a:lnSpc>
                        <a:defRPr/>
                      </a:pPr>
                      <a:r>
                        <a:rPr lang="en-US" sz="1500">
                          <a:solidFill>
                            <a:srgbClr val="000000"/>
                          </a:solidFill>
                          <a:latin typeface="DM Sans"/>
                          <a:ea typeface="DM Sans"/>
                          <a:cs typeface="DM Sans"/>
                          <a:sym typeface="DM Sans"/>
                        </a:rPr>
                        <a:t>NOTA 67</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c>
                  <a:txBody>
                    <a:bodyPr anchor="t" rtlCol="false"/>
                    <a:lstStyle/>
                    <a:p>
                      <a:pPr algn="ctr">
                        <a:lnSpc>
                          <a:spcPts val="2100"/>
                        </a:lnSpc>
                        <a:defRPr/>
                      </a:pPr>
                      <a:r>
                        <a:rPr lang="en-US" sz="1500">
                          <a:solidFill>
                            <a:srgbClr val="000000"/>
                          </a:solidFill>
                          <a:latin typeface="DM Sans"/>
                          <a:ea typeface="DM Sans"/>
                          <a:cs typeface="DM Sans"/>
                          <a:sym typeface="DM Sans"/>
                        </a:rPr>
                        <a:t>SOL (G)</a:t>
                      </a:r>
                      <a:endParaRPr lang="en-US" sz="1100"/>
                    </a:p>
                  </a:txBody>
                  <a:tcPr marL="190500" marR="190500" marT="190500" marB="190500" anchor="ctr">
                    <a:lnL cmpd="sng" algn="ctr" cap="flat" w="0">
                      <a:solidFill>
                        <a:srgbClr val="FFD699"/>
                      </a:solidFill>
                      <a:prstDash val="solid"/>
                      <a:round/>
                      <a:headEnd type="none" w="med" len="med"/>
                      <a:tailEnd type="none" w="med" len="med"/>
                    </a:lnL>
                    <a:lnR cmpd="sng" algn="ctr" cap="flat" w="0">
                      <a:solidFill>
                        <a:srgbClr val="FFD699"/>
                      </a:solidFill>
                      <a:prstDash val="solid"/>
                      <a:round/>
                      <a:headEnd type="none" w="med" len="med"/>
                      <a:tailEnd type="none" w="med" len="med"/>
                    </a:lnR>
                    <a:lnT cmpd="sng" algn="ctr" cap="flat" w="0">
                      <a:solidFill>
                        <a:srgbClr val="FFD699"/>
                      </a:solidFill>
                      <a:prstDash val="solid"/>
                      <a:round/>
                      <a:headEnd type="none" w="med" len="med"/>
                      <a:tailEnd type="none" w="med" len="med"/>
                    </a:lnT>
                    <a:lnB cmpd="sng" algn="ctr" cap="flat" w="0">
                      <a:solidFill>
                        <a:srgbClr val="FFD699"/>
                      </a:solidFill>
                      <a:prstDash val="solid"/>
                      <a:round/>
                      <a:headEnd type="none" w="med" len="med"/>
                      <a:tailEnd type="none" w="med" len="med"/>
                    </a:lnB>
                    <a:solidFill>
                      <a:srgbClr val="FFF4E3"/>
                    </a:solidFill>
                  </a:tcPr>
                </a:tc>
              </a:tr>
            </a:tbl>
          </a:graphicData>
        </a:graphic>
      </p:graphicFrame>
      <p:sp>
        <p:nvSpPr>
          <p:cNvPr name="Freeform 7" id="7"/>
          <p:cNvSpPr/>
          <p:nvPr/>
        </p:nvSpPr>
        <p:spPr>
          <a:xfrm flipH="false" flipV="false" rot="0">
            <a:off x="2166715" y="5303329"/>
            <a:ext cx="3957251" cy="1825282"/>
          </a:xfrm>
          <a:custGeom>
            <a:avLst/>
            <a:gdLst/>
            <a:ahLst/>
            <a:cxnLst/>
            <a:rect r="r" b="b" t="t" l="l"/>
            <a:pathLst>
              <a:path h="1825282" w="3957251">
                <a:moveTo>
                  <a:pt x="0" y="0"/>
                </a:moveTo>
                <a:lnTo>
                  <a:pt x="3957251" y="0"/>
                </a:lnTo>
                <a:lnTo>
                  <a:pt x="3957251" y="1825282"/>
                </a:lnTo>
                <a:lnTo>
                  <a:pt x="0" y="18252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2156520" y="2102912"/>
            <a:ext cx="16451539" cy="621030"/>
          </a:xfrm>
          <a:prstGeom prst="rect">
            <a:avLst/>
          </a:prstGeom>
        </p:spPr>
        <p:txBody>
          <a:bodyPr anchor="t" rtlCol="false" tIns="0" lIns="0" bIns="0" rIns="0">
            <a:spAutoFit/>
          </a:bodyPr>
          <a:lstStyle/>
          <a:p>
            <a:pPr algn="l" marL="0" indent="0" lvl="0">
              <a:lnSpc>
                <a:spcPts val="4559"/>
              </a:lnSpc>
              <a:spcBef>
                <a:spcPct val="0"/>
              </a:spcBef>
            </a:pPr>
            <a:r>
              <a:rPr lang="en-US" sz="3999">
                <a:solidFill>
                  <a:srgbClr val="000000"/>
                </a:solidFill>
                <a:latin typeface="Poppins"/>
                <a:ea typeface="Poppins"/>
                <a:cs typeface="Poppins"/>
                <a:sym typeface="Poppins"/>
              </a:rPr>
              <a:t>Matriz de Correspondencia: De Hardware a Nota Musical</a:t>
            </a:r>
          </a:p>
        </p:txBody>
      </p:sp>
      <p:sp>
        <p:nvSpPr>
          <p:cNvPr name="TextBox 9" id="9"/>
          <p:cNvSpPr txBox="true"/>
          <p:nvPr/>
        </p:nvSpPr>
        <p:spPr>
          <a:xfrm rot="0">
            <a:off x="2166715" y="2873749"/>
            <a:ext cx="14303123" cy="819912"/>
          </a:xfrm>
          <a:prstGeom prst="rect">
            <a:avLst/>
          </a:prstGeom>
        </p:spPr>
        <p:txBody>
          <a:bodyPr anchor="t" rtlCol="false" tIns="0" lIns="0" bIns="0" rIns="0">
            <a:spAutoFit/>
          </a:bodyPr>
          <a:lstStyle/>
          <a:p>
            <a:pPr algn="just" marL="0" indent="0" lvl="0">
              <a:lnSpc>
                <a:spcPts val="3233"/>
              </a:lnSpc>
            </a:pPr>
            <a:r>
              <a:rPr lang="en-US" sz="2199">
                <a:solidFill>
                  <a:srgbClr val="737373"/>
                </a:solidFill>
                <a:latin typeface="Poppins"/>
                <a:ea typeface="Poppins"/>
                <a:cs typeface="Poppins"/>
                <a:sym typeface="Poppins"/>
              </a:rPr>
              <a:t>Configuración recomendada para mapear los controles físicos del Makey Makey a la escala musical en Scratch.</a:t>
            </a:r>
          </a:p>
        </p:txBody>
      </p:sp>
      <p:sp>
        <p:nvSpPr>
          <p:cNvPr name="TextBox 10" id="10"/>
          <p:cNvSpPr txBox="true"/>
          <p:nvPr/>
        </p:nvSpPr>
        <p:spPr>
          <a:xfrm rot="0">
            <a:off x="2260931" y="6714083"/>
            <a:ext cx="511535" cy="338328"/>
          </a:xfrm>
          <a:prstGeom prst="rect">
            <a:avLst/>
          </a:prstGeom>
        </p:spPr>
        <p:txBody>
          <a:bodyPr anchor="t" rtlCol="false" tIns="0" lIns="0" bIns="0" rIns="0">
            <a:spAutoFit/>
          </a:bodyPr>
          <a:lstStyle/>
          <a:p>
            <a:pPr algn="just" marL="0" indent="0" lvl="0">
              <a:lnSpc>
                <a:spcPts val="2646"/>
              </a:lnSpc>
            </a:pPr>
            <a:r>
              <a:rPr lang="en-US" b="true" sz="1800">
                <a:solidFill>
                  <a:srgbClr val="1D1D1B"/>
                </a:solidFill>
                <a:latin typeface="Poppins Bold"/>
                <a:ea typeface="Poppins Bold"/>
                <a:cs typeface="Poppins Bold"/>
                <a:sym typeface="Poppins Bold"/>
              </a:rPr>
              <a:t>DO</a:t>
            </a:r>
          </a:p>
        </p:txBody>
      </p:sp>
      <p:sp>
        <p:nvSpPr>
          <p:cNvPr name="TextBox 11" id="11"/>
          <p:cNvSpPr txBox="true"/>
          <p:nvPr/>
        </p:nvSpPr>
        <p:spPr>
          <a:xfrm rot="0">
            <a:off x="2871851" y="6723608"/>
            <a:ext cx="511535" cy="338328"/>
          </a:xfrm>
          <a:prstGeom prst="rect">
            <a:avLst/>
          </a:prstGeom>
        </p:spPr>
        <p:txBody>
          <a:bodyPr anchor="t" rtlCol="false" tIns="0" lIns="0" bIns="0" rIns="0">
            <a:spAutoFit/>
          </a:bodyPr>
          <a:lstStyle/>
          <a:p>
            <a:pPr algn="just" marL="0" indent="0" lvl="0">
              <a:lnSpc>
                <a:spcPts val="2646"/>
              </a:lnSpc>
            </a:pPr>
            <a:r>
              <a:rPr lang="en-US" b="true" sz="1800">
                <a:solidFill>
                  <a:srgbClr val="1D1D1B"/>
                </a:solidFill>
                <a:latin typeface="Poppins Bold"/>
                <a:ea typeface="Poppins Bold"/>
                <a:cs typeface="Poppins Bold"/>
                <a:sym typeface="Poppins Bold"/>
              </a:rPr>
              <a:t>RE</a:t>
            </a:r>
          </a:p>
        </p:txBody>
      </p:sp>
      <p:sp>
        <p:nvSpPr>
          <p:cNvPr name="TextBox 12" id="12"/>
          <p:cNvSpPr txBox="true"/>
          <p:nvPr/>
        </p:nvSpPr>
        <p:spPr>
          <a:xfrm rot="0">
            <a:off x="3421486" y="6723608"/>
            <a:ext cx="511535" cy="338328"/>
          </a:xfrm>
          <a:prstGeom prst="rect">
            <a:avLst/>
          </a:prstGeom>
        </p:spPr>
        <p:txBody>
          <a:bodyPr anchor="t" rtlCol="false" tIns="0" lIns="0" bIns="0" rIns="0">
            <a:spAutoFit/>
          </a:bodyPr>
          <a:lstStyle/>
          <a:p>
            <a:pPr algn="just" marL="0" indent="0" lvl="0">
              <a:lnSpc>
                <a:spcPts val="2646"/>
              </a:lnSpc>
            </a:pPr>
            <a:r>
              <a:rPr lang="en-US" b="true" sz="1800">
                <a:solidFill>
                  <a:srgbClr val="1D1D1B"/>
                </a:solidFill>
                <a:latin typeface="Poppins Bold"/>
                <a:ea typeface="Poppins Bold"/>
                <a:cs typeface="Poppins Bold"/>
                <a:sym typeface="Poppins Bold"/>
              </a:rPr>
              <a:t>MI</a:t>
            </a:r>
          </a:p>
        </p:txBody>
      </p:sp>
      <p:sp>
        <p:nvSpPr>
          <p:cNvPr name="TextBox 13" id="13"/>
          <p:cNvSpPr txBox="true"/>
          <p:nvPr/>
        </p:nvSpPr>
        <p:spPr>
          <a:xfrm rot="0">
            <a:off x="3971122" y="6723608"/>
            <a:ext cx="511535" cy="338328"/>
          </a:xfrm>
          <a:prstGeom prst="rect">
            <a:avLst/>
          </a:prstGeom>
        </p:spPr>
        <p:txBody>
          <a:bodyPr anchor="t" rtlCol="false" tIns="0" lIns="0" bIns="0" rIns="0">
            <a:spAutoFit/>
          </a:bodyPr>
          <a:lstStyle/>
          <a:p>
            <a:pPr algn="just" marL="0" indent="0" lvl="0">
              <a:lnSpc>
                <a:spcPts val="2646"/>
              </a:lnSpc>
            </a:pPr>
            <a:r>
              <a:rPr lang="en-US" b="true" sz="1800">
                <a:solidFill>
                  <a:srgbClr val="1D1D1B"/>
                </a:solidFill>
                <a:latin typeface="Poppins Bold"/>
                <a:ea typeface="Poppins Bold"/>
                <a:cs typeface="Poppins Bold"/>
                <a:sym typeface="Poppins Bold"/>
              </a:rPr>
              <a:t>FA</a:t>
            </a:r>
          </a:p>
        </p:txBody>
      </p:sp>
      <p:sp>
        <p:nvSpPr>
          <p:cNvPr name="TextBox 14" id="14"/>
          <p:cNvSpPr txBox="true"/>
          <p:nvPr/>
        </p:nvSpPr>
        <p:spPr>
          <a:xfrm rot="0">
            <a:off x="4492182" y="6742658"/>
            <a:ext cx="511535" cy="338328"/>
          </a:xfrm>
          <a:prstGeom prst="rect">
            <a:avLst/>
          </a:prstGeom>
        </p:spPr>
        <p:txBody>
          <a:bodyPr anchor="t" rtlCol="false" tIns="0" lIns="0" bIns="0" rIns="0">
            <a:spAutoFit/>
          </a:bodyPr>
          <a:lstStyle/>
          <a:p>
            <a:pPr algn="just" marL="0" indent="0" lvl="0">
              <a:lnSpc>
                <a:spcPts val="2646"/>
              </a:lnSpc>
            </a:pPr>
            <a:r>
              <a:rPr lang="en-US" b="true" sz="1800">
                <a:solidFill>
                  <a:srgbClr val="1D1D1B"/>
                </a:solidFill>
                <a:latin typeface="Poppins Bold"/>
                <a:ea typeface="Poppins Bold"/>
                <a:cs typeface="Poppins Bold"/>
                <a:sym typeface="Poppins Bold"/>
              </a:rPr>
              <a:t>SOL</a:t>
            </a:r>
          </a:p>
        </p:txBody>
      </p:sp>
      <p:sp>
        <p:nvSpPr>
          <p:cNvPr name="TextBox 15" id="15"/>
          <p:cNvSpPr txBox="true"/>
          <p:nvPr/>
        </p:nvSpPr>
        <p:spPr>
          <a:xfrm rot="0">
            <a:off x="6631600" y="1153252"/>
            <a:ext cx="5580854" cy="291465"/>
          </a:xfrm>
          <a:prstGeom prst="rect">
            <a:avLst/>
          </a:prstGeom>
        </p:spPr>
        <p:txBody>
          <a:bodyPr anchor="t" rtlCol="false" tIns="0" lIns="0" bIns="0" rIns="0">
            <a:spAutoFit/>
          </a:bodyPr>
          <a:lstStyle/>
          <a:p>
            <a:pPr algn="ctr" marL="0" indent="0" lvl="1">
              <a:lnSpc>
                <a:spcPts val="2280"/>
              </a:lnSpc>
              <a:spcBef>
                <a:spcPct val="0"/>
              </a:spcBef>
            </a:pPr>
            <a:r>
              <a:rPr lang="en-US" b="true" sz="2000">
                <a:solidFill>
                  <a:srgbClr val="E0E0E0"/>
                </a:solidFill>
                <a:latin typeface="DM Sans Bold"/>
                <a:ea typeface="DM Sans Bold"/>
                <a:cs typeface="DM Sans Bold"/>
                <a:sym typeface="DM Sans Bold"/>
              </a:rPr>
              <a:t>Estación 1: Piano</a:t>
            </a:r>
            <a:r>
              <a:rPr lang="en-US" b="true" sz="2000">
                <a:solidFill>
                  <a:srgbClr val="E0E0E0"/>
                </a:solidFill>
                <a:latin typeface="DM Sans Bold"/>
                <a:ea typeface="DM Sans Bold"/>
                <a:cs typeface="DM Sans Bold"/>
                <a:sym typeface="DM Sans Bold"/>
              </a:rPr>
              <a:t> Digital con Makey Makey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2750736"/>
            <a:ext cx="1126590" cy="797582"/>
            <a:chOff x="0" y="0"/>
            <a:chExt cx="296715" cy="210063"/>
          </a:xfrm>
        </p:grpSpPr>
        <p:sp>
          <p:nvSpPr>
            <p:cNvPr name="Freeform 3" id="3"/>
            <p:cNvSpPr/>
            <p:nvPr/>
          </p:nvSpPr>
          <p:spPr>
            <a:xfrm flipH="false" flipV="false" rot="0">
              <a:off x="0" y="0"/>
              <a:ext cx="296715" cy="210063"/>
            </a:xfrm>
            <a:custGeom>
              <a:avLst/>
              <a:gdLst/>
              <a:ahLst/>
              <a:cxnLst/>
              <a:rect r="r" b="b" t="t" l="l"/>
              <a:pathLst>
                <a:path h="210063" w="296715">
                  <a:moveTo>
                    <a:pt x="105031" y="0"/>
                  </a:moveTo>
                  <a:lnTo>
                    <a:pt x="191684" y="0"/>
                  </a:lnTo>
                  <a:cubicBezTo>
                    <a:pt x="219540" y="0"/>
                    <a:pt x="246255" y="11066"/>
                    <a:pt x="265952" y="30763"/>
                  </a:cubicBezTo>
                  <a:cubicBezTo>
                    <a:pt x="285649" y="50460"/>
                    <a:pt x="296715" y="77175"/>
                    <a:pt x="296715" y="105031"/>
                  </a:cubicBezTo>
                  <a:lnTo>
                    <a:pt x="296715" y="105031"/>
                  </a:lnTo>
                  <a:cubicBezTo>
                    <a:pt x="296715" y="132887"/>
                    <a:pt x="285649" y="159603"/>
                    <a:pt x="265952" y="179300"/>
                  </a:cubicBezTo>
                  <a:cubicBezTo>
                    <a:pt x="246255" y="198997"/>
                    <a:pt x="219540" y="210063"/>
                    <a:pt x="191684" y="210063"/>
                  </a:cubicBezTo>
                  <a:lnTo>
                    <a:pt x="105031" y="210063"/>
                  </a:lnTo>
                  <a:cubicBezTo>
                    <a:pt x="77175" y="210063"/>
                    <a:pt x="50460" y="198997"/>
                    <a:pt x="30763" y="179300"/>
                  </a:cubicBezTo>
                  <a:cubicBezTo>
                    <a:pt x="11066" y="159603"/>
                    <a:pt x="0" y="132887"/>
                    <a:pt x="0" y="105031"/>
                  </a:cubicBezTo>
                  <a:lnTo>
                    <a:pt x="0" y="105031"/>
                  </a:lnTo>
                  <a:cubicBezTo>
                    <a:pt x="0" y="77175"/>
                    <a:pt x="11066" y="50460"/>
                    <a:pt x="30763" y="30763"/>
                  </a:cubicBezTo>
                  <a:cubicBezTo>
                    <a:pt x="50460" y="11066"/>
                    <a:pt x="77175" y="0"/>
                    <a:pt x="105031" y="0"/>
                  </a:cubicBezTo>
                  <a:close/>
                </a:path>
              </a:pathLst>
            </a:custGeom>
            <a:solidFill>
              <a:srgbClr val="FFEFB3"/>
            </a:solidFill>
          </p:spPr>
        </p:sp>
        <p:sp>
          <p:nvSpPr>
            <p:cNvPr name="TextBox 4" id="4"/>
            <p:cNvSpPr txBox="true"/>
            <p:nvPr/>
          </p:nvSpPr>
          <p:spPr>
            <a:xfrm>
              <a:off x="0" y="9525"/>
              <a:ext cx="296715" cy="200538"/>
            </a:xfrm>
            <a:prstGeom prst="rect">
              <a:avLst/>
            </a:prstGeom>
          </p:spPr>
          <p:txBody>
            <a:bodyPr anchor="ctr" rtlCol="false" tIns="50800" lIns="50800" bIns="50800" rIns="50800"/>
            <a:lstStyle/>
            <a:p>
              <a:pPr algn="ctr">
                <a:lnSpc>
                  <a:spcPts val="2280"/>
                </a:lnSpc>
              </a:pPr>
            </a:p>
          </p:txBody>
        </p:sp>
      </p:grpSp>
      <p:sp>
        <p:nvSpPr>
          <p:cNvPr name="Freeform 5" id="5"/>
          <p:cNvSpPr/>
          <p:nvPr/>
        </p:nvSpPr>
        <p:spPr>
          <a:xfrm flipH="false" flipV="false" rot="0">
            <a:off x="496428" y="188648"/>
            <a:ext cx="1910158" cy="1910158"/>
          </a:xfrm>
          <a:custGeom>
            <a:avLst/>
            <a:gdLst/>
            <a:ahLst/>
            <a:cxnLst/>
            <a:rect r="r" b="b" t="t" l="l"/>
            <a:pathLst>
              <a:path h="1910158" w="1910158">
                <a:moveTo>
                  <a:pt x="0" y="0"/>
                </a:moveTo>
                <a:lnTo>
                  <a:pt x="1910158" y="0"/>
                </a:lnTo>
                <a:lnTo>
                  <a:pt x="1910158" y="1910158"/>
                </a:lnTo>
                <a:lnTo>
                  <a:pt x="0" y="1910158"/>
                </a:lnTo>
                <a:lnTo>
                  <a:pt x="0" y="0"/>
                </a:lnTo>
                <a:close/>
              </a:path>
            </a:pathLst>
          </a:custGeom>
          <a:blipFill>
            <a:blip r:embed="rId2"/>
            <a:stretch>
              <a:fillRect l="0" t="0" r="0" b="0"/>
            </a:stretch>
          </a:blipFill>
        </p:spPr>
      </p:sp>
      <p:sp>
        <p:nvSpPr>
          <p:cNvPr name="Freeform 6" id="6"/>
          <p:cNvSpPr/>
          <p:nvPr/>
        </p:nvSpPr>
        <p:spPr>
          <a:xfrm flipH="false" flipV="false" rot="0">
            <a:off x="11208214" y="4646438"/>
            <a:ext cx="5290745" cy="5210985"/>
          </a:xfrm>
          <a:custGeom>
            <a:avLst/>
            <a:gdLst/>
            <a:ahLst/>
            <a:cxnLst/>
            <a:rect r="r" b="b" t="t" l="l"/>
            <a:pathLst>
              <a:path h="5210985" w="5290745">
                <a:moveTo>
                  <a:pt x="0" y="0"/>
                </a:moveTo>
                <a:lnTo>
                  <a:pt x="5290745" y="0"/>
                </a:lnTo>
                <a:lnTo>
                  <a:pt x="5290745" y="5210985"/>
                </a:lnTo>
                <a:lnTo>
                  <a:pt x="0" y="5210985"/>
                </a:lnTo>
                <a:lnTo>
                  <a:pt x="0" y="0"/>
                </a:lnTo>
                <a:close/>
              </a:path>
            </a:pathLst>
          </a:custGeom>
          <a:blipFill>
            <a:blip r:embed="rId3"/>
            <a:stretch>
              <a:fillRect l="0" t="0" r="0" b="0"/>
            </a:stretch>
          </a:blipFill>
        </p:spPr>
      </p:sp>
      <p:sp>
        <p:nvSpPr>
          <p:cNvPr name="TextBox 7" id="7"/>
          <p:cNvSpPr txBox="true"/>
          <p:nvPr/>
        </p:nvSpPr>
        <p:spPr>
          <a:xfrm rot="0">
            <a:off x="1253079" y="2722161"/>
            <a:ext cx="11850903" cy="941070"/>
          </a:xfrm>
          <a:prstGeom prst="rect">
            <a:avLst/>
          </a:prstGeom>
        </p:spPr>
        <p:txBody>
          <a:bodyPr anchor="t" rtlCol="false" tIns="0" lIns="0" bIns="0" rIns="0">
            <a:spAutoFit/>
          </a:bodyPr>
          <a:lstStyle/>
          <a:p>
            <a:pPr algn="l" marL="0" indent="0" lvl="0">
              <a:lnSpc>
                <a:spcPts val="6840"/>
              </a:lnSpc>
              <a:spcBef>
                <a:spcPct val="0"/>
              </a:spcBef>
            </a:pPr>
            <a:r>
              <a:rPr lang="en-US" sz="6000">
                <a:solidFill>
                  <a:srgbClr val="000000"/>
                </a:solidFill>
                <a:latin typeface="Poppins"/>
                <a:ea typeface="Poppins"/>
                <a:cs typeface="Poppins"/>
                <a:sym typeface="Poppins"/>
              </a:rPr>
              <a:t>Interfaz Visual Mejorada</a:t>
            </a:r>
          </a:p>
        </p:txBody>
      </p:sp>
      <p:sp>
        <p:nvSpPr>
          <p:cNvPr name="TextBox 8" id="8"/>
          <p:cNvSpPr txBox="true"/>
          <p:nvPr/>
        </p:nvSpPr>
        <p:spPr>
          <a:xfrm rot="0">
            <a:off x="1253079" y="6315306"/>
            <a:ext cx="7622940" cy="936625"/>
          </a:xfrm>
          <a:prstGeom prst="rect">
            <a:avLst/>
          </a:prstGeom>
        </p:spPr>
        <p:txBody>
          <a:bodyPr anchor="t" rtlCol="false" tIns="0" lIns="0" bIns="0" rIns="0">
            <a:spAutoFit/>
          </a:bodyPr>
          <a:lstStyle/>
          <a:p>
            <a:pPr algn="l" marL="431801" indent="-215900" lvl="1">
              <a:lnSpc>
                <a:spcPts val="3800"/>
              </a:lnSpc>
              <a:buFont typeface="Arial"/>
              <a:buChar char="•"/>
            </a:pPr>
            <a:r>
              <a:rPr lang="en-US" sz="2000">
                <a:solidFill>
                  <a:srgbClr val="737373"/>
                </a:solidFill>
                <a:latin typeface="Poppins"/>
                <a:ea typeface="Poppins"/>
                <a:cs typeface="Poppins"/>
                <a:sym typeface="Poppins"/>
              </a:rPr>
              <a:t>Dibujar 5 rectángulos verticales (teclas virtuales)</a:t>
            </a:r>
          </a:p>
          <a:p>
            <a:pPr algn="l" marL="431801" indent="-215900" lvl="1">
              <a:lnSpc>
                <a:spcPts val="3800"/>
              </a:lnSpc>
              <a:buFont typeface="Arial"/>
              <a:buChar char="•"/>
            </a:pPr>
            <a:r>
              <a:rPr lang="en-US" sz="2000">
                <a:solidFill>
                  <a:srgbClr val="737373"/>
                </a:solidFill>
                <a:latin typeface="Poppins"/>
                <a:ea typeface="Poppins"/>
                <a:cs typeface="Poppins"/>
                <a:sym typeface="Poppins"/>
              </a:rPr>
              <a:t>Asignar un objeto a cada tecla direccional</a:t>
            </a:r>
          </a:p>
        </p:txBody>
      </p:sp>
      <p:sp>
        <p:nvSpPr>
          <p:cNvPr name="TextBox 9" id="9"/>
          <p:cNvSpPr txBox="true"/>
          <p:nvPr/>
        </p:nvSpPr>
        <p:spPr>
          <a:xfrm rot="0">
            <a:off x="1253079" y="5683233"/>
            <a:ext cx="5925451" cy="461010"/>
          </a:xfrm>
          <a:prstGeom prst="rect">
            <a:avLst/>
          </a:prstGeom>
        </p:spPr>
        <p:txBody>
          <a:bodyPr anchor="t" rtlCol="false" tIns="0" lIns="0" bIns="0" rIns="0">
            <a:spAutoFit/>
          </a:bodyPr>
          <a:lstStyle/>
          <a:p>
            <a:pPr algn="l" marL="0" indent="0" lvl="0">
              <a:lnSpc>
                <a:spcPts val="3419"/>
              </a:lnSpc>
              <a:spcBef>
                <a:spcPct val="0"/>
              </a:spcBef>
            </a:pPr>
            <a:r>
              <a:rPr lang="en-US" b="true" sz="3000">
                <a:solidFill>
                  <a:srgbClr val="000000"/>
                </a:solidFill>
                <a:latin typeface="Poppins Bold"/>
                <a:ea typeface="Poppins Bold"/>
                <a:cs typeface="Poppins Bold"/>
                <a:sym typeface="Poppins Bold"/>
              </a:rPr>
              <a:t>Preparación de Objetos</a:t>
            </a:r>
          </a:p>
        </p:txBody>
      </p:sp>
      <p:sp>
        <p:nvSpPr>
          <p:cNvPr name="TextBox 10" id="10"/>
          <p:cNvSpPr txBox="true"/>
          <p:nvPr/>
        </p:nvSpPr>
        <p:spPr>
          <a:xfrm rot="0">
            <a:off x="1253079" y="3912251"/>
            <a:ext cx="15245880" cy="410337"/>
          </a:xfrm>
          <a:prstGeom prst="rect">
            <a:avLst/>
          </a:prstGeom>
        </p:spPr>
        <p:txBody>
          <a:bodyPr anchor="t" rtlCol="false" tIns="0" lIns="0" bIns="0" rIns="0">
            <a:spAutoFit/>
          </a:bodyPr>
          <a:lstStyle/>
          <a:p>
            <a:pPr algn="just" marL="0" indent="0" lvl="0">
              <a:lnSpc>
                <a:spcPts val="3233"/>
              </a:lnSpc>
            </a:pPr>
            <a:r>
              <a:rPr lang="en-US" sz="2199">
                <a:solidFill>
                  <a:srgbClr val="737373"/>
                </a:solidFill>
                <a:latin typeface="Poppins"/>
                <a:ea typeface="Poppins"/>
                <a:cs typeface="Poppins"/>
                <a:sym typeface="Poppins"/>
              </a:rPr>
              <a:t>Cómo transformar el piano básico en una pantalla que reacciona visualmente al tacto de los objetos físicos.</a:t>
            </a:r>
          </a:p>
        </p:txBody>
      </p:sp>
      <p:sp>
        <p:nvSpPr>
          <p:cNvPr name="TextBox 11" id="11"/>
          <p:cNvSpPr txBox="true"/>
          <p:nvPr/>
        </p:nvSpPr>
        <p:spPr>
          <a:xfrm rot="0">
            <a:off x="6631600" y="1153252"/>
            <a:ext cx="5580854" cy="291465"/>
          </a:xfrm>
          <a:prstGeom prst="rect">
            <a:avLst/>
          </a:prstGeom>
        </p:spPr>
        <p:txBody>
          <a:bodyPr anchor="t" rtlCol="false" tIns="0" lIns="0" bIns="0" rIns="0">
            <a:spAutoFit/>
          </a:bodyPr>
          <a:lstStyle/>
          <a:p>
            <a:pPr algn="ctr" marL="0" indent="0" lvl="1">
              <a:lnSpc>
                <a:spcPts val="2280"/>
              </a:lnSpc>
              <a:spcBef>
                <a:spcPct val="0"/>
              </a:spcBef>
            </a:pPr>
            <a:r>
              <a:rPr lang="en-US" b="true" sz="2000">
                <a:solidFill>
                  <a:srgbClr val="E0E0E0"/>
                </a:solidFill>
                <a:latin typeface="DM Sans Bold"/>
                <a:ea typeface="DM Sans Bold"/>
                <a:cs typeface="DM Sans Bold"/>
                <a:sym typeface="DM Sans Bold"/>
              </a:rPr>
              <a:t>Estación 1: Piano</a:t>
            </a:r>
            <a:r>
              <a:rPr lang="en-US" b="true" sz="2000">
                <a:solidFill>
                  <a:srgbClr val="E0E0E0"/>
                </a:solidFill>
                <a:latin typeface="DM Sans Bold"/>
                <a:ea typeface="DM Sans Bold"/>
                <a:cs typeface="DM Sans Bold"/>
                <a:sym typeface="DM Sans Bold"/>
              </a:rPr>
              <a:t> Digital con Makey Makey</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EFB3"/>
        </a:solidFill>
      </p:bgPr>
    </p:bg>
    <p:spTree>
      <p:nvGrpSpPr>
        <p:cNvPr id="1" name=""/>
        <p:cNvGrpSpPr/>
        <p:nvPr/>
      </p:nvGrpSpPr>
      <p:grpSpPr>
        <a:xfrm>
          <a:off x="0" y="0"/>
          <a:ext cx="0" cy="0"/>
          <a:chOff x="0" y="0"/>
          <a:chExt cx="0" cy="0"/>
        </a:xfrm>
      </p:grpSpPr>
      <p:sp>
        <p:nvSpPr>
          <p:cNvPr name="TextBox 2" id="2"/>
          <p:cNvSpPr txBox="true"/>
          <p:nvPr/>
        </p:nvSpPr>
        <p:spPr>
          <a:xfrm rot="0">
            <a:off x="9144000" y="5114925"/>
            <a:ext cx="8375606" cy="1009057"/>
          </a:xfrm>
          <a:prstGeom prst="rect">
            <a:avLst/>
          </a:prstGeom>
        </p:spPr>
        <p:txBody>
          <a:bodyPr anchor="t" rtlCol="false" tIns="0" lIns="0" bIns="0" rIns="0">
            <a:spAutoFit/>
          </a:bodyPr>
          <a:lstStyle/>
          <a:p>
            <a:pPr algn="l" marL="0" indent="0" lvl="0">
              <a:lnSpc>
                <a:spcPts val="7343"/>
              </a:lnSpc>
              <a:spcBef>
                <a:spcPct val="0"/>
              </a:spcBef>
            </a:pPr>
            <a:r>
              <a:rPr lang="en-US" b="true" sz="6441">
                <a:solidFill>
                  <a:srgbClr val="1D1D1B"/>
                </a:solidFill>
                <a:latin typeface="Poppins Bold"/>
                <a:ea typeface="Poppins Bold"/>
                <a:cs typeface="Poppins Bold"/>
                <a:sym typeface="Poppins Bold"/>
              </a:rPr>
              <a:t>¡MUCHAS GRACIAS!</a:t>
            </a:r>
          </a:p>
        </p:txBody>
      </p:sp>
      <p:grpSp>
        <p:nvGrpSpPr>
          <p:cNvPr name="Group 3" id="3"/>
          <p:cNvGrpSpPr/>
          <p:nvPr/>
        </p:nvGrpSpPr>
        <p:grpSpPr>
          <a:xfrm rot="0">
            <a:off x="-2890760" y="-1161446"/>
            <a:ext cx="9564533" cy="9606157"/>
            <a:chOff x="0" y="0"/>
            <a:chExt cx="809278" cy="812800"/>
          </a:xfrm>
        </p:grpSpPr>
        <p:sp>
          <p:nvSpPr>
            <p:cNvPr name="Freeform 4" id="4"/>
            <p:cNvSpPr/>
            <p:nvPr/>
          </p:nvSpPr>
          <p:spPr>
            <a:xfrm flipH="false" flipV="false" rot="0">
              <a:off x="0" y="0"/>
              <a:ext cx="809278" cy="812800"/>
            </a:xfrm>
            <a:custGeom>
              <a:avLst/>
              <a:gdLst/>
              <a:ahLst/>
              <a:cxnLst/>
              <a:rect r="r" b="b" t="t" l="l"/>
              <a:pathLst>
                <a:path h="812800" w="809278">
                  <a:moveTo>
                    <a:pt x="404639" y="0"/>
                  </a:moveTo>
                  <a:cubicBezTo>
                    <a:pt x="181163" y="0"/>
                    <a:pt x="0" y="181951"/>
                    <a:pt x="0" y="406400"/>
                  </a:cubicBezTo>
                  <a:cubicBezTo>
                    <a:pt x="0" y="630849"/>
                    <a:pt x="181163" y="812800"/>
                    <a:pt x="404639" y="812800"/>
                  </a:cubicBezTo>
                  <a:cubicBezTo>
                    <a:pt x="628115" y="812800"/>
                    <a:pt x="809278" y="630849"/>
                    <a:pt x="809278" y="406400"/>
                  </a:cubicBezTo>
                  <a:cubicBezTo>
                    <a:pt x="809278" y="181951"/>
                    <a:pt x="628115" y="0"/>
                    <a:pt x="404639" y="0"/>
                  </a:cubicBezTo>
                  <a:close/>
                </a:path>
              </a:pathLst>
            </a:custGeom>
            <a:solidFill>
              <a:srgbClr val="FFFFFF"/>
            </a:solidFill>
          </p:spPr>
        </p:sp>
        <p:sp>
          <p:nvSpPr>
            <p:cNvPr name="TextBox 5" id="5"/>
            <p:cNvSpPr txBox="true"/>
            <p:nvPr/>
          </p:nvSpPr>
          <p:spPr>
            <a:xfrm>
              <a:off x="75870" y="85725"/>
              <a:ext cx="657538" cy="650875"/>
            </a:xfrm>
            <a:prstGeom prst="rect">
              <a:avLst/>
            </a:prstGeom>
          </p:spPr>
          <p:txBody>
            <a:bodyPr anchor="ctr" rtlCol="false" tIns="50800" lIns="50800" bIns="50800" rIns="50800"/>
            <a:lstStyle/>
            <a:p>
              <a:pPr algn="ctr">
                <a:lnSpc>
                  <a:spcPts val="2280"/>
                </a:lnSpc>
              </a:pPr>
            </a:p>
          </p:txBody>
        </p:sp>
      </p:grpSp>
      <p:sp>
        <p:nvSpPr>
          <p:cNvPr name="Freeform 6" id="6"/>
          <p:cNvSpPr/>
          <p:nvPr/>
        </p:nvSpPr>
        <p:spPr>
          <a:xfrm flipH="false" flipV="false" rot="0">
            <a:off x="0" y="2469210"/>
            <a:ext cx="8520598" cy="7817790"/>
          </a:xfrm>
          <a:custGeom>
            <a:avLst/>
            <a:gdLst/>
            <a:ahLst/>
            <a:cxnLst/>
            <a:rect r="r" b="b" t="t" l="l"/>
            <a:pathLst>
              <a:path h="7817790" w="8520598">
                <a:moveTo>
                  <a:pt x="0" y="0"/>
                </a:moveTo>
                <a:lnTo>
                  <a:pt x="8520598" y="0"/>
                </a:lnTo>
                <a:lnTo>
                  <a:pt x="8520598" y="7817790"/>
                </a:lnTo>
                <a:lnTo>
                  <a:pt x="0" y="7817790"/>
                </a:lnTo>
                <a:lnTo>
                  <a:pt x="0" y="0"/>
                </a:lnTo>
                <a:close/>
              </a:path>
            </a:pathLst>
          </a:custGeom>
          <a:blipFill>
            <a:blip r:embed="rId2"/>
            <a:stretch>
              <a:fillRect l="-693" t="0" r="0" b="-12197"/>
            </a:stretch>
          </a:blipFill>
        </p:spPr>
      </p:sp>
      <p:sp>
        <p:nvSpPr>
          <p:cNvPr name="Freeform 7" id="7"/>
          <p:cNvSpPr/>
          <p:nvPr/>
        </p:nvSpPr>
        <p:spPr>
          <a:xfrm flipH="false" flipV="false" rot="0">
            <a:off x="1211874" y="1204892"/>
            <a:ext cx="255229" cy="178660"/>
          </a:xfrm>
          <a:custGeom>
            <a:avLst/>
            <a:gdLst/>
            <a:ahLst/>
            <a:cxnLst/>
            <a:rect r="r" b="b" t="t" l="l"/>
            <a:pathLst>
              <a:path h="178660" w="255229">
                <a:moveTo>
                  <a:pt x="0" y="0"/>
                </a:moveTo>
                <a:lnTo>
                  <a:pt x="255229" y="0"/>
                </a:lnTo>
                <a:lnTo>
                  <a:pt x="255229" y="178660"/>
                </a:lnTo>
                <a:lnTo>
                  <a:pt x="0" y="1786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4701390" y="7625700"/>
            <a:ext cx="5636433" cy="5660962"/>
            <a:chOff x="0" y="0"/>
            <a:chExt cx="809278" cy="812800"/>
          </a:xfrm>
        </p:grpSpPr>
        <p:sp>
          <p:nvSpPr>
            <p:cNvPr name="Freeform 9" id="9"/>
            <p:cNvSpPr/>
            <p:nvPr/>
          </p:nvSpPr>
          <p:spPr>
            <a:xfrm flipH="false" flipV="false" rot="0">
              <a:off x="0" y="0"/>
              <a:ext cx="809278" cy="812800"/>
            </a:xfrm>
            <a:custGeom>
              <a:avLst/>
              <a:gdLst/>
              <a:ahLst/>
              <a:cxnLst/>
              <a:rect r="r" b="b" t="t" l="l"/>
              <a:pathLst>
                <a:path h="812800" w="809278">
                  <a:moveTo>
                    <a:pt x="404639" y="0"/>
                  </a:moveTo>
                  <a:cubicBezTo>
                    <a:pt x="181163" y="0"/>
                    <a:pt x="0" y="181951"/>
                    <a:pt x="0" y="406400"/>
                  </a:cubicBezTo>
                  <a:cubicBezTo>
                    <a:pt x="0" y="630849"/>
                    <a:pt x="181163" y="812800"/>
                    <a:pt x="404639" y="812800"/>
                  </a:cubicBezTo>
                  <a:cubicBezTo>
                    <a:pt x="628115" y="812800"/>
                    <a:pt x="809278" y="630849"/>
                    <a:pt x="809278" y="406400"/>
                  </a:cubicBezTo>
                  <a:cubicBezTo>
                    <a:pt x="809278" y="181951"/>
                    <a:pt x="628115" y="0"/>
                    <a:pt x="404639" y="0"/>
                  </a:cubicBezTo>
                  <a:close/>
                </a:path>
              </a:pathLst>
            </a:custGeom>
            <a:solidFill>
              <a:srgbClr val="FFFFFF"/>
            </a:solidFill>
          </p:spPr>
        </p:sp>
        <p:sp>
          <p:nvSpPr>
            <p:cNvPr name="TextBox 10" id="10"/>
            <p:cNvSpPr txBox="true"/>
            <p:nvPr/>
          </p:nvSpPr>
          <p:spPr>
            <a:xfrm>
              <a:off x="75870" y="85725"/>
              <a:ext cx="657538" cy="650875"/>
            </a:xfrm>
            <a:prstGeom prst="rect">
              <a:avLst/>
            </a:prstGeom>
          </p:spPr>
          <p:txBody>
            <a:bodyPr anchor="ctr" rtlCol="false" tIns="50800" lIns="50800" bIns="50800" rIns="50800"/>
            <a:lstStyle/>
            <a:p>
              <a:pPr algn="ctr">
                <a:lnSpc>
                  <a:spcPts val="228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DAHHUqOVhOI</dc:identifier>
  <dcterms:modified xsi:type="dcterms:W3CDTF">2011-08-01T06:04:30Z</dcterms:modified>
  <cp:revision>1</cp:revision>
  <dc:title>ESTACION_ 1_FINAL</dc:title>
</cp:coreProperties>
</file>