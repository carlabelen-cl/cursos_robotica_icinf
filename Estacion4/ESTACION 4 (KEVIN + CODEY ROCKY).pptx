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DM Sans Bold" charset="1" panose="00000000000000000000"/>
      <p:regular r:id="rId19"/>
    </p:embeddedFont>
    <p:embeddedFont>
      <p:font typeface="DM Sans" charset="1" panose="00000000000000000000"/>
      <p:regular r:id="rId20"/>
    </p:embeddedFont>
    <p:embeddedFont>
      <p:font typeface="Poppins" charset="1" panose="00000500000000000000"/>
      <p:regular r:id="rId21"/>
    </p:embeddedFont>
    <p:embeddedFont>
      <p:font typeface="Poppins Italic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5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6.png" Type="http://schemas.openxmlformats.org/officeDocument/2006/relationships/image"/><Relationship Id="rId4" Target="../media/image4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5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5.pn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F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66361">
            <a:off x="13179771" y="1185980"/>
            <a:ext cx="3132922" cy="3293479"/>
          </a:xfrm>
          <a:custGeom>
            <a:avLst/>
            <a:gdLst/>
            <a:ahLst/>
            <a:cxnLst/>
            <a:rect r="r" b="b" t="t" l="l"/>
            <a:pathLst>
              <a:path h="3293479" w="3132922">
                <a:moveTo>
                  <a:pt x="0" y="0"/>
                </a:moveTo>
                <a:lnTo>
                  <a:pt x="3132922" y="0"/>
                </a:lnTo>
                <a:lnTo>
                  <a:pt x="3132922" y="3293479"/>
                </a:lnTo>
                <a:lnTo>
                  <a:pt x="0" y="3293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564564" y="3659446"/>
            <a:ext cx="4787216" cy="1429338"/>
            <a:chOff x="0" y="0"/>
            <a:chExt cx="481603" cy="1437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03" cy="143794"/>
            </a:xfrm>
            <a:custGeom>
              <a:avLst/>
              <a:gdLst/>
              <a:ahLst/>
              <a:cxnLst/>
              <a:rect r="r" b="b" t="t" l="l"/>
              <a:pathLst>
                <a:path h="143794" w="481603">
                  <a:moveTo>
                    <a:pt x="71897" y="0"/>
                  </a:moveTo>
                  <a:lnTo>
                    <a:pt x="409706" y="0"/>
                  </a:lnTo>
                  <a:cubicBezTo>
                    <a:pt x="428774" y="0"/>
                    <a:pt x="447062" y="7575"/>
                    <a:pt x="460545" y="21058"/>
                  </a:cubicBezTo>
                  <a:cubicBezTo>
                    <a:pt x="474028" y="34541"/>
                    <a:pt x="481603" y="52829"/>
                    <a:pt x="481603" y="71897"/>
                  </a:cubicBezTo>
                  <a:lnTo>
                    <a:pt x="481603" y="71897"/>
                  </a:lnTo>
                  <a:cubicBezTo>
                    <a:pt x="481603" y="90965"/>
                    <a:pt x="474028" y="109253"/>
                    <a:pt x="460545" y="122736"/>
                  </a:cubicBezTo>
                  <a:cubicBezTo>
                    <a:pt x="447062" y="136219"/>
                    <a:pt x="428774" y="143794"/>
                    <a:pt x="409706" y="143794"/>
                  </a:cubicBezTo>
                  <a:lnTo>
                    <a:pt x="71897" y="143794"/>
                  </a:lnTo>
                  <a:cubicBezTo>
                    <a:pt x="52829" y="143794"/>
                    <a:pt x="34541" y="136219"/>
                    <a:pt x="21058" y="122736"/>
                  </a:cubicBezTo>
                  <a:cubicBezTo>
                    <a:pt x="7575" y="109253"/>
                    <a:pt x="0" y="90965"/>
                    <a:pt x="0" y="71897"/>
                  </a:cubicBezTo>
                  <a:lnTo>
                    <a:pt x="0" y="71897"/>
                  </a:lnTo>
                  <a:cubicBezTo>
                    <a:pt x="0" y="52829"/>
                    <a:pt x="7575" y="34541"/>
                    <a:pt x="21058" y="21058"/>
                  </a:cubicBezTo>
                  <a:cubicBezTo>
                    <a:pt x="34541" y="7575"/>
                    <a:pt x="52829" y="0"/>
                    <a:pt x="71897" y="0"/>
                  </a:cubicBezTo>
                  <a:close/>
                </a:path>
              </a:pathLst>
            </a:custGeom>
            <a:solidFill>
              <a:srgbClr val="0094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481603" cy="13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965882" y="4911504"/>
            <a:ext cx="8356237" cy="8392603"/>
            <a:chOff x="0" y="0"/>
            <a:chExt cx="809278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9278" cy="812800"/>
            </a:xfrm>
            <a:custGeom>
              <a:avLst/>
              <a:gdLst/>
              <a:ahLst/>
              <a:cxnLst/>
              <a:rect r="r" b="b" t="t" l="l"/>
              <a:pathLst>
                <a:path h="812800" w="809278">
                  <a:moveTo>
                    <a:pt x="404639" y="0"/>
                  </a:moveTo>
                  <a:cubicBezTo>
                    <a:pt x="181163" y="0"/>
                    <a:pt x="0" y="181951"/>
                    <a:pt x="0" y="406400"/>
                  </a:cubicBezTo>
                  <a:cubicBezTo>
                    <a:pt x="0" y="630849"/>
                    <a:pt x="181163" y="812800"/>
                    <a:pt x="404639" y="812800"/>
                  </a:cubicBezTo>
                  <a:cubicBezTo>
                    <a:pt x="628115" y="812800"/>
                    <a:pt x="809278" y="630849"/>
                    <a:pt x="809278" y="406400"/>
                  </a:cubicBezTo>
                  <a:cubicBezTo>
                    <a:pt x="809278" y="181951"/>
                    <a:pt x="628115" y="0"/>
                    <a:pt x="4046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5870" y="85725"/>
              <a:ext cx="657538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361734" y="-7176427"/>
            <a:ext cx="9564533" cy="9606157"/>
            <a:chOff x="0" y="0"/>
            <a:chExt cx="809278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9278" cy="812800"/>
            </a:xfrm>
            <a:custGeom>
              <a:avLst/>
              <a:gdLst/>
              <a:ahLst/>
              <a:cxnLst/>
              <a:rect r="r" b="b" t="t" l="l"/>
              <a:pathLst>
                <a:path h="812800" w="809278">
                  <a:moveTo>
                    <a:pt x="404639" y="0"/>
                  </a:moveTo>
                  <a:cubicBezTo>
                    <a:pt x="181163" y="0"/>
                    <a:pt x="0" y="181951"/>
                    <a:pt x="0" y="406400"/>
                  </a:cubicBezTo>
                  <a:cubicBezTo>
                    <a:pt x="0" y="630849"/>
                    <a:pt x="181163" y="812800"/>
                    <a:pt x="404639" y="812800"/>
                  </a:cubicBezTo>
                  <a:cubicBezTo>
                    <a:pt x="628115" y="812800"/>
                    <a:pt x="809278" y="630849"/>
                    <a:pt x="809278" y="406400"/>
                  </a:cubicBezTo>
                  <a:cubicBezTo>
                    <a:pt x="809278" y="181951"/>
                    <a:pt x="628115" y="0"/>
                    <a:pt x="4046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5870" y="85725"/>
              <a:ext cx="657538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01518" y="8708206"/>
            <a:ext cx="2657782" cy="550094"/>
            <a:chOff x="0" y="0"/>
            <a:chExt cx="699992" cy="1448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9992" cy="144881"/>
            </a:xfrm>
            <a:custGeom>
              <a:avLst/>
              <a:gdLst/>
              <a:ahLst/>
              <a:cxnLst/>
              <a:rect r="r" b="b" t="t" l="l"/>
              <a:pathLst>
                <a:path h="144881" w="699992">
                  <a:moveTo>
                    <a:pt x="72440" y="0"/>
                  </a:moveTo>
                  <a:lnTo>
                    <a:pt x="627552" y="0"/>
                  </a:lnTo>
                  <a:cubicBezTo>
                    <a:pt x="667559" y="0"/>
                    <a:pt x="699992" y="32433"/>
                    <a:pt x="699992" y="72440"/>
                  </a:cubicBezTo>
                  <a:lnTo>
                    <a:pt x="699992" y="72440"/>
                  </a:lnTo>
                  <a:cubicBezTo>
                    <a:pt x="699992" y="112448"/>
                    <a:pt x="667559" y="144881"/>
                    <a:pt x="627552" y="144881"/>
                  </a:cubicBezTo>
                  <a:lnTo>
                    <a:pt x="72440" y="144881"/>
                  </a:lnTo>
                  <a:cubicBezTo>
                    <a:pt x="32433" y="144881"/>
                    <a:pt x="0" y="112448"/>
                    <a:pt x="0" y="72440"/>
                  </a:cubicBezTo>
                  <a:lnTo>
                    <a:pt x="0" y="72440"/>
                  </a:lnTo>
                  <a:cubicBezTo>
                    <a:pt x="0" y="32433"/>
                    <a:pt x="32433" y="0"/>
                    <a:pt x="72440" y="0"/>
                  </a:cubicBezTo>
                  <a:close/>
                </a:path>
              </a:pathLst>
            </a:custGeom>
            <a:solidFill>
              <a:srgbClr val="00943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699992" cy="135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685096" y="8783453"/>
            <a:ext cx="399599" cy="399599"/>
          </a:xfrm>
          <a:custGeom>
            <a:avLst/>
            <a:gdLst/>
            <a:ahLst/>
            <a:cxnLst/>
            <a:rect r="r" b="b" t="t" l="l"/>
            <a:pathLst>
              <a:path h="399599" w="399599">
                <a:moveTo>
                  <a:pt x="0" y="0"/>
                </a:moveTo>
                <a:lnTo>
                  <a:pt x="399600" y="0"/>
                </a:lnTo>
                <a:lnTo>
                  <a:pt x="399600" y="399599"/>
                </a:lnTo>
                <a:lnTo>
                  <a:pt x="0" y="399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79358" y="5480594"/>
            <a:ext cx="4329284" cy="6455223"/>
          </a:xfrm>
          <a:custGeom>
            <a:avLst/>
            <a:gdLst/>
            <a:ahLst/>
            <a:cxnLst/>
            <a:rect r="r" b="b" t="t" l="l"/>
            <a:pathLst>
              <a:path h="6455223" w="4329284">
                <a:moveTo>
                  <a:pt x="0" y="0"/>
                </a:moveTo>
                <a:lnTo>
                  <a:pt x="4329284" y="0"/>
                </a:lnTo>
                <a:lnTo>
                  <a:pt x="4329284" y="6455223"/>
                </a:lnTo>
                <a:lnTo>
                  <a:pt x="0" y="6455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933" t="-23322" r="-41947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925389" y="-11259"/>
            <a:ext cx="2437223" cy="2437223"/>
          </a:xfrm>
          <a:custGeom>
            <a:avLst/>
            <a:gdLst/>
            <a:ahLst/>
            <a:cxnLst/>
            <a:rect r="r" b="b" t="t" l="l"/>
            <a:pathLst>
              <a:path h="2437223" w="2437223">
                <a:moveTo>
                  <a:pt x="0" y="0"/>
                </a:moveTo>
                <a:lnTo>
                  <a:pt x="2437222" y="0"/>
                </a:lnTo>
                <a:lnTo>
                  <a:pt x="2437222" y="2437222"/>
                </a:lnTo>
                <a:lnTo>
                  <a:pt x="0" y="24372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40234" y="5073109"/>
            <a:ext cx="5378593" cy="550094"/>
            <a:chOff x="0" y="0"/>
            <a:chExt cx="1416584" cy="1448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6584" cy="144881"/>
            </a:xfrm>
            <a:custGeom>
              <a:avLst/>
              <a:gdLst/>
              <a:ahLst/>
              <a:cxnLst/>
              <a:rect r="r" b="b" t="t" l="l"/>
              <a:pathLst>
                <a:path h="144881" w="1416584">
                  <a:moveTo>
                    <a:pt x="72440" y="0"/>
                  </a:moveTo>
                  <a:lnTo>
                    <a:pt x="1344144" y="0"/>
                  </a:lnTo>
                  <a:cubicBezTo>
                    <a:pt x="1384151" y="0"/>
                    <a:pt x="1416584" y="32433"/>
                    <a:pt x="1416584" y="72440"/>
                  </a:cubicBezTo>
                  <a:lnTo>
                    <a:pt x="1416584" y="72440"/>
                  </a:lnTo>
                  <a:cubicBezTo>
                    <a:pt x="1416584" y="112448"/>
                    <a:pt x="1384151" y="144881"/>
                    <a:pt x="1344144" y="144881"/>
                  </a:cubicBezTo>
                  <a:lnTo>
                    <a:pt x="72440" y="144881"/>
                  </a:lnTo>
                  <a:cubicBezTo>
                    <a:pt x="32433" y="144881"/>
                    <a:pt x="0" y="112448"/>
                    <a:pt x="0" y="72440"/>
                  </a:cubicBezTo>
                  <a:lnTo>
                    <a:pt x="0" y="72440"/>
                  </a:lnTo>
                  <a:cubicBezTo>
                    <a:pt x="0" y="32433"/>
                    <a:pt x="32433" y="0"/>
                    <a:pt x="72440" y="0"/>
                  </a:cubicBezTo>
                  <a:close/>
                </a:path>
              </a:pathLst>
            </a:custGeom>
            <a:solidFill>
              <a:srgbClr val="00943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416584" cy="135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205420" y="7010585"/>
            <a:ext cx="2678079" cy="3306271"/>
          </a:xfrm>
          <a:custGeom>
            <a:avLst/>
            <a:gdLst/>
            <a:ahLst/>
            <a:cxnLst/>
            <a:rect r="r" b="b" t="t" l="l"/>
            <a:pathLst>
              <a:path h="3306271" w="2678079">
                <a:moveTo>
                  <a:pt x="0" y="0"/>
                </a:moveTo>
                <a:lnTo>
                  <a:pt x="2678079" y="0"/>
                </a:lnTo>
                <a:lnTo>
                  <a:pt x="2678079" y="3306270"/>
                </a:lnTo>
                <a:lnTo>
                  <a:pt x="0" y="33062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22606" y="2724334"/>
            <a:ext cx="11089994" cy="211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4"/>
              </a:lnSpc>
            </a:pPr>
            <a:r>
              <a:rPr lang="en-US" b="true" sz="7030">
                <a:solidFill>
                  <a:srgbClr val="009432"/>
                </a:solidFill>
                <a:latin typeface="Poppins Bold"/>
                <a:ea typeface="Poppins Bold"/>
                <a:cs typeface="Poppins Bold"/>
                <a:sym typeface="Poppins Bold"/>
              </a:rPr>
              <a:t>ESTACIÓN DE </a:t>
            </a:r>
          </a:p>
          <a:p>
            <a:pPr algn="l" marL="0" indent="0" lvl="0">
              <a:lnSpc>
                <a:spcPts val="8014"/>
              </a:lnSpc>
              <a:spcBef>
                <a:spcPct val="0"/>
              </a:spcBef>
            </a:pPr>
            <a:r>
              <a:rPr lang="en-US" b="true" sz="7030">
                <a:solidFill>
                  <a:srgbClr val="009432"/>
                </a:solidFill>
                <a:latin typeface="Poppins Bold"/>
                <a:ea typeface="Poppins Bold"/>
                <a:cs typeface="Poppins Bold"/>
                <a:sym typeface="Poppins Bold"/>
              </a:rPr>
              <a:t>ROBÓTICA EDUCATIVA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32734" y="3913105"/>
            <a:ext cx="4412777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9"/>
              </a:lnSpc>
              <a:spcBef>
                <a:spcPct val="0"/>
              </a:spcBef>
            </a:pPr>
            <a:r>
              <a:rPr lang="en-US" b="true" sz="3000">
                <a:solidFill>
                  <a:srgbClr val="CBFFCF"/>
                </a:solidFill>
                <a:latin typeface="DM Sans Bold"/>
                <a:ea typeface="DM Sans Bold"/>
                <a:cs typeface="DM Sans Bold"/>
                <a:sym typeface="DM Sans Bold"/>
              </a:rPr>
              <a:t>Desafío Codey Rocky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9845" y="5168093"/>
            <a:ext cx="5150820" cy="35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77"/>
              </a:lnSpc>
              <a:spcBef>
                <a:spcPct val="0"/>
              </a:spcBef>
            </a:pPr>
            <a:r>
              <a:rPr lang="en-US" b="true" sz="22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INGENIERÍA CIVIL EN INFORMÁTICA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939123" y="8842283"/>
            <a:ext cx="168524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0"/>
              </a:lnSpc>
              <a:spcBef>
                <a:spcPct val="0"/>
              </a:spcBef>
            </a:pPr>
            <a:r>
              <a:rPr lang="en-US" sz="2000">
                <a:solidFill>
                  <a:srgbClr val="CBFFCF"/>
                </a:solidFill>
                <a:latin typeface="DM Sans"/>
                <a:ea typeface="DM Sans"/>
                <a:cs typeface="DM Sans"/>
                <a:sym typeface="DM Sans"/>
              </a:rPr>
              <a:t>Presentación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46523" y="4469544"/>
            <a:ext cx="4412777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9"/>
              </a:lnSpc>
              <a:spcBef>
                <a:spcPct val="0"/>
              </a:spcBef>
            </a:pPr>
            <a:r>
              <a:rPr lang="en-US" b="true" sz="3000">
                <a:solidFill>
                  <a:srgbClr val="CBFFCF"/>
                </a:solidFill>
                <a:latin typeface="DM Sans Bold"/>
                <a:ea typeface="DM Sans Bold"/>
                <a:cs typeface="DM Sans Bold"/>
                <a:sym typeface="DM Sans Bold"/>
              </a:rPr>
              <a:t>y Meccanoid G15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507" y="2694197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CBFF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58907" y="6909"/>
            <a:ext cx="5029093" cy="10280091"/>
            <a:chOff x="0" y="0"/>
            <a:chExt cx="1324535" cy="2707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4535" cy="2707514"/>
            </a:xfrm>
            <a:custGeom>
              <a:avLst/>
              <a:gdLst/>
              <a:ahLst/>
              <a:cxnLst/>
              <a:rect r="r" b="b" t="t" l="l"/>
              <a:pathLst>
                <a:path h="2707514" w="1324535">
                  <a:moveTo>
                    <a:pt x="0" y="0"/>
                  </a:moveTo>
                  <a:lnTo>
                    <a:pt x="1324535" y="0"/>
                  </a:lnTo>
                  <a:lnTo>
                    <a:pt x="1324535" y="2707514"/>
                  </a:lnTo>
                  <a:lnTo>
                    <a:pt x="0" y="2707514"/>
                  </a:lnTo>
                  <a:close/>
                </a:path>
              </a:pathLst>
            </a:custGeom>
            <a:solidFill>
              <a:srgbClr val="CBFF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324535" cy="2697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02120" y="5469944"/>
            <a:ext cx="6201524" cy="5073320"/>
            <a:chOff x="0" y="0"/>
            <a:chExt cx="960778" cy="785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778" cy="785990"/>
            </a:xfrm>
            <a:custGeom>
              <a:avLst/>
              <a:gdLst/>
              <a:ahLst/>
              <a:cxnLst/>
              <a:rect r="r" b="b" t="t" l="l"/>
              <a:pathLst>
                <a:path h="785990" w="960778">
                  <a:moveTo>
                    <a:pt x="28713" y="0"/>
                  </a:moveTo>
                  <a:lnTo>
                    <a:pt x="932065" y="0"/>
                  </a:lnTo>
                  <a:cubicBezTo>
                    <a:pt x="947923" y="0"/>
                    <a:pt x="960778" y="12855"/>
                    <a:pt x="960778" y="28713"/>
                  </a:cubicBezTo>
                  <a:lnTo>
                    <a:pt x="960778" y="757277"/>
                  </a:lnTo>
                  <a:cubicBezTo>
                    <a:pt x="960778" y="764892"/>
                    <a:pt x="957753" y="772196"/>
                    <a:pt x="952369" y="777580"/>
                  </a:cubicBezTo>
                  <a:cubicBezTo>
                    <a:pt x="946984" y="782965"/>
                    <a:pt x="939681" y="785990"/>
                    <a:pt x="932065" y="785990"/>
                  </a:cubicBezTo>
                  <a:lnTo>
                    <a:pt x="28713" y="785990"/>
                  </a:lnTo>
                  <a:cubicBezTo>
                    <a:pt x="12855" y="785990"/>
                    <a:pt x="0" y="773135"/>
                    <a:pt x="0" y="757277"/>
                  </a:cubicBezTo>
                  <a:lnTo>
                    <a:pt x="0" y="28713"/>
                  </a:lnTo>
                  <a:cubicBezTo>
                    <a:pt x="0" y="12855"/>
                    <a:pt x="12855" y="0"/>
                    <a:pt x="28713" y="0"/>
                  </a:cubicBezTo>
                  <a:close/>
                </a:path>
              </a:pathLst>
            </a:custGeom>
            <a:blipFill>
              <a:blip r:embed="rId2"/>
              <a:stretch>
                <a:fillRect l="-8282" t="0" r="-828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22027" y="2102103"/>
            <a:ext cx="6201524" cy="3044851"/>
            <a:chOff x="0" y="0"/>
            <a:chExt cx="960778" cy="4717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778" cy="471727"/>
            </a:xfrm>
            <a:custGeom>
              <a:avLst/>
              <a:gdLst/>
              <a:ahLst/>
              <a:cxnLst/>
              <a:rect r="r" b="b" t="t" l="l"/>
              <a:pathLst>
                <a:path h="471727" w="960778">
                  <a:moveTo>
                    <a:pt x="28713" y="0"/>
                  </a:moveTo>
                  <a:lnTo>
                    <a:pt x="932065" y="0"/>
                  </a:lnTo>
                  <a:cubicBezTo>
                    <a:pt x="947923" y="0"/>
                    <a:pt x="960778" y="12855"/>
                    <a:pt x="960778" y="28713"/>
                  </a:cubicBezTo>
                  <a:lnTo>
                    <a:pt x="960778" y="443014"/>
                  </a:lnTo>
                  <a:cubicBezTo>
                    <a:pt x="960778" y="458872"/>
                    <a:pt x="947923" y="471727"/>
                    <a:pt x="932065" y="471727"/>
                  </a:cubicBezTo>
                  <a:lnTo>
                    <a:pt x="28713" y="471727"/>
                  </a:lnTo>
                  <a:cubicBezTo>
                    <a:pt x="21098" y="471727"/>
                    <a:pt x="13795" y="468702"/>
                    <a:pt x="8410" y="463317"/>
                  </a:cubicBezTo>
                  <a:cubicBezTo>
                    <a:pt x="3025" y="457933"/>
                    <a:pt x="0" y="450629"/>
                    <a:pt x="0" y="443014"/>
                  </a:cubicBezTo>
                  <a:lnTo>
                    <a:pt x="0" y="28713"/>
                  </a:lnTo>
                  <a:cubicBezTo>
                    <a:pt x="0" y="12855"/>
                    <a:pt x="12855" y="0"/>
                    <a:pt x="2871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065" r="0" b="-4065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366361">
            <a:off x="221287" y="8257574"/>
            <a:ext cx="2075164" cy="2181512"/>
          </a:xfrm>
          <a:custGeom>
            <a:avLst/>
            <a:gdLst/>
            <a:ahLst/>
            <a:cxnLst/>
            <a:rect r="r" b="b" t="t" l="l"/>
            <a:pathLst>
              <a:path h="2181512" w="2075164">
                <a:moveTo>
                  <a:pt x="0" y="0"/>
                </a:moveTo>
                <a:lnTo>
                  <a:pt x="2075163" y="0"/>
                </a:lnTo>
                <a:lnTo>
                  <a:pt x="2075163" y="2181512"/>
                </a:lnTo>
                <a:lnTo>
                  <a:pt x="0" y="218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788750">
            <a:off x="9947222" y="8332102"/>
            <a:ext cx="1776191" cy="1776191"/>
          </a:xfrm>
          <a:custGeom>
            <a:avLst/>
            <a:gdLst/>
            <a:ahLst/>
            <a:cxnLst/>
            <a:rect r="r" b="b" t="t" l="l"/>
            <a:pathLst>
              <a:path h="1776191" w="1776191">
                <a:moveTo>
                  <a:pt x="0" y="0"/>
                </a:moveTo>
                <a:lnTo>
                  <a:pt x="1776191" y="0"/>
                </a:lnTo>
                <a:lnTo>
                  <a:pt x="1776191" y="1776191"/>
                </a:lnTo>
                <a:lnTo>
                  <a:pt x="0" y="1776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42440">
            <a:off x="6629080" y="8154458"/>
            <a:ext cx="3789298" cy="2131480"/>
          </a:xfrm>
          <a:custGeom>
            <a:avLst/>
            <a:gdLst/>
            <a:ahLst/>
            <a:cxnLst/>
            <a:rect r="r" b="b" t="t" l="l"/>
            <a:pathLst>
              <a:path h="2131480" w="3789298">
                <a:moveTo>
                  <a:pt x="0" y="0"/>
                </a:moveTo>
                <a:lnTo>
                  <a:pt x="3789298" y="0"/>
                </a:lnTo>
                <a:lnTo>
                  <a:pt x="3789298" y="2131480"/>
                </a:lnTo>
                <a:lnTo>
                  <a:pt x="0" y="21314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75886" y="2665622"/>
            <a:ext cx="5974133" cy="180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¿Qué es</a:t>
            </a:r>
          </a:p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Codey Rocky?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5886" y="4609988"/>
            <a:ext cx="7028114" cy="339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9"/>
              </a:lnSpc>
            </a:pPr>
            <a:r>
              <a:rPr lang="en-US" sz="2399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Codey Rocky es un robot </a:t>
            </a:r>
            <a:r>
              <a:rPr lang="en-US" sz="2399" strike="noStrike" u="non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educativo interactivo de diseñado para enseñar programación y robótica de forma lúdica. Permite programación por bloques utilizando Scratch y Python, además de incorporar IA e IoT.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88002" y="1153252"/>
            <a:ext cx="797090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de Robótica Educativa: Laberinto con Codey Rocky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06586" y="2162088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CBFF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23849" y="3791953"/>
            <a:ext cx="13040303" cy="4343999"/>
          </a:xfrm>
          <a:custGeom>
            <a:avLst/>
            <a:gdLst/>
            <a:ahLst/>
            <a:cxnLst/>
            <a:rect r="r" b="b" t="t" l="l"/>
            <a:pathLst>
              <a:path h="4343999" w="13040303">
                <a:moveTo>
                  <a:pt x="0" y="0"/>
                </a:moveTo>
                <a:lnTo>
                  <a:pt x="13040302" y="0"/>
                </a:lnTo>
                <a:lnTo>
                  <a:pt x="13040302" y="4343999"/>
                </a:lnTo>
                <a:lnTo>
                  <a:pt x="0" y="4343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50253" y="4255800"/>
            <a:ext cx="3086100" cy="365403"/>
            <a:chOff x="0" y="0"/>
            <a:chExt cx="812800" cy="962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96238"/>
            </a:xfrm>
            <a:custGeom>
              <a:avLst/>
              <a:gdLst/>
              <a:ahLst/>
              <a:cxnLst/>
              <a:rect r="r" b="b" t="t" l="l"/>
              <a:pathLst>
                <a:path h="962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6238"/>
                  </a:lnTo>
                  <a:lnTo>
                    <a:pt x="0" y="96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812800" cy="8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630965" y="2133513"/>
            <a:ext cx="1332204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Componentes del Pequeño Robot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8366" y="4318487"/>
            <a:ext cx="3761416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Transmisor Infrarrojo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637707" y="4246275"/>
            <a:ext cx="2033568" cy="365403"/>
            <a:chOff x="0" y="0"/>
            <a:chExt cx="535590" cy="962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5590" cy="96238"/>
            </a:xfrm>
            <a:custGeom>
              <a:avLst/>
              <a:gdLst/>
              <a:ahLst/>
              <a:cxnLst/>
              <a:rect r="r" b="b" t="t" l="l"/>
              <a:pathLst>
                <a:path h="96238" w="535590">
                  <a:moveTo>
                    <a:pt x="0" y="0"/>
                  </a:moveTo>
                  <a:lnTo>
                    <a:pt x="535590" y="0"/>
                  </a:lnTo>
                  <a:lnTo>
                    <a:pt x="535590" y="96238"/>
                  </a:lnTo>
                  <a:lnTo>
                    <a:pt x="0" y="96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535590" cy="8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909859" y="4318487"/>
            <a:ext cx="3761416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Receptor Infrarrojo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13682" y="5017949"/>
            <a:ext cx="3086100" cy="365403"/>
            <a:chOff x="0" y="0"/>
            <a:chExt cx="812800" cy="962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96238"/>
            </a:xfrm>
            <a:custGeom>
              <a:avLst/>
              <a:gdLst/>
              <a:ahLst/>
              <a:cxnLst/>
              <a:rect r="r" b="b" t="t" l="l"/>
              <a:pathLst>
                <a:path h="962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6238"/>
                  </a:lnTo>
                  <a:lnTo>
                    <a:pt x="0" y="96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812800" cy="8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26831" y="5478601"/>
            <a:ext cx="3086100" cy="513926"/>
            <a:chOff x="0" y="0"/>
            <a:chExt cx="812800" cy="1353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135355"/>
            </a:xfrm>
            <a:custGeom>
              <a:avLst/>
              <a:gdLst/>
              <a:ahLst/>
              <a:cxnLst/>
              <a:rect r="r" b="b" t="t" l="l"/>
              <a:pathLst>
                <a:path h="13535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5355"/>
                  </a:lnTo>
                  <a:lnTo>
                    <a:pt x="0" y="1353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812800" cy="12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38366" y="5133975"/>
            <a:ext cx="3761416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Perilla de Engranaje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8366" y="5615549"/>
            <a:ext cx="3761416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Giroscopio de 6 Ejes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13682" y="6021103"/>
            <a:ext cx="3086100" cy="513926"/>
            <a:chOff x="0" y="0"/>
            <a:chExt cx="812800" cy="13535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135355"/>
            </a:xfrm>
            <a:custGeom>
              <a:avLst/>
              <a:gdLst/>
              <a:ahLst/>
              <a:cxnLst/>
              <a:rect r="r" b="b" t="t" l="l"/>
              <a:pathLst>
                <a:path h="13535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5355"/>
                  </a:lnTo>
                  <a:lnTo>
                    <a:pt x="0" y="1353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812800" cy="12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-567026" y="6259016"/>
            <a:ext cx="3761416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Altavoz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50253" y="7001754"/>
            <a:ext cx="3086100" cy="264583"/>
            <a:chOff x="0" y="0"/>
            <a:chExt cx="812800" cy="696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69684"/>
            </a:xfrm>
            <a:custGeom>
              <a:avLst/>
              <a:gdLst/>
              <a:ahLst/>
              <a:cxnLst/>
              <a:rect r="r" b="b" t="t" l="l"/>
              <a:pathLst>
                <a:path h="6968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69684"/>
                  </a:lnTo>
                  <a:lnTo>
                    <a:pt x="0" y="696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812800" cy="60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02078" y="6913065"/>
            <a:ext cx="3761416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Botones (A, B y C)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748936" y="4960799"/>
            <a:ext cx="2224265" cy="365403"/>
            <a:chOff x="0" y="0"/>
            <a:chExt cx="585815" cy="962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815" cy="96238"/>
            </a:xfrm>
            <a:custGeom>
              <a:avLst/>
              <a:gdLst/>
              <a:ahLst/>
              <a:cxnLst/>
              <a:rect r="r" b="b" t="t" l="l"/>
              <a:pathLst>
                <a:path h="96238" w="585815">
                  <a:moveTo>
                    <a:pt x="0" y="0"/>
                  </a:moveTo>
                  <a:lnTo>
                    <a:pt x="585815" y="0"/>
                  </a:lnTo>
                  <a:lnTo>
                    <a:pt x="585815" y="96238"/>
                  </a:lnTo>
                  <a:lnTo>
                    <a:pt x="0" y="96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585815" cy="8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748936" y="5023485"/>
            <a:ext cx="1922338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Pantalla</a:t>
            </a: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Led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128224" y="5450026"/>
            <a:ext cx="1844977" cy="513926"/>
            <a:chOff x="0" y="0"/>
            <a:chExt cx="485920" cy="13535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5920" cy="135355"/>
            </a:xfrm>
            <a:custGeom>
              <a:avLst/>
              <a:gdLst/>
              <a:ahLst/>
              <a:cxnLst/>
              <a:rect r="r" b="b" t="t" l="l"/>
              <a:pathLst>
                <a:path h="135355" w="485920">
                  <a:moveTo>
                    <a:pt x="0" y="0"/>
                  </a:moveTo>
                  <a:lnTo>
                    <a:pt x="485920" y="0"/>
                  </a:lnTo>
                  <a:lnTo>
                    <a:pt x="485920" y="135355"/>
                  </a:lnTo>
                  <a:lnTo>
                    <a:pt x="0" y="1353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485920" cy="12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748936" y="5586974"/>
            <a:ext cx="1922338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Indicador LED RGB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938580" y="6628585"/>
            <a:ext cx="1844977" cy="588009"/>
            <a:chOff x="0" y="0"/>
            <a:chExt cx="485920" cy="15486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5920" cy="154867"/>
            </a:xfrm>
            <a:custGeom>
              <a:avLst/>
              <a:gdLst/>
              <a:ahLst/>
              <a:cxnLst/>
              <a:rect r="r" b="b" t="t" l="l"/>
              <a:pathLst>
                <a:path h="154867" w="485920">
                  <a:moveTo>
                    <a:pt x="0" y="0"/>
                  </a:moveTo>
                  <a:lnTo>
                    <a:pt x="485920" y="0"/>
                  </a:lnTo>
                  <a:lnTo>
                    <a:pt x="485920" y="154867"/>
                  </a:lnTo>
                  <a:lnTo>
                    <a:pt x="0" y="1548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9525"/>
              <a:ext cx="485920" cy="145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861218" y="6771248"/>
            <a:ext cx="1922338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Sensor de Luz y Voz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742153" y="7033080"/>
            <a:ext cx="2921999" cy="588009"/>
            <a:chOff x="0" y="0"/>
            <a:chExt cx="769580" cy="15486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9580" cy="154867"/>
            </a:xfrm>
            <a:custGeom>
              <a:avLst/>
              <a:gdLst/>
              <a:ahLst/>
              <a:cxnLst/>
              <a:rect r="r" b="b" t="t" l="l"/>
              <a:pathLst>
                <a:path h="154867" w="769580">
                  <a:moveTo>
                    <a:pt x="0" y="0"/>
                  </a:moveTo>
                  <a:lnTo>
                    <a:pt x="769580" y="0"/>
                  </a:lnTo>
                  <a:lnTo>
                    <a:pt x="769580" y="154867"/>
                  </a:lnTo>
                  <a:lnTo>
                    <a:pt x="0" y="1548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769580" cy="145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955265" y="7146321"/>
            <a:ext cx="2455855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Transmisor de infrarrojos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975224" y="7409634"/>
            <a:ext cx="2455855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Receptor de Infrarrojos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975224" y="7659189"/>
            <a:ext cx="2455855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Indicador RGB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975224" y="7918269"/>
            <a:ext cx="2455855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Sensor de Luz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975224" y="8174052"/>
            <a:ext cx="2455855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Diodo Emisor de Luz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288002" y="1153252"/>
            <a:ext cx="797090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de Robótica Educativa: Laberinto con Codey Rocky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37299" y="2507315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CBFF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70001" y="2330075"/>
            <a:ext cx="6615991" cy="8578431"/>
            <a:chOff x="0" y="0"/>
            <a:chExt cx="976757" cy="12664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6757" cy="1266484"/>
            </a:xfrm>
            <a:custGeom>
              <a:avLst/>
              <a:gdLst/>
              <a:ahLst/>
              <a:cxnLst/>
              <a:rect r="r" b="b" t="t" l="l"/>
              <a:pathLst>
                <a:path h="1266484" w="976757">
                  <a:moveTo>
                    <a:pt x="26914" y="0"/>
                  </a:moveTo>
                  <a:lnTo>
                    <a:pt x="949843" y="0"/>
                  </a:lnTo>
                  <a:cubicBezTo>
                    <a:pt x="956981" y="0"/>
                    <a:pt x="963827" y="2836"/>
                    <a:pt x="968874" y="7883"/>
                  </a:cubicBezTo>
                  <a:cubicBezTo>
                    <a:pt x="973922" y="12930"/>
                    <a:pt x="976757" y="19776"/>
                    <a:pt x="976757" y="26914"/>
                  </a:cubicBezTo>
                  <a:lnTo>
                    <a:pt x="976757" y="1239570"/>
                  </a:lnTo>
                  <a:cubicBezTo>
                    <a:pt x="976757" y="1254434"/>
                    <a:pt x="964707" y="1266484"/>
                    <a:pt x="949843" y="1266484"/>
                  </a:cubicBezTo>
                  <a:lnTo>
                    <a:pt x="26914" y="1266484"/>
                  </a:lnTo>
                  <a:cubicBezTo>
                    <a:pt x="19776" y="1266484"/>
                    <a:pt x="12930" y="1263648"/>
                    <a:pt x="7883" y="1258601"/>
                  </a:cubicBezTo>
                  <a:cubicBezTo>
                    <a:pt x="2836" y="1253553"/>
                    <a:pt x="0" y="1246708"/>
                    <a:pt x="0" y="1239570"/>
                  </a:cubicBezTo>
                  <a:lnTo>
                    <a:pt x="0" y="26914"/>
                  </a:lnTo>
                  <a:cubicBezTo>
                    <a:pt x="0" y="19776"/>
                    <a:pt x="2836" y="12930"/>
                    <a:pt x="7883" y="7883"/>
                  </a:cubicBezTo>
                  <a:cubicBezTo>
                    <a:pt x="12930" y="2836"/>
                    <a:pt x="19776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349" r="0" b="-2892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61679" y="4390622"/>
            <a:ext cx="7604923" cy="2015629"/>
            <a:chOff x="0" y="0"/>
            <a:chExt cx="2002943" cy="53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02942" cy="530865"/>
            </a:xfrm>
            <a:custGeom>
              <a:avLst/>
              <a:gdLst/>
              <a:ahLst/>
              <a:cxnLst/>
              <a:rect r="r" b="b" t="t" l="l"/>
              <a:pathLst>
                <a:path h="530865" w="2002942">
                  <a:moveTo>
                    <a:pt x="23414" y="0"/>
                  </a:moveTo>
                  <a:lnTo>
                    <a:pt x="1979528" y="0"/>
                  </a:lnTo>
                  <a:cubicBezTo>
                    <a:pt x="1985738" y="0"/>
                    <a:pt x="1991694" y="2467"/>
                    <a:pt x="1996085" y="6858"/>
                  </a:cubicBezTo>
                  <a:cubicBezTo>
                    <a:pt x="2000476" y="11249"/>
                    <a:pt x="2002942" y="17204"/>
                    <a:pt x="2002942" y="23414"/>
                  </a:cubicBezTo>
                  <a:lnTo>
                    <a:pt x="2002942" y="507451"/>
                  </a:lnTo>
                  <a:cubicBezTo>
                    <a:pt x="2002942" y="513661"/>
                    <a:pt x="2000476" y="519616"/>
                    <a:pt x="1996085" y="524007"/>
                  </a:cubicBezTo>
                  <a:cubicBezTo>
                    <a:pt x="1991694" y="528398"/>
                    <a:pt x="1985738" y="530865"/>
                    <a:pt x="1979528" y="530865"/>
                  </a:cubicBezTo>
                  <a:lnTo>
                    <a:pt x="23414" y="530865"/>
                  </a:lnTo>
                  <a:cubicBezTo>
                    <a:pt x="17204" y="530865"/>
                    <a:pt x="11249" y="528398"/>
                    <a:pt x="6858" y="524007"/>
                  </a:cubicBezTo>
                  <a:cubicBezTo>
                    <a:pt x="2467" y="519616"/>
                    <a:pt x="0" y="513661"/>
                    <a:pt x="0" y="507451"/>
                  </a:cubicBezTo>
                  <a:lnTo>
                    <a:pt x="0" y="23414"/>
                  </a:lnTo>
                  <a:cubicBezTo>
                    <a:pt x="0" y="17204"/>
                    <a:pt x="2467" y="11249"/>
                    <a:pt x="6858" y="6858"/>
                  </a:cubicBezTo>
                  <a:cubicBezTo>
                    <a:pt x="11249" y="2467"/>
                    <a:pt x="17204" y="0"/>
                    <a:pt x="23414" y="0"/>
                  </a:cubicBezTo>
                  <a:close/>
                </a:path>
              </a:pathLst>
            </a:custGeom>
            <a:solidFill>
              <a:srgbClr val="00943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002943" cy="52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02247" y="4877641"/>
            <a:ext cx="1041592" cy="1041592"/>
          </a:xfrm>
          <a:custGeom>
            <a:avLst/>
            <a:gdLst/>
            <a:ahLst/>
            <a:cxnLst/>
            <a:rect r="r" b="b" t="t" l="l"/>
            <a:pathLst>
              <a:path h="1041592" w="1041592">
                <a:moveTo>
                  <a:pt x="0" y="0"/>
                </a:moveTo>
                <a:lnTo>
                  <a:pt x="1041592" y="0"/>
                </a:lnTo>
                <a:lnTo>
                  <a:pt x="1041592" y="1041592"/>
                </a:lnTo>
                <a:lnTo>
                  <a:pt x="0" y="1041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61679" y="7370162"/>
            <a:ext cx="2173044" cy="2916838"/>
          </a:xfrm>
          <a:custGeom>
            <a:avLst/>
            <a:gdLst/>
            <a:ahLst/>
            <a:cxnLst/>
            <a:rect r="r" b="b" t="t" l="l"/>
            <a:pathLst>
              <a:path h="2916838" w="2173044">
                <a:moveTo>
                  <a:pt x="0" y="0"/>
                </a:moveTo>
                <a:lnTo>
                  <a:pt x="2173044" y="0"/>
                </a:lnTo>
                <a:lnTo>
                  <a:pt x="2173044" y="2916838"/>
                </a:lnTo>
                <a:lnTo>
                  <a:pt x="0" y="29168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961679" y="2488265"/>
            <a:ext cx="9326321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Desafío:</a:t>
            </a:r>
          </a:p>
          <a:p>
            <a:pPr algn="l" marL="0" indent="0" lvl="0">
              <a:lnSpc>
                <a:spcPts val="57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Resolviendo el Laberinto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92727" y="5215608"/>
            <a:ext cx="583627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pequeño robot Codey Rocky debe resolver un laberinto por si solo.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92727" y="4904266"/>
            <a:ext cx="393895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22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06223" y="7482577"/>
            <a:ext cx="4819092" cy="130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622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Utilizando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sensores para detección de objetos, y aprendiendo el recorrido precargado en un algoritmo en Scratch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88002" y="1153252"/>
            <a:ext cx="797090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de Robótica Educativa: Laberinto con Codey Rocky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1507" y="3239172"/>
            <a:ext cx="1126590" cy="797582"/>
            <a:chOff x="0" y="0"/>
            <a:chExt cx="296715" cy="2100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CBFFC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014802" y="5603295"/>
            <a:ext cx="2431851" cy="2494206"/>
          </a:xfrm>
          <a:custGeom>
            <a:avLst/>
            <a:gdLst/>
            <a:ahLst/>
            <a:cxnLst/>
            <a:rect r="r" b="b" t="t" l="l"/>
            <a:pathLst>
              <a:path h="2494206" w="2431851">
                <a:moveTo>
                  <a:pt x="0" y="0"/>
                </a:moveTo>
                <a:lnTo>
                  <a:pt x="2431850" y="0"/>
                </a:lnTo>
                <a:lnTo>
                  <a:pt x="2431850" y="2494206"/>
                </a:lnTo>
                <a:lnTo>
                  <a:pt x="0" y="24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312763" y="3239172"/>
            <a:ext cx="10041928" cy="5778958"/>
            <a:chOff x="0" y="0"/>
            <a:chExt cx="13389237" cy="770527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415288" y="6253773"/>
              <a:ext cx="1970846" cy="577117"/>
              <a:chOff x="0" y="0"/>
              <a:chExt cx="525129" cy="15377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25129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525129">
                    <a:moveTo>
                      <a:pt x="0" y="0"/>
                    </a:moveTo>
                    <a:lnTo>
                      <a:pt x="525129" y="0"/>
                    </a:lnTo>
                    <a:lnTo>
                      <a:pt x="525129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9525"/>
                <a:ext cx="525129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4578510" y="6289567"/>
              <a:ext cx="8348259" cy="577117"/>
              <a:chOff x="0" y="0"/>
              <a:chExt cx="2224382" cy="15377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224382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2224382">
                    <a:moveTo>
                      <a:pt x="0" y="0"/>
                    </a:moveTo>
                    <a:lnTo>
                      <a:pt x="2224382" y="0"/>
                    </a:lnTo>
                    <a:lnTo>
                      <a:pt x="2224382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9525"/>
                <a:ext cx="2224382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-3125655" y="3128118"/>
              <a:ext cx="6828427" cy="577117"/>
              <a:chOff x="0" y="0"/>
              <a:chExt cx="1819425" cy="15377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819425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1819425">
                    <a:moveTo>
                      <a:pt x="0" y="0"/>
                    </a:moveTo>
                    <a:lnTo>
                      <a:pt x="1819425" y="0"/>
                    </a:lnTo>
                    <a:lnTo>
                      <a:pt x="1819425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9525"/>
                <a:ext cx="1819425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809017" y="4513574"/>
              <a:ext cx="6864925" cy="670823"/>
              <a:chOff x="0" y="0"/>
              <a:chExt cx="1829150" cy="17874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829150" cy="178740"/>
              </a:xfrm>
              <a:custGeom>
                <a:avLst/>
                <a:gdLst/>
                <a:ahLst/>
                <a:cxnLst/>
                <a:rect r="r" b="b" t="t" l="l"/>
                <a:pathLst>
                  <a:path h="178740" w="1829150">
                    <a:moveTo>
                      <a:pt x="0" y="0"/>
                    </a:moveTo>
                    <a:lnTo>
                      <a:pt x="1829150" y="0"/>
                    </a:lnTo>
                    <a:lnTo>
                      <a:pt x="1829150" y="178740"/>
                    </a:lnTo>
                    <a:lnTo>
                      <a:pt x="0" y="178740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9525"/>
                <a:ext cx="1829150" cy="1692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5400000">
              <a:off x="1112153" y="5556909"/>
              <a:ext cx="1970846" cy="577117"/>
              <a:chOff x="0" y="0"/>
              <a:chExt cx="525129" cy="15377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25129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525129">
                    <a:moveTo>
                      <a:pt x="0" y="0"/>
                    </a:moveTo>
                    <a:lnTo>
                      <a:pt x="525129" y="0"/>
                    </a:lnTo>
                    <a:lnTo>
                      <a:pt x="525129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9525"/>
                <a:ext cx="525129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5400000">
              <a:off x="10444584" y="3922031"/>
              <a:ext cx="5312189" cy="577117"/>
              <a:chOff x="0" y="0"/>
              <a:chExt cx="1415425" cy="15377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15425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1415425">
                    <a:moveTo>
                      <a:pt x="0" y="0"/>
                    </a:moveTo>
                    <a:lnTo>
                      <a:pt x="1415425" y="0"/>
                    </a:lnTo>
                    <a:lnTo>
                      <a:pt x="1415425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9525"/>
                <a:ext cx="1415425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8962500" y="3108990"/>
              <a:ext cx="2622401" cy="577117"/>
              <a:chOff x="0" y="0"/>
              <a:chExt cx="698735" cy="15377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98735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698735">
                    <a:moveTo>
                      <a:pt x="0" y="0"/>
                    </a:moveTo>
                    <a:lnTo>
                      <a:pt x="698735" y="0"/>
                    </a:lnTo>
                    <a:lnTo>
                      <a:pt x="698735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9525"/>
                <a:ext cx="698735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5400000">
              <a:off x="10262643" y="2331742"/>
              <a:ext cx="2131612" cy="577117"/>
              <a:chOff x="0" y="0"/>
              <a:chExt cx="567965" cy="15377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67965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567965">
                    <a:moveTo>
                      <a:pt x="0" y="0"/>
                    </a:moveTo>
                    <a:lnTo>
                      <a:pt x="567965" y="0"/>
                    </a:lnTo>
                    <a:lnTo>
                      <a:pt x="567965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9525"/>
                <a:ext cx="567965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0306295" y="4607280"/>
              <a:ext cx="2557210" cy="577117"/>
              <a:chOff x="0" y="0"/>
              <a:chExt cx="681365" cy="15377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81365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681365">
                    <a:moveTo>
                      <a:pt x="0" y="0"/>
                    </a:moveTo>
                    <a:lnTo>
                      <a:pt x="681365" y="0"/>
                    </a:lnTo>
                    <a:lnTo>
                      <a:pt x="681365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9525"/>
                <a:ext cx="681365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-5400000">
              <a:off x="7896694" y="2331742"/>
              <a:ext cx="2131612" cy="577117"/>
              <a:chOff x="0" y="0"/>
              <a:chExt cx="567965" cy="15377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67965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567965">
                    <a:moveTo>
                      <a:pt x="0" y="0"/>
                    </a:moveTo>
                    <a:lnTo>
                      <a:pt x="567965" y="0"/>
                    </a:lnTo>
                    <a:lnTo>
                      <a:pt x="567965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9525"/>
                <a:ext cx="567965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5400000">
              <a:off x="4918490" y="1698774"/>
              <a:ext cx="3397548" cy="577117"/>
              <a:chOff x="0" y="0"/>
              <a:chExt cx="905272" cy="15377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905272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905272">
                    <a:moveTo>
                      <a:pt x="0" y="0"/>
                    </a:moveTo>
                    <a:lnTo>
                      <a:pt x="905272" y="0"/>
                    </a:lnTo>
                    <a:lnTo>
                      <a:pt x="905272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9525"/>
                <a:ext cx="905272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5400000">
              <a:off x="2446898" y="1556958"/>
              <a:ext cx="3686107" cy="577117"/>
              <a:chOff x="0" y="0"/>
              <a:chExt cx="982158" cy="15377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82158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982158">
                    <a:moveTo>
                      <a:pt x="0" y="0"/>
                    </a:moveTo>
                    <a:lnTo>
                      <a:pt x="982158" y="0"/>
                    </a:lnTo>
                    <a:lnTo>
                      <a:pt x="982158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9525"/>
                <a:ext cx="982158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13389237" cy="577117"/>
              <a:chOff x="0" y="0"/>
              <a:chExt cx="3567543" cy="15377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567543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3567543">
                    <a:moveTo>
                      <a:pt x="0" y="0"/>
                    </a:moveTo>
                    <a:lnTo>
                      <a:pt x="3567543" y="0"/>
                    </a:lnTo>
                    <a:lnTo>
                      <a:pt x="3567543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9525"/>
                <a:ext cx="3567543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2980692" y="6028090"/>
              <a:ext cx="1124828" cy="1677187"/>
            </a:xfrm>
            <a:custGeom>
              <a:avLst/>
              <a:gdLst/>
              <a:ahLst/>
              <a:cxnLst/>
              <a:rect r="r" b="b" t="t" l="l"/>
              <a:pathLst>
                <a:path h="1677187" w="1124828">
                  <a:moveTo>
                    <a:pt x="0" y="0"/>
                  </a:moveTo>
                  <a:lnTo>
                    <a:pt x="1124828" y="0"/>
                  </a:lnTo>
                  <a:lnTo>
                    <a:pt x="1124828" y="1677187"/>
                  </a:lnTo>
                  <a:lnTo>
                    <a:pt x="0" y="1677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933" t="-23322" r="-41947" b="0"/>
              </a:stretch>
            </a:blipFill>
          </p:spPr>
        </p:sp>
        <p:grpSp>
          <p:nvGrpSpPr>
            <p:cNvPr name="Group 48" id="48"/>
            <p:cNvGrpSpPr/>
            <p:nvPr/>
          </p:nvGrpSpPr>
          <p:grpSpPr>
            <a:xfrm rot="0">
              <a:off x="11179590" y="1554495"/>
              <a:ext cx="2209647" cy="577117"/>
              <a:chOff x="0" y="0"/>
              <a:chExt cx="588757" cy="15377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588757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588757">
                    <a:moveTo>
                      <a:pt x="0" y="0"/>
                    </a:moveTo>
                    <a:lnTo>
                      <a:pt x="588757" y="0"/>
                    </a:lnTo>
                    <a:lnTo>
                      <a:pt x="588757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009432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9525"/>
                <a:ext cx="588757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</p:grpSp>
      <p:grpSp>
        <p:nvGrpSpPr>
          <p:cNvPr name="Group 51" id="51"/>
          <p:cNvGrpSpPr/>
          <p:nvPr/>
        </p:nvGrpSpPr>
        <p:grpSpPr>
          <a:xfrm rot="0">
            <a:off x="8866702" y="7233884"/>
            <a:ext cx="217005" cy="496543"/>
            <a:chOff x="0" y="0"/>
            <a:chExt cx="619088" cy="141657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19088" cy="1416571"/>
            </a:xfrm>
            <a:custGeom>
              <a:avLst/>
              <a:gdLst/>
              <a:ahLst/>
              <a:cxnLst/>
              <a:rect r="r" b="b" t="t" l="l"/>
              <a:pathLst>
                <a:path h="1416571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16571"/>
                  </a:lnTo>
                  <a:lnTo>
                    <a:pt x="415888" y="1416571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203200" y="111125"/>
              <a:ext cx="212688" cy="1305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5400000">
            <a:off x="12518744" y="4830933"/>
            <a:ext cx="217005" cy="5798986"/>
            <a:chOff x="0" y="0"/>
            <a:chExt cx="619088" cy="1654374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19088" cy="16543748"/>
            </a:xfrm>
            <a:custGeom>
              <a:avLst/>
              <a:gdLst/>
              <a:ahLst/>
              <a:cxnLst/>
              <a:rect r="r" b="b" t="t" l="l"/>
              <a:pathLst>
                <a:path h="16543748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6543748"/>
                  </a:lnTo>
                  <a:lnTo>
                    <a:pt x="415888" y="16543748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203200" y="111125"/>
              <a:ext cx="212688" cy="16432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-5400000">
            <a:off x="14677791" y="6714857"/>
            <a:ext cx="217005" cy="1405704"/>
            <a:chOff x="0" y="0"/>
            <a:chExt cx="619088" cy="401028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9088" cy="4010289"/>
            </a:xfrm>
            <a:custGeom>
              <a:avLst/>
              <a:gdLst/>
              <a:ahLst/>
              <a:cxnLst/>
              <a:rect r="r" b="b" t="t" l="l"/>
              <a:pathLst>
                <a:path h="4010289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4010289"/>
                  </a:lnTo>
                  <a:lnTo>
                    <a:pt x="415888" y="4010289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203200" y="111125"/>
              <a:ext cx="212688" cy="389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359448" y="6462358"/>
            <a:ext cx="217005" cy="496543"/>
            <a:chOff x="0" y="0"/>
            <a:chExt cx="619088" cy="14165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19088" cy="1416571"/>
            </a:xfrm>
            <a:custGeom>
              <a:avLst/>
              <a:gdLst/>
              <a:ahLst/>
              <a:cxnLst/>
              <a:rect r="r" b="b" t="t" l="l"/>
              <a:pathLst>
                <a:path h="1416571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16571"/>
                  </a:lnTo>
                  <a:lnTo>
                    <a:pt x="415888" y="1416571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203200" y="111125"/>
              <a:ext cx="212688" cy="1305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-5400000">
            <a:off x="10126328" y="3976808"/>
            <a:ext cx="217005" cy="5009201"/>
            <a:chOff x="0" y="0"/>
            <a:chExt cx="619088" cy="1429059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19088" cy="14290594"/>
            </a:xfrm>
            <a:custGeom>
              <a:avLst/>
              <a:gdLst/>
              <a:ahLst/>
              <a:cxnLst/>
              <a:rect r="r" b="b" t="t" l="l"/>
              <a:pathLst>
                <a:path h="14290594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290594"/>
                  </a:lnTo>
                  <a:lnTo>
                    <a:pt x="415888" y="14290594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203200" y="111125"/>
              <a:ext cx="212688" cy="14179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730230" y="3865159"/>
            <a:ext cx="217005" cy="2397155"/>
            <a:chOff x="0" y="0"/>
            <a:chExt cx="619088" cy="683877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19088" cy="6838770"/>
            </a:xfrm>
            <a:custGeom>
              <a:avLst/>
              <a:gdLst/>
              <a:ahLst/>
              <a:cxnLst/>
              <a:rect r="r" b="b" t="t" l="l"/>
              <a:pathLst>
                <a:path h="6838770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6838770"/>
                  </a:lnTo>
                  <a:lnTo>
                    <a:pt x="415888" y="6838770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203200" y="111125"/>
              <a:ext cx="212688" cy="6727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-10800000">
            <a:off x="6865524" y="3865159"/>
            <a:ext cx="217005" cy="3756765"/>
            <a:chOff x="0" y="0"/>
            <a:chExt cx="619088" cy="1071755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19088" cy="10717557"/>
            </a:xfrm>
            <a:custGeom>
              <a:avLst/>
              <a:gdLst/>
              <a:ahLst/>
              <a:cxnLst/>
              <a:rect r="r" b="b" t="t" l="l"/>
              <a:pathLst>
                <a:path h="10717557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0717557"/>
                  </a:lnTo>
                  <a:lnTo>
                    <a:pt x="415888" y="10717557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203200" y="111125"/>
              <a:ext cx="212688" cy="1060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232494" y="6128651"/>
            <a:ext cx="217005" cy="1428827"/>
            <a:chOff x="0" y="0"/>
            <a:chExt cx="619088" cy="407625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19088" cy="4076255"/>
            </a:xfrm>
            <a:custGeom>
              <a:avLst/>
              <a:gdLst/>
              <a:ahLst/>
              <a:cxnLst/>
              <a:rect r="r" b="b" t="t" l="l"/>
              <a:pathLst>
                <a:path h="4076255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4076255"/>
                  </a:lnTo>
                  <a:lnTo>
                    <a:pt x="415888" y="4076255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203200" y="111125"/>
              <a:ext cx="212688" cy="39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5400000">
            <a:off x="8800886" y="4668761"/>
            <a:ext cx="217005" cy="2919778"/>
            <a:chOff x="0" y="0"/>
            <a:chExt cx="619088" cy="83297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19088" cy="8329745"/>
            </a:xfrm>
            <a:custGeom>
              <a:avLst/>
              <a:gdLst/>
              <a:ahLst/>
              <a:cxnLst/>
              <a:rect r="r" b="b" t="t" l="l"/>
              <a:pathLst>
                <a:path h="8329745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329745"/>
                  </a:lnTo>
                  <a:lnTo>
                    <a:pt x="415888" y="8329745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203200" y="111125"/>
              <a:ext cx="212688" cy="8218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-5400000">
            <a:off x="7227704" y="3674574"/>
            <a:ext cx="217005" cy="507353"/>
            <a:chOff x="0" y="0"/>
            <a:chExt cx="619088" cy="144741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19088" cy="1447412"/>
            </a:xfrm>
            <a:custGeom>
              <a:avLst/>
              <a:gdLst/>
              <a:ahLst/>
              <a:cxnLst/>
              <a:rect r="r" b="b" t="t" l="l"/>
              <a:pathLst>
                <a:path h="1447412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47412"/>
                  </a:lnTo>
                  <a:lnTo>
                    <a:pt x="415888" y="1447412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203200" y="111125"/>
              <a:ext cx="212688" cy="1336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195135" y="5355024"/>
            <a:ext cx="217005" cy="496543"/>
            <a:chOff x="0" y="0"/>
            <a:chExt cx="619088" cy="141657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19088" cy="1416571"/>
            </a:xfrm>
            <a:custGeom>
              <a:avLst/>
              <a:gdLst/>
              <a:ahLst/>
              <a:cxnLst/>
              <a:rect r="r" b="b" t="t" l="l"/>
              <a:pathLst>
                <a:path h="1416571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16571"/>
                  </a:lnTo>
                  <a:lnTo>
                    <a:pt x="415888" y="1416571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203200" y="111125"/>
              <a:ext cx="212688" cy="1305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-10800000">
            <a:off x="10609975" y="5355024"/>
            <a:ext cx="217005" cy="496543"/>
            <a:chOff x="0" y="0"/>
            <a:chExt cx="619088" cy="141657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19088" cy="1416571"/>
            </a:xfrm>
            <a:custGeom>
              <a:avLst/>
              <a:gdLst/>
              <a:ahLst/>
              <a:cxnLst/>
              <a:rect r="r" b="b" t="t" l="l"/>
              <a:pathLst>
                <a:path h="1416571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16571"/>
                  </a:lnTo>
                  <a:lnTo>
                    <a:pt x="415888" y="1416571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203200" y="111125"/>
              <a:ext cx="212688" cy="1305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5400000">
            <a:off x="11376119" y="5317844"/>
            <a:ext cx="217005" cy="1678237"/>
            <a:chOff x="0" y="0"/>
            <a:chExt cx="619088" cy="478779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19088" cy="4787791"/>
            </a:xfrm>
            <a:custGeom>
              <a:avLst/>
              <a:gdLst/>
              <a:ahLst/>
              <a:cxnLst/>
              <a:rect r="r" b="b" t="t" l="l"/>
              <a:pathLst>
                <a:path h="4787791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4787791"/>
                  </a:lnTo>
                  <a:lnTo>
                    <a:pt x="415888" y="4787791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203200" y="111125"/>
              <a:ext cx="212688" cy="4676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106735" y="3928251"/>
            <a:ext cx="217005" cy="1923315"/>
            <a:chOff x="0" y="0"/>
            <a:chExt cx="619088" cy="548696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19088" cy="5486967"/>
            </a:xfrm>
            <a:custGeom>
              <a:avLst/>
              <a:gdLst/>
              <a:ahLst/>
              <a:cxnLst/>
              <a:rect r="r" b="b" t="t" l="l"/>
              <a:pathLst>
                <a:path h="5486967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5486967"/>
                  </a:lnTo>
                  <a:lnTo>
                    <a:pt x="415888" y="5486967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203200" y="111125"/>
              <a:ext cx="212688" cy="5375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5400000">
            <a:off x="14188166" y="2309452"/>
            <a:ext cx="217005" cy="3454603"/>
            <a:chOff x="0" y="0"/>
            <a:chExt cx="619088" cy="985552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19088" cy="9855529"/>
            </a:xfrm>
            <a:custGeom>
              <a:avLst/>
              <a:gdLst/>
              <a:ahLst/>
              <a:cxnLst/>
              <a:rect r="r" b="b" t="t" l="l"/>
              <a:pathLst>
                <a:path h="9855529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9855529"/>
                  </a:lnTo>
                  <a:lnTo>
                    <a:pt x="415888" y="9855529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203200" y="111125"/>
              <a:ext cx="212688" cy="9744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5400000">
            <a:off x="15898985" y="3975544"/>
            <a:ext cx="733798" cy="134835"/>
          </a:xfrm>
          <a:custGeom>
            <a:avLst/>
            <a:gdLst/>
            <a:ahLst/>
            <a:cxnLst/>
            <a:rect r="r" b="b" t="t" l="l"/>
            <a:pathLst>
              <a:path h="134835" w="733798">
                <a:moveTo>
                  <a:pt x="0" y="0"/>
                </a:moveTo>
                <a:lnTo>
                  <a:pt x="733798" y="0"/>
                </a:lnTo>
                <a:lnTo>
                  <a:pt x="733798" y="134835"/>
                </a:lnTo>
                <a:lnTo>
                  <a:pt x="0" y="1348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7" id="97"/>
          <p:cNvSpPr txBox="true"/>
          <p:nvPr/>
        </p:nvSpPr>
        <p:spPr>
          <a:xfrm rot="0">
            <a:off x="1675886" y="3220122"/>
            <a:ext cx="3810411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Laberinto</a:t>
            </a:r>
          </a:p>
          <a:p>
            <a:pPr algn="l" marL="0" indent="0" lvl="0">
              <a:lnSpc>
                <a:spcPts val="57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 Ruta de Recorrido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035880" y="9208630"/>
            <a:ext cx="722342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¿Cómo verá el laberinto el robot?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5288002" y="1153252"/>
            <a:ext cx="797090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de Robótica Educativa: Laberinto con Codey Rocky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507" y="2500627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CBFF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18813">
            <a:off x="2212476" y="4370171"/>
            <a:ext cx="4383774" cy="5479717"/>
          </a:xfrm>
          <a:custGeom>
            <a:avLst/>
            <a:gdLst/>
            <a:ahLst/>
            <a:cxnLst/>
            <a:rect r="r" b="b" t="t" l="l"/>
            <a:pathLst>
              <a:path h="5479717" w="4383774">
                <a:moveTo>
                  <a:pt x="0" y="0"/>
                </a:moveTo>
                <a:lnTo>
                  <a:pt x="4383774" y="0"/>
                </a:lnTo>
                <a:lnTo>
                  <a:pt x="4383774" y="5479717"/>
                </a:lnTo>
                <a:lnTo>
                  <a:pt x="0" y="547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5886" y="2472052"/>
            <a:ext cx="11754904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¿Cómo Resolverá el Laberinto?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09487" y="4788799"/>
            <a:ext cx="9083400" cy="22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9"/>
              </a:lnSpc>
            </a:pPr>
            <a:r>
              <a:rPr lang="en-US" sz="2399" i="true">
                <a:solidFill>
                  <a:srgbClr val="73737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"El robot no tiene ojo</a:t>
            </a:r>
            <a:r>
              <a:rPr lang="en-US" sz="2399" i="true" strike="noStrike" u="none">
                <a:solidFill>
                  <a:srgbClr val="73737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 como nosotros, ve el mundo como si estuviera a oscuras y usara su sistema de sensores infrarrojo. Recorrerá hasta que el choque, y ahí tomará una decisión".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88002" y="1153252"/>
            <a:ext cx="797090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de Robótica Educativa: Laberinto con Codey Rocky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25599" y="2017696"/>
            <a:ext cx="5262216" cy="8783375"/>
            <a:chOff x="0" y="0"/>
            <a:chExt cx="763876" cy="1275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876" cy="1275016"/>
            </a:xfrm>
            <a:custGeom>
              <a:avLst/>
              <a:gdLst/>
              <a:ahLst/>
              <a:cxnLst/>
              <a:rect r="r" b="b" t="t" l="l"/>
              <a:pathLst>
                <a:path h="1275016" w="763876">
                  <a:moveTo>
                    <a:pt x="33838" y="0"/>
                  </a:moveTo>
                  <a:lnTo>
                    <a:pt x="730038" y="0"/>
                  </a:lnTo>
                  <a:cubicBezTo>
                    <a:pt x="748726" y="0"/>
                    <a:pt x="763876" y="15150"/>
                    <a:pt x="763876" y="33838"/>
                  </a:cubicBezTo>
                  <a:lnTo>
                    <a:pt x="763876" y="1241178"/>
                  </a:lnTo>
                  <a:cubicBezTo>
                    <a:pt x="763876" y="1259866"/>
                    <a:pt x="748726" y="1275016"/>
                    <a:pt x="730038" y="1275016"/>
                  </a:cubicBezTo>
                  <a:lnTo>
                    <a:pt x="33838" y="1275016"/>
                  </a:lnTo>
                  <a:cubicBezTo>
                    <a:pt x="24864" y="1275016"/>
                    <a:pt x="16257" y="1271451"/>
                    <a:pt x="9911" y="1265105"/>
                  </a:cubicBezTo>
                  <a:cubicBezTo>
                    <a:pt x="3565" y="1258759"/>
                    <a:pt x="0" y="1250152"/>
                    <a:pt x="0" y="1241178"/>
                  </a:cubicBezTo>
                  <a:lnTo>
                    <a:pt x="0" y="33838"/>
                  </a:lnTo>
                  <a:cubicBezTo>
                    <a:pt x="0" y="24864"/>
                    <a:pt x="3565" y="16257"/>
                    <a:pt x="9911" y="9911"/>
                  </a:cubicBezTo>
                  <a:cubicBezTo>
                    <a:pt x="16257" y="3565"/>
                    <a:pt x="24864" y="0"/>
                    <a:pt x="3383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318" r="0" b="-331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19426" y="2680029"/>
            <a:ext cx="1126590" cy="797582"/>
            <a:chOff x="0" y="0"/>
            <a:chExt cx="296715" cy="2100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CBFFC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06144" y="4485442"/>
            <a:ext cx="3857246" cy="2212416"/>
            <a:chOff x="0" y="0"/>
            <a:chExt cx="1015900" cy="5826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5900" cy="582694"/>
            </a:xfrm>
            <a:custGeom>
              <a:avLst/>
              <a:gdLst/>
              <a:ahLst/>
              <a:cxnLst/>
              <a:rect r="r" b="b" t="t" l="l"/>
              <a:pathLst>
                <a:path h="582694" w="1015900">
                  <a:moveTo>
                    <a:pt x="46164" y="0"/>
                  </a:moveTo>
                  <a:lnTo>
                    <a:pt x="969737" y="0"/>
                  </a:lnTo>
                  <a:cubicBezTo>
                    <a:pt x="995232" y="0"/>
                    <a:pt x="1015900" y="20668"/>
                    <a:pt x="1015900" y="46164"/>
                  </a:cubicBezTo>
                  <a:lnTo>
                    <a:pt x="1015900" y="536530"/>
                  </a:lnTo>
                  <a:cubicBezTo>
                    <a:pt x="1015900" y="548774"/>
                    <a:pt x="1011036" y="560516"/>
                    <a:pt x="1002379" y="569173"/>
                  </a:cubicBezTo>
                  <a:cubicBezTo>
                    <a:pt x="993722" y="577830"/>
                    <a:pt x="981980" y="582694"/>
                    <a:pt x="969737" y="582694"/>
                  </a:cubicBezTo>
                  <a:lnTo>
                    <a:pt x="46164" y="582694"/>
                  </a:lnTo>
                  <a:cubicBezTo>
                    <a:pt x="20668" y="582694"/>
                    <a:pt x="0" y="562026"/>
                    <a:pt x="0" y="536530"/>
                  </a:cubicBezTo>
                  <a:lnTo>
                    <a:pt x="0" y="46164"/>
                  </a:lnTo>
                  <a:cubicBezTo>
                    <a:pt x="0" y="20668"/>
                    <a:pt x="20668" y="0"/>
                    <a:pt x="46164" y="0"/>
                  </a:cubicBez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015900" cy="573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65331" y="5165921"/>
            <a:ext cx="854681" cy="870508"/>
          </a:xfrm>
          <a:custGeom>
            <a:avLst/>
            <a:gdLst/>
            <a:ahLst/>
            <a:cxnLst/>
            <a:rect r="r" b="b" t="t" l="l"/>
            <a:pathLst>
              <a:path h="870508" w="854681">
                <a:moveTo>
                  <a:pt x="0" y="0"/>
                </a:moveTo>
                <a:lnTo>
                  <a:pt x="854681" y="0"/>
                </a:lnTo>
                <a:lnTo>
                  <a:pt x="854681" y="870509"/>
                </a:lnTo>
                <a:lnTo>
                  <a:pt x="0" y="8705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43806" y="2651454"/>
            <a:ext cx="5722987" cy="180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¡Tenemos un Problema!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43806" y="5314563"/>
            <a:ext cx="5085548" cy="284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Al principio, le dijimos al robot </a:t>
            </a:r>
            <a:r>
              <a:rPr lang="en-US" sz="2000" i="true">
                <a:solidFill>
                  <a:srgbClr val="73737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“si ves una pared, gira a un lado”</a:t>
            </a: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. ¿Saben qué pasó? Se quedó atrapado dando vueltas e</a:t>
            </a:r>
            <a:r>
              <a:rPr lang="en-US" sz="2000" strike="noStrike" u="non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n el mismo pasillo. Tuvimos que ser más inteligentes y programar un </a:t>
            </a:r>
            <a:r>
              <a:rPr lang="en-US" sz="2000" i="true" strike="noStrike" u="none">
                <a:solidFill>
                  <a:srgbClr val="73737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“mapa de eventos"</a:t>
            </a:r>
            <a:r>
              <a:rPr lang="en-US" sz="2000" strike="noStrike" u="non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38761" y="5494586"/>
            <a:ext cx="1705604" cy="65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68"/>
              </a:lnSpc>
            </a:pPr>
            <a:r>
              <a:rPr lang="en-US" sz="2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Fallido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72412" y="5229791"/>
            <a:ext cx="299505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98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1° INTENTO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659708" y="7134140"/>
            <a:ext cx="3031854" cy="2766567"/>
          </a:xfrm>
          <a:custGeom>
            <a:avLst/>
            <a:gdLst/>
            <a:ahLst/>
            <a:cxnLst/>
            <a:rect r="r" b="b" t="t" l="l"/>
            <a:pathLst>
              <a:path h="2766567" w="3031854">
                <a:moveTo>
                  <a:pt x="0" y="0"/>
                </a:moveTo>
                <a:lnTo>
                  <a:pt x="3031854" y="0"/>
                </a:lnTo>
                <a:lnTo>
                  <a:pt x="3031854" y="2766567"/>
                </a:lnTo>
                <a:lnTo>
                  <a:pt x="0" y="276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943806" y="4682490"/>
            <a:ext cx="3604877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Error del Bucle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88002" y="1153252"/>
            <a:ext cx="797090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de Robótica Educativa: Laberinto con Codey Rocky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25599" y="2017696"/>
            <a:ext cx="5262216" cy="8783375"/>
            <a:chOff x="0" y="0"/>
            <a:chExt cx="763876" cy="1275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876" cy="1275016"/>
            </a:xfrm>
            <a:custGeom>
              <a:avLst/>
              <a:gdLst/>
              <a:ahLst/>
              <a:cxnLst/>
              <a:rect r="r" b="b" t="t" l="l"/>
              <a:pathLst>
                <a:path h="1275016" w="763876">
                  <a:moveTo>
                    <a:pt x="33838" y="0"/>
                  </a:moveTo>
                  <a:lnTo>
                    <a:pt x="730038" y="0"/>
                  </a:lnTo>
                  <a:cubicBezTo>
                    <a:pt x="748726" y="0"/>
                    <a:pt x="763876" y="15150"/>
                    <a:pt x="763876" y="33838"/>
                  </a:cubicBezTo>
                  <a:lnTo>
                    <a:pt x="763876" y="1241178"/>
                  </a:lnTo>
                  <a:cubicBezTo>
                    <a:pt x="763876" y="1259866"/>
                    <a:pt x="748726" y="1275016"/>
                    <a:pt x="730038" y="1275016"/>
                  </a:cubicBezTo>
                  <a:lnTo>
                    <a:pt x="33838" y="1275016"/>
                  </a:lnTo>
                  <a:cubicBezTo>
                    <a:pt x="24864" y="1275016"/>
                    <a:pt x="16257" y="1271451"/>
                    <a:pt x="9911" y="1265105"/>
                  </a:cubicBezTo>
                  <a:cubicBezTo>
                    <a:pt x="3565" y="1258759"/>
                    <a:pt x="0" y="1250152"/>
                    <a:pt x="0" y="1241178"/>
                  </a:cubicBezTo>
                  <a:lnTo>
                    <a:pt x="0" y="33838"/>
                  </a:lnTo>
                  <a:cubicBezTo>
                    <a:pt x="0" y="24864"/>
                    <a:pt x="3565" y="16257"/>
                    <a:pt x="9911" y="9911"/>
                  </a:cubicBezTo>
                  <a:cubicBezTo>
                    <a:pt x="16257" y="3565"/>
                    <a:pt x="24864" y="0"/>
                    <a:pt x="3383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318" r="0" b="-331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19426" y="2680029"/>
            <a:ext cx="1126590" cy="797582"/>
            <a:chOff x="0" y="0"/>
            <a:chExt cx="296715" cy="2100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CBFFC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06144" y="4485442"/>
            <a:ext cx="3857246" cy="2212416"/>
            <a:chOff x="0" y="0"/>
            <a:chExt cx="1015900" cy="5826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5900" cy="582694"/>
            </a:xfrm>
            <a:custGeom>
              <a:avLst/>
              <a:gdLst/>
              <a:ahLst/>
              <a:cxnLst/>
              <a:rect r="r" b="b" t="t" l="l"/>
              <a:pathLst>
                <a:path h="582694" w="1015900">
                  <a:moveTo>
                    <a:pt x="46164" y="0"/>
                  </a:moveTo>
                  <a:lnTo>
                    <a:pt x="969737" y="0"/>
                  </a:lnTo>
                  <a:cubicBezTo>
                    <a:pt x="995232" y="0"/>
                    <a:pt x="1015900" y="20668"/>
                    <a:pt x="1015900" y="46164"/>
                  </a:cubicBezTo>
                  <a:lnTo>
                    <a:pt x="1015900" y="536530"/>
                  </a:lnTo>
                  <a:cubicBezTo>
                    <a:pt x="1015900" y="548774"/>
                    <a:pt x="1011036" y="560516"/>
                    <a:pt x="1002379" y="569173"/>
                  </a:cubicBezTo>
                  <a:cubicBezTo>
                    <a:pt x="993722" y="577830"/>
                    <a:pt x="981980" y="582694"/>
                    <a:pt x="969737" y="582694"/>
                  </a:cubicBezTo>
                  <a:lnTo>
                    <a:pt x="46164" y="582694"/>
                  </a:lnTo>
                  <a:cubicBezTo>
                    <a:pt x="20668" y="582694"/>
                    <a:pt x="0" y="562026"/>
                    <a:pt x="0" y="536530"/>
                  </a:cubicBezTo>
                  <a:lnTo>
                    <a:pt x="0" y="46164"/>
                  </a:lnTo>
                  <a:cubicBezTo>
                    <a:pt x="0" y="20668"/>
                    <a:pt x="20668" y="0"/>
                    <a:pt x="46164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015900" cy="573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871327" y="5292539"/>
            <a:ext cx="639777" cy="63977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871327" y="5292539"/>
            <a:ext cx="639777" cy="639777"/>
          </a:xfrm>
          <a:custGeom>
            <a:avLst/>
            <a:gdLst/>
            <a:ahLst/>
            <a:cxnLst/>
            <a:rect r="r" b="b" t="t" l="l"/>
            <a:pathLst>
              <a:path h="639777" w="639777">
                <a:moveTo>
                  <a:pt x="0" y="0"/>
                </a:moveTo>
                <a:lnTo>
                  <a:pt x="639777" y="0"/>
                </a:lnTo>
                <a:lnTo>
                  <a:pt x="639777" y="639776"/>
                </a:lnTo>
                <a:lnTo>
                  <a:pt x="0" y="639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943806" y="2651454"/>
            <a:ext cx="5722987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¡Se logró!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43806" y="5314563"/>
            <a:ext cx="5085548" cy="331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Como el robot no tiene memoria para recordar por dónde pasó, tuvimos que cambiar la estrategia. En lugar de que él decida solo, nosotras tenemos que ser sus guías y darle un mapa de eventos paso a paso.</a:t>
            </a:r>
          </a:p>
          <a:p>
            <a:pPr algn="just" marL="0" indent="0" lvl="0">
              <a:lnSpc>
                <a:spcPts val="38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533961" y="5494586"/>
            <a:ext cx="1705604" cy="65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68"/>
              </a:lnSpc>
            </a:pPr>
            <a:r>
              <a:rPr lang="en-US" sz="2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Logrado!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72412" y="5229791"/>
            <a:ext cx="299505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98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2° INTENTO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43806" y="4682490"/>
            <a:ext cx="3604877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Mapa de Eventos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3191216" y="7160977"/>
            <a:ext cx="2431851" cy="2494206"/>
          </a:xfrm>
          <a:custGeom>
            <a:avLst/>
            <a:gdLst/>
            <a:ahLst/>
            <a:cxnLst/>
            <a:rect r="r" b="b" t="t" l="l"/>
            <a:pathLst>
              <a:path h="2494206" w="2431851">
                <a:moveTo>
                  <a:pt x="0" y="0"/>
                </a:moveTo>
                <a:lnTo>
                  <a:pt x="2431850" y="0"/>
                </a:lnTo>
                <a:lnTo>
                  <a:pt x="2431850" y="2494206"/>
                </a:lnTo>
                <a:lnTo>
                  <a:pt x="0" y="24942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288002" y="1153252"/>
            <a:ext cx="797090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de Robótica Educativa: Laberinto con Codey Rocky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818116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CBFF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462011"/>
            <a:ext cx="5509791" cy="5509791"/>
          </a:xfrm>
          <a:custGeom>
            <a:avLst/>
            <a:gdLst/>
            <a:ahLst/>
            <a:cxnLst/>
            <a:rect r="r" b="b" t="t" l="l"/>
            <a:pathLst>
              <a:path h="5509791" w="5509791">
                <a:moveTo>
                  <a:pt x="0" y="0"/>
                </a:moveTo>
                <a:lnTo>
                  <a:pt x="5509791" y="0"/>
                </a:lnTo>
                <a:lnTo>
                  <a:pt x="5509791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05881" y="1153252"/>
            <a:ext cx="677769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de Robótica Educativa: Meccanoid, MC_Kevin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05881" y="3142265"/>
            <a:ext cx="10190753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¿Qué es Meccanoid?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89560" y="4637141"/>
            <a:ext cx="10517731" cy="22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9"/>
              </a:lnSpc>
            </a:pPr>
            <a:r>
              <a:rPr lang="en-US" sz="2399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Meccanoid G15KS es un robot gig</a:t>
            </a:r>
            <a:r>
              <a:rPr lang="en-US" sz="2399" strike="noStrike" u="non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ante de más de un metro que puedes armar como un LEGO. Puede hablar, caminar y mover sus brazos, ¡e incluso puedes enseñarle a imitar tus propios movimientos!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02247" y="4877641"/>
            <a:ext cx="1041592" cy="1041592"/>
          </a:xfrm>
          <a:custGeom>
            <a:avLst/>
            <a:gdLst/>
            <a:ahLst/>
            <a:cxnLst/>
            <a:rect r="r" b="b" t="t" l="l"/>
            <a:pathLst>
              <a:path h="1041592" w="1041592">
                <a:moveTo>
                  <a:pt x="0" y="0"/>
                </a:moveTo>
                <a:lnTo>
                  <a:pt x="1041592" y="0"/>
                </a:lnTo>
                <a:lnTo>
                  <a:pt x="1041592" y="1041592"/>
                </a:lnTo>
                <a:lnTo>
                  <a:pt x="0" y="10415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33922" y="-181878"/>
            <a:ext cx="10650756" cy="10650756"/>
          </a:xfrm>
          <a:custGeom>
            <a:avLst/>
            <a:gdLst/>
            <a:ahLst/>
            <a:cxnLst/>
            <a:rect r="r" b="b" t="t" l="l"/>
            <a:pathLst>
              <a:path h="10650756" w="10650756">
                <a:moveTo>
                  <a:pt x="0" y="0"/>
                </a:moveTo>
                <a:lnTo>
                  <a:pt x="10650756" y="0"/>
                </a:lnTo>
                <a:lnTo>
                  <a:pt x="10650756" y="10650756"/>
                </a:lnTo>
                <a:lnTo>
                  <a:pt x="0" y="106507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1507" y="4251451"/>
            <a:ext cx="10783039" cy="309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2736"/>
              </a:lnSpc>
              <a:buFont typeface="Arial"/>
              <a:buChar char="•"/>
            </a:pPr>
            <a:r>
              <a:rPr lang="en-US" b="true" sz="2400">
                <a:solidFill>
                  <a:srgbClr val="737373"/>
                </a:solidFill>
                <a:latin typeface="Poppins Bold"/>
                <a:ea typeface="Poppins Bold"/>
                <a:cs typeface="Poppins Bold"/>
                <a:sym typeface="Poppins Bold"/>
              </a:rPr>
              <a:t>Órdenes claras: 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Funciona siguie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 la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 r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egla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 e instrucciones exactas 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 le entregamos.</a:t>
            </a:r>
          </a:p>
          <a:p>
            <a:pPr algn="just">
              <a:lnSpc>
                <a:spcPts val="2736"/>
              </a:lnSpc>
            </a:pPr>
          </a:p>
          <a:p>
            <a:pPr algn="just" marL="518160" indent="-259080" lvl="1">
              <a:lnSpc>
                <a:spcPts val="2736"/>
              </a:lnSpc>
              <a:buFont typeface="Arial"/>
              <a:buChar char="•"/>
            </a:pPr>
            <a:r>
              <a:rPr lang="en-US" b="true" sz="2400">
                <a:solidFill>
                  <a:srgbClr val="737373"/>
                </a:solidFill>
                <a:latin typeface="Poppins Bold"/>
                <a:ea typeface="Poppins Bold"/>
                <a:cs typeface="Poppins Bold"/>
                <a:sym typeface="Poppins Bold"/>
              </a:rPr>
              <a:t>Magia de programar: 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Las computadoras y robots necesitan que les enseñemos un "idioma" para obedecer.</a:t>
            </a:r>
          </a:p>
          <a:p>
            <a:pPr algn="just">
              <a:lnSpc>
                <a:spcPts val="2736"/>
              </a:lnSpc>
            </a:pPr>
          </a:p>
          <a:p>
            <a:pPr algn="just" marL="518160" indent="-259080" lvl="1">
              <a:lnSpc>
                <a:spcPts val="2736"/>
              </a:lnSpc>
              <a:buFont typeface="Arial"/>
              <a:buChar char="•"/>
            </a:pPr>
            <a:r>
              <a:rPr lang="en-US" b="true" sz="2400">
                <a:solidFill>
                  <a:srgbClr val="737373"/>
                </a:solidFill>
                <a:latin typeface="Poppins Bold"/>
                <a:ea typeface="Poppins Bold"/>
                <a:cs typeface="Poppins Bold"/>
                <a:sym typeface="Poppins Bold"/>
              </a:rPr>
              <a:t>Espíritu creador: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 Si te gusta armar y resolver retos, ¡ya estás pensando como un ingeniero/a!</a:t>
            </a:r>
          </a:p>
          <a:p>
            <a:pPr algn="just" marL="0" indent="0" lvl="1">
              <a:lnSpc>
                <a:spcPts val="262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6576" y="2767769"/>
            <a:ext cx="1332204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¿Cómo funciona Meccanoid?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05881" y="1153252"/>
            <a:ext cx="677769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de Robótica Educativa: Meccanoid, MC_Kevin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37299" y="2507315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CBFF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61679" y="4390622"/>
            <a:ext cx="7859374" cy="2015629"/>
            <a:chOff x="0" y="0"/>
            <a:chExt cx="2069959" cy="5308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9959" cy="530865"/>
            </a:xfrm>
            <a:custGeom>
              <a:avLst/>
              <a:gdLst/>
              <a:ahLst/>
              <a:cxnLst/>
              <a:rect r="r" b="b" t="t" l="l"/>
              <a:pathLst>
                <a:path h="530865" w="2069959">
                  <a:moveTo>
                    <a:pt x="22656" y="0"/>
                  </a:moveTo>
                  <a:lnTo>
                    <a:pt x="2047302" y="0"/>
                  </a:lnTo>
                  <a:cubicBezTo>
                    <a:pt x="2059815" y="0"/>
                    <a:pt x="2069959" y="10144"/>
                    <a:pt x="2069959" y="22656"/>
                  </a:cubicBezTo>
                  <a:lnTo>
                    <a:pt x="2069959" y="508209"/>
                  </a:lnTo>
                  <a:cubicBezTo>
                    <a:pt x="2069959" y="514218"/>
                    <a:pt x="2067571" y="519981"/>
                    <a:pt x="2063323" y="524229"/>
                  </a:cubicBezTo>
                  <a:cubicBezTo>
                    <a:pt x="2059074" y="528478"/>
                    <a:pt x="2053311" y="530865"/>
                    <a:pt x="2047302" y="530865"/>
                  </a:cubicBezTo>
                  <a:lnTo>
                    <a:pt x="22656" y="530865"/>
                  </a:lnTo>
                  <a:cubicBezTo>
                    <a:pt x="16647" y="530865"/>
                    <a:pt x="10885" y="528478"/>
                    <a:pt x="6636" y="524229"/>
                  </a:cubicBezTo>
                  <a:cubicBezTo>
                    <a:pt x="2387" y="519981"/>
                    <a:pt x="0" y="514218"/>
                    <a:pt x="0" y="508209"/>
                  </a:cubicBezTo>
                  <a:lnTo>
                    <a:pt x="0" y="22656"/>
                  </a:lnTo>
                  <a:cubicBezTo>
                    <a:pt x="0" y="16647"/>
                    <a:pt x="2387" y="10885"/>
                    <a:pt x="6636" y="6636"/>
                  </a:cubicBezTo>
                  <a:cubicBezTo>
                    <a:pt x="10885" y="2387"/>
                    <a:pt x="16647" y="0"/>
                    <a:pt x="22656" y="0"/>
                  </a:cubicBezTo>
                  <a:close/>
                </a:path>
              </a:pathLst>
            </a:custGeom>
            <a:solidFill>
              <a:srgbClr val="0094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069959" cy="52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02247" y="4877641"/>
            <a:ext cx="1041592" cy="1041592"/>
          </a:xfrm>
          <a:custGeom>
            <a:avLst/>
            <a:gdLst/>
            <a:ahLst/>
            <a:cxnLst/>
            <a:rect r="r" b="b" t="t" l="l"/>
            <a:pathLst>
              <a:path h="1041592" w="1041592">
                <a:moveTo>
                  <a:pt x="0" y="0"/>
                </a:moveTo>
                <a:lnTo>
                  <a:pt x="1041592" y="0"/>
                </a:lnTo>
                <a:lnTo>
                  <a:pt x="1041592" y="1041592"/>
                </a:lnTo>
                <a:lnTo>
                  <a:pt x="0" y="10415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355" y="2764261"/>
            <a:ext cx="5690094" cy="5690094"/>
          </a:xfrm>
          <a:custGeom>
            <a:avLst/>
            <a:gdLst/>
            <a:ahLst/>
            <a:cxnLst/>
            <a:rect r="r" b="b" t="t" l="l"/>
            <a:pathLst>
              <a:path h="5690094" w="5690094">
                <a:moveTo>
                  <a:pt x="0" y="0"/>
                </a:moveTo>
                <a:lnTo>
                  <a:pt x="5690094" y="0"/>
                </a:lnTo>
                <a:lnTo>
                  <a:pt x="5690094" y="5690094"/>
                </a:lnTo>
                <a:lnTo>
                  <a:pt x="0" y="5690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961679" y="2488265"/>
            <a:ext cx="9326321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Desafío:</a:t>
            </a:r>
          </a:p>
          <a:p>
            <a:pPr algn="l" marL="0" indent="0" lvl="0">
              <a:lnSpc>
                <a:spcPts val="57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¡Hablemos con el robot!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92727" y="5253708"/>
            <a:ext cx="632832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Hacer funcionar al robot usando solo comandos de voz.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92727" y="4904266"/>
            <a:ext cx="393895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22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34559" y="6982324"/>
            <a:ext cx="7854331" cy="163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sz="23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3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rem</a:t>
            </a:r>
            <a:r>
              <a:rPr lang="en-US" sz="23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3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 los comandos integrados del Meccanoid.</a:t>
            </a:r>
          </a:p>
          <a:p>
            <a:pPr algn="just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sz="23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¡Traduciremos juntos sus órdenes para ver cómo responde!</a:t>
            </a:r>
          </a:p>
          <a:p>
            <a:pPr algn="just" marL="0" indent="0" lvl="1">
              <a:lnSpc>
                <a:spcPts val="2622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105881" y="1153252"/>
            <a:ext cx="677769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de Robótica Educativa: Meccanoid, MC_Kevin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F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9465" y="-995389"/>
            <a:ext cx="12224578" cy="12277778"/>
            <a:chOff x="0" y="0"/>
            <a:chExt cx="80927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278" cy="812800"/>
            </a:xfrm>
            <a:custGeom>
              <a:avLst/>
              <a:gdLst/>
              <a:ahLst/>
              <a:cxnLst/>
              <a:rect r="r" b="b" t="t" l="l"/>
              <a:pathLst>
                <a:path h="812800" w="809278">
                  <a:moveTo>
                    <a:pt x="404639" y="0"/>
                  </a:moveTo>
                  <a:cubicBezTo>
                    <a:pt x="181163" y="0"/>
                    <a:pt x="0" y="181951"/>
                    <a:pt x="0" y="406400"/>
                  </a:cubicBezTo>
                  <a:cubicBezTo>
                    <a:pt x="0" y="630849"/>
                    <a:pt x="181163" y="812800"/>
                    <a:pt x="404639" y="812800"/>
                  </a:cubicBezTo>
                  <a:cubicBezTo>
                    <a:pt x="628115" y="812800"/>
                    <a:pt x="809278" y="630849"/>
                    <a:pt x="809278" y="406400"/>
                  </a:cubicBezTo>
                  <a:cubicBezTo>
                    <a:pt x="809278" y="181951"/>
                    <a:pt x="628115" y="0"/>
                    <a:pt x="4046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5870" y="85725"/>
              <a:ext cx="657538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01390" y="7625700"/>
            <a:ext cx="5636433" cy="5660962"/>
            <a:chOff x="0" y="0"/>
            <a:chExt cx="80927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9278" cy="812800"/>
            </a:xfrm>
            <a:custGeom>
              <a:avLst/>
              <a:gdLst/>
              <a:ahLst/>
              <a:cxnLst/>
              <a:rect r="r" b="b" t="t" l="l"/>
              <a:pathLst>
                <a:path h="812800" w="809278">
                  <a:moveTo>
                    <a:pt x="404639" y="0"/>
                  </a:moveTo>
                  <a:cubicBezTo>
                    <a:pt x="181163" y="0"/>
                    <a:pt x="0" y="181951"/>
                    <a:pt x="0" y="406400"/>
                  </a:cubicBezTo>
                  <a:cubicBezTo>
                    <a:pt x="0" y="630849"/>
                    <a:pt x="181163" y="812800"/>
                    <a:pt x="404639" y="812800"/>
                  </a:cubicBezTo>
                  <a:cubicBezTo>
                    <a:pt x="628115" y="812800"/>
                    <a:pt x="809278" y="630849"/>
                    <a:pt x="809278" y="406400"/>
                  </a:cubicBezTo>
                  <a:cubicBezTo>
                    <a:pt x="809278" y="181951"/>
                    <a:pt x="628115" y="0"/>
                    <a:pt x="4046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870" y="85725"/>
              <a:ext cx="657538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367502" y="4827400"/>
            <a:ext cx="9932357" cy="5596600"/>
          </a:xfrm>
          <a:custGeom>
            <a:avLst/>
            <a:gdLst/>
            <a:ahLst/>
            <a:cxnLst/>
            <a:rect r="r" b="b" t="t" l="l"/>
            <a:pathLst>
              <a:path h="5596600" w="9932357">
                <a:moveTo>
                  <a:pt x="0" y="0"/>
                </a:moveTo>
                <a:lnTo>
                  <a:pt x="9932357" y="0"/>
                </a:lnTo>
                <a:lnTo>
                  <a:pt x="9932357" y="5596600"/>
                </a:lnTo>
                <a:lnTo>
                  <a:pt x="0" y="5596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44000" y="4425488"/>
            <a:ext cx="9144000" cy="1021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49"/>
              </a:lnSpc>
              <a:spcBef>
                <a:spcPct val="0"/>
              </a:spcBef>
            </a:pPr>
            <a:r>
              <a:rPr lang="en-US" b="true" sz="6535">
                <a:solidFill>
                  <a:srgbClr val="009432"/>
                </a:solidFill>
                <a:latin typeface="Poppins Bold"/>
                <a:ea typeface="Poppins Bold"/>
                <a:cs typeface="Poppins Bold"/>
                <a:sym typeface="Poppins Bold"/>
              </a:rPr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DAHULY-EuiE</dc:identifier>
  <dcterms:modified xsi:type="dcterms:W3CDTF">2011-08-01T06:04:30Z</dcterms:modified>
  <cp:revision>1</cp:revision>
  <dc:title>ESTACION 4 (KEVIN + CODEY ROCKY)</dc:title>
</cp:coreProperties>
</file>