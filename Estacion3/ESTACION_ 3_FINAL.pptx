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Poppins Bold" charset="1" panose="00000800000000000000"/>
      <p:regular r:id="rId15"/>
    </p:embeddedFont>
    <p:embeddedFont>
      <p:font typeface="DM Sans Bold" charset="1" panose="00000000000000000000"/>
      <p:regular r:id="rId16"/>
    </p:embeddedFont>
    <p:embeddedFont>
      <p:font typeface="DM Sans" charset="1" panose="00000000000000000000"/>
      <p:regular r:id="rId17"/>
    </p:embeddedFont>
    <p:embeddedFont>
      <p:font typeface="Poppins" charset="1" panose="00000500000000000000"/>
      <p:regular r:id="rId18"/>
    </p:embeddedFont>
    <p:embeddedFont>
      <p:font typeface="Poppins Italics" charset="1" panose="000005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jpeg" Type="http://schemas.openxmlformats.org/officeDocument/2006/relationships/image"/><Relationship Id="rId4" Target="../media/image3.png" Type="http://schemas.openxmlformats.org/officeDocument/2006/relationships/image"/><Relationship Id="rId5" Target="../media/image7.png" Type="http://schemas.openxmlformats.org/officeDocument/2006/relationships/image"/><Relationship Id="rId6" Target="https://www.google.com/search?q=Makeblock&amp;oq=que+es+el+mbot2&amp;gs_lcrp=EgZjaHJvbWUyBggAEEUYOTIGCAEQLhhA0gEIMjA5OWowajeoAgCwAgA&amp;sourceid=chrome&amp;ie=UTF-8&amp;mstk=AUtExfDUF-1pXh2v9CQeeQ3pZPW09KVJh-vlfEDaGIL8NZKlNSIGBwJF-gBOippezPeECirpfo7P74aqWfinm2TC41E5P1Y1bitXkN6t0hv7b5KORzy02X4_zuoNpn54ydes-Qnm3zt8P77j7zTF16KV-mu6aYzIlE7nvc8m7-dHHtvP8zs&amp;csui=3&amp;ved=2ahUKEwig1t67__2TAxWBKLkGHUTjFOIQgK4QegQIARAC" TargetMode="External" Type="http://schemas.openxmlformats.org/officeDocument/2006/relationships/hyperlink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3.pn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3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45514" y="3659446"/>
            <a:ext cx="4787216" cy="884085"/>
            <a:chOff x="0" y="0"/>
            <a:chExt cx="481603" cy="8894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03" cy="88941"/>
            </a:xfrm>
            <a:custGeom>
              <a:avLst/>
              <a:gdLst/>
              <a:ahLst/>
              <a:cxnLst/>
              <a:rect r="r" b="b" t="t" l="l"/>
              <a:pathLst>
                <a:path h="88941" w="481603">
                  <a:moveTo>
                    <a:pt x="44470" y="0"/>
                  </a:moveTo>
                  <a:lnTo>
                    <a:pt x="437133" y="0"/>
                  </a:lnTo>
                  <a:cubicBezTo>
                    <a:pt x="448927" y="0"/>
                    <a:pt x="460238" y="4685"/>
                    <a:pt x="468578" y="13025"/>
                  </a:cubicBezTo>
                  <a:cubicBezTo>
                    <a:pt x="476918" y="21365"/>
                    <a:pt x="481603" y="32676"/>
                    <a:pt x="481603" y="44470"/>
                  </a:cubicBezTo>
                  <a:lnTo>
                    <a:pt x="481603" y="44470"/>
                  </a:lnTo>
                  <a:cubicBezTo>
                    <a:pt x="481603" y="69031"/>
                    <a:pt x="461693" y="88941"/>
                    <a:pt x="437133" y="88941"/>
                  </a:cubicBezTo>
                  <a:lnTo>
                    <a:pt x="44470" y="88941"/>
                  </a:lnTo>
                  <a:cubicBezTo>
                    <a:pt x="32676" y="88941"/>
                    <a:pt x="21365" y="84255"/>
                    <a:pt x="13025" y="75916"/>
                  </a:cubicBezTo>
                  <a:cubicBezTo>
                    <a:pt x="4685" y="67576"/>
                    <a:pt x="0" y="56265"/>
                    <a:pt x="0" y="44470"/>
                  </a:cubicBezTo>
                  <a:lnTo>
                    <a:pt x="0" y="44470"/>
                  </a:lnTo>
                  <a:cubicBezTo>
                    <a:pt x="0" y="32676"/>
                    <a:pt x="4685" y="21365"/>
                    <a:pt x="13025" y="13025"/>
                  </a:cubicBezTo>
                  <a:cubicBezTo>
                    <a:pt x="21365" y="4685"/>
                    <a:pt x="32676" y="0"/>
                    <a:pt x="44470" y="0"/>
                  </a:cubicBezTo>
                  <a:close/>
                </a:path>
              </a:pathLst>
            </a:custGeom>
            <a:solidFill>
              <a:srgbClr val="922AD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481603" cy="794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965882" y="4911504"/>
            <a:ext cx="8356237" cy="8392603"/>
            <a:chOff x="0" y="0"/>
            <a:chExt cx="809278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09278" cy="812800"/>
            </a:xfrm>
            <a:custGeom>
              <a:avLst/>
              <a:gdLst/>
              <a:ahLst/>
              <a:cxnLst/>
              <a:rect r="r" b="b" t="t" l="l"/>
              <a:pathLst>
                <a:path h="812800" w="809278">
                  <a:moveTo>
                    <a:pt x="404639" y="0"/>
                  </a:moveTo>
                  <a:cubicBezTo>
                    <a:pt x="181163" y="0"/>
                    <a:pt x="0" y="181951"/>
                    <a:pt x="0" y="406400"/>
                  </a:cubicBezTo>
                  <a:cubicBezTo>
                    <a:pt x="0" y="630849"/>
                    <a:pt x="181163" y="812800"/>
                    <a:pt x="404639" y="812800"/>
                  </a:cubicBezTo>
                  <a:cubicBezTo>
                    <a:pt x="628115" y="812800"/>
                    <a:pt x="809278" y="630849"/>
                    <a:pt x="809278" y="406400"/>
                  </a:cubicBezTo>
                  <a:cubicBezTo>
                    <a:pt x="809278" y="181951"/>
                    <a:pt x="628115" y="0"/>
                    <a:pt x="40463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5870" y="85725"/>
              <a:ext cx="657538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361734" y="-7176427"/>
            <a:ext cx="9564533" cy="9606157"/>
            <a:chOff x="0" y="0"/>
            <a:chExt cx="809278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09278" cy="812800"/>
            </a:xfrm>
            <a:custGeom>
              <a:avLst/>
              <a:gdLst/>
              <a:ahLst/>
              <a:cxnLst/>
              <a:rect r="r" b="b" t="t" l="l"/>
              <a:pathLst>
                <a:path h="812800" w="809278">
                  <a:moveTo>
                    <a:pt x="404639" y="0"/>
                  </a:moveTo>
                  <a:cubicBezTo>
                    <a:pt x="181163" y="0"/>
                    <a:pt x="0" y="181951"/>
                    <a:pt x="0" y="406400"/>
                  </a:cubicBezTo>
                  <a:cubicBezTo>
                    <a:pt x="0" y="630849"/>
                    <a:pt x="181163" y="812800"/>
                    <a:pt x="404639" y="812800"/>
                  </a:cubicBezTo>
                  <a:cubicBezTo>
                    <a:pt x="628115" y="812800"/>
                    <a:pt x="809278" y="630849"/>
                    <a:pt x="809278" y="406400"/>
                  </a:cubicBezTo>
                  <a:cubicBezTo>
                    <a:pt x="809278" y="181951"/>
                    <a:pt x="628115" y="0"/>
                    <a:pt x="40463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5870" y="85725"/>
              <a:ext cx="657538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601518" y="8708206"/>
            <a:ext cx="2657782" cy="550094"/>
            <a:chOff x="0" y="0"/>
            <a:chExt cx="699992" cy="14488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99992" cy="144881"/>
            </a:xfrm>
            <a:custGeom>
              <a:avLst/>
              <a:gdLst/>
              <a:ahLst/>
              <a:cxnLst/>
              <a:rect r="r" b="b" t="t" l="l"/>
              <a:pathLst>
                <a:path h="144881" w="699992">
                  <a:moveTo>
                    <a:pt x="72440" y="0"/>
                  </a:moveTo>
                  <a:lnTo>
                    <a:pt x="627552" y="0"/>
                  </a:lnTo>
                  <a:cubicBezTo>
                    <a:pt x="667559" y="0"/>
                    <a:pt x="699992" y="32433"/>
                    <a:pt x="699992" y="72440"/>
                  </a:cubicBezTo>
                  <a:lnTo>
                    <a:pt x="699992" y="72440"/>
                  </a:lnTo>
                  <a:cubicBezTo>
                    <a:pt x="699992" y="112448"/>
                    <a:pt x="667559" y="144881"/>
                    <a:pt x="627552" y="144881"/>
                  </a:cubicBezTo>
                  <a:lnTo>
                    <a:pt x="72440" y="144881"/>
                  </a:lnTo>
                  <a:cubicBezTo>
                    <a:pt x="32433" y="144881"/>
                    <a:pt x="0" y="112448"/>
                    <a:pt x="0" y="72440"/>
                  </a:cubicBezTo>
                  <a:lnTo>
                    <a:pt x="0" y="72440"/>
                  </a:lnTo>
                  <a:cubicBezTo>
                    <a:pt x="0" y="32433"/>
                    <a:pt x="32433" y="0"/>
                    <a:pt x="72440" y="0"/>
                  </a:cubicBezTo>
                  <a:close/>
                </a:path>
              </a:pathLst>
            </a:custGeom>
            <a:solidFill>
              <a:srgbClr val="922AD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9525"/>
              <a:ext cx="699992" cy="135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6685096" y="8783453"/>
            <a:ext cx="399599" cy="399599"/>
          </a:xfrm>
          <a:custGeom>
            <a:avLst/>
            <a:gdLst/>
            <a:ahLst/>
            <a:cxnLst/>
            <a:rect r="r" b="b" t="t" l="l"/>
            <a:pathLst>
              <a:path h="399599" w="399599">
                <a:moveTo>
                  <a:pt x="0" y="0"/>
                </a:moveTo>
                <a:lnTo>
                  <a:pt x="399600" y="0"/>
                </a:lnTo>
                <a:lnTo>
                  <a:pt x="399600" y="399599"/>
                </a:lnTo>
                <a:lnTo>
                  <a:pt x="0" y="3995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925389" y="-11259"/>
            <a:ext cx="2437223" cy="2437223"/>
          </a:xfrm>
          <a:custGeom>
            <a:avLst/>
            <a:gdLst/>
            <a:ahLst/>
            <a:cxnLst/>
            <a:rect r="r" b="b" t="t" l="l"/>
            <a:pathLst>
              <a:path h="2437223" w="2437223">
                <a:moveTo>
                  <a:pt x="0" y="0"/>
                </a:moveTo>
                <a:lnTo>
                  <a:pt x="2437222" y="0"/>
                </a:lnTo>
                <a:lnTo>
                  <a:pt x="2437222" y="2437222"/>
                </a:lnTo>
                <a:lnTo>
                  <a:pt x="0" y="24372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152625" y="5780225"/>
            <a:ext cx="5982751" cy="4320735"/>
          </a:xfrm>
          <a:custGeom>
            <a:avLst/>
            <a:gdLst/>
            <a:ahLst/>
            <a:cxnLst/>
            <a:rect r="r" b="b" t="t" l="l"/>
            <a:pathLst>
              <a:path h="4320735" w="5982751">
                <a:moveTo>
                  <a:pt x="0" y="0"/>
                </a:moveTo>
                <a:lnTo>
                  <a:pt x="5982750" y="0"/>
                </a:lnTo>
                <a:lnTo>
                  <a:pt x="5982750" y="4320735"/>
                </a:lnTo>
                <a:lnTo>
                  <a:pt x="0" y="43207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39933" y="3009126"/>
            <a:ext cx="10466987" cy="1882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740"/>
              </a:lnSpc>
              <a:spcBef>
                <a:spcPct val="0"/>
              </a:spcBef>
            </a:pPr>
            <a:r>
              <a:rPr lang="en-US" b="true" sz="12053">
                <a:solidFill>
                  <a:srgbClr val="922AD2"/>
                </a:solidFill>
                <a:latin typeface="Poppins Bold"/>
                <a:ea typeface="Poppins Bold"/>
                <a:cs typeface="Poppins Bold"/>
                <a:sym typeface="Poppins Bold"/>
              </a:rPr>
              <a:t>ESTACIÓN 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720154" y="3885272"/>
            <a:ext cx="4412777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19"/>
              </a:lnSpc>
              <a:spcBef>
                <a:spcPct val="0"/>
              </a:spcBef>
            </a:pPr>
            <a:r>
              <a:rPr lang="en-US" b="true" sz="3000">
                <a:solidFill>
                  <a:srgbClr val="FFD3FD"/>
                </a:solidFill>
                <a:latin typeface="DM Sans Bold"/>
                <a:ea typeface="DM Sans Bold"/>
                <a:cs typeface="DM Sans Bold"/>
                <a:sym typeface="DM Sans Bold"/>
              </a:rPr>
              <a:t>Desafío Mbot2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22606" y="4844048"/>
            <a:ext cx="5150820" cy="350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577"/>
              </a:lnSpc>
              <a:spcBef>
                <a:spcPct val="0"/>
              </a:spcBef>
            </a:pPr>
            <a:r>
              <a:rPr lang="en-US" b="true" sz="226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INGENIERÍA CIVIL EN INFORMÁTICA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939123" y="8842283"/>
            <a:ext cx="1685245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80"/>
              </a:lnSpc>
              <a:spcBef>
                <a:spcPct val="0"/>
              </a:spcBef>
            </a:pPr>
            <a:r>
              <a:rPr lang="en-US" sz="2000">
                <a:solidFill>
                  <a:srgbClr val="FFD3FD"/>
                </a:solidFill>
                <a:latin typeface="DM Sans"/>
                <a:ea typeface="DM Sans"/>
                <a:cs typeface="DM Sans"/>
                <a:sym typeface="DM Sans"/>
              </a:rPr>
              <a:t>Presentación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1507" y="2694197"/>
            <a:ext cx="1126590" cy="797582"/>
            <a:chOff x="0" y="0"/>
            <a:chExt cx="296715" cy="2100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6715" cy="210063"/>
            </a:xfrm>
            <a:custGeom>
              <a:avLst/>
              <a:gdLst/>
              <a:ahLst/>
              <a:cxnLst/>
              <a:rect r="r" b="b" t="t" l="l"/>
              <a:pathLst>
                <a:path h="210063" w="296715">
                  <a:moveTo>
                    <a:pt x="105031" y="0"/>
                  </a:moveTo>
                  <a:lnTo>
                    <a:pt x="191684" y="0"/>
                  </a:lnTo>
                  <a:cubicBezTo>
                    <a:pt x="219540" y="0"/>
                    <a:pt x="246255" y="11066"/>
                    <a:pt x="265952" y="30763"/>
                  </a:cubicBezTo>
                  <a:cubicBezTo>
                    <a:pt x="285649" y="50460"/>
                    <a:pt x="296715" y="77175"/>
                    <a:pt x="296715" y="105031"/>
                  </a:cubicBezTo>
                  <a:lnTo>
                    <a:pt x="296715" y="105031"/>
                  </a:lnTo>
                  <a:cubicBezTo>
                    <a:pt x="296715" y="132887"/>
                    <a:pt x="285649" y="159603"/>
                    <a:pt x="265952" y="179300"/>
                  </a:cubicBezTo>
                  <a:cubicBezTo>
                    <a:pt x="246255" y="198997"/>
                    <a:pt x="219540" y="210063"/>
                    <a:pt x="191684" y="210063"/>
                  </a:cubicBezTo>
                  <a:lnTo>
                    <a:pt x="105031" y="210063"/>
                  </a:lnTo>
                  <a:cubicBezTo>
                    <a:pt x="77175" y="210063"/>
                    <a:pt x="50460" y="198997"/>
                    <a:pt x="30763" y="179300"/>
                  </a:cubicBezTo>
                  <a:cubicBezTo>
                    <a:pt x="11066" y="159603"/>
                    <a:pt x="0" y="132887"/>
                    <a:pt x="0" y="105031"/>
                  </a:cubicBezTo>
                  <a:lnTo>
                    <a:pt x="0" y="105031"/>
                  </a:lnTo>
                  <a:cubicBezTo>
                    <a:pt x="0" y="77175"/>
                    <a:pt x="11066" y="50460"/>
                    <a:pt x="30763" y="30763"/>
                  </a:cubicBezTo>
                  <a:cubicBezTo>
                    <a:pt x="50460" y="11066"/>
                    <a:pt x="77175" y="0"/>
                    <a:pt x="105031" y="0"/>
                  </a:cubicBezTo>
                  <a:close/>
                </a:path>
              </a:pathLst>
            </a:custGeom>
            <a:solidFill>
              <a:srgbClr val="FFD3F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296715" cy="200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258907" y="6909"/>
            <a:ext cx="5029093" cy="10280091"/>
            <a:chOff x="0" y="0"/>
            <a:chExt cx="1324535" cy="27075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24535" cy="2707514"/>
            </a:xfrm>
            <a:custGeom>
              <a:avLst/>
              <a:gdLst/>
              <a:ahLst/>
              <a:cxnLst/>
              <a:rect r="r" b="b" t="t" l="l"/>
              <a:pathLst>
                <a:path h="2707514" w="1324535">
                  <a:moveTo>
                    <a:pt x="0" y="0"/>
                  </a:moveTo>
                  <a:lnTo>
                    <a:pt x="1324535" y="0"/>
                  </a:lnTo>
                  <a:lnTo>
                    <a:pt x="1324535" y="2707514"/>
                  </a:lnTo>
                  <a:lnTo>
                    <a:pt x="0" y="2707514"/>
                  </a:lnTo>
                  <a:close/>
                </a:path>
              </a:pathLst>
            </a:custGeom>
            <a:solidFill>
              <a:srgbClr val="FFD3F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1324535" cy="26979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902120" y="5469944"/>
            <a:ext cx="6201524" cy="5073320"/>
            <a:chOff x="0" y="0"/>
            <a:chExt cx="960778" cy="7859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60778" cy="785990"/>
            </a:xfrm>
            <a:custGeom>
              <a:avLst/>
              <a:gdLst/>
              <a:ahLst/>
              <a:cxnLst/>
              <a:rect r="r" b="b" t="t" l="l"/>
              <a:pathLst>
                <a:path h="785990" w="960778">
                  <a:moveTo>
                    <a:pt x="28713" y="0"/>
                  </a:moveTo>
                  <a:lnTo>
                    <a:pt x="932065" y="0"/>
                  </a:lnTo>
                  <a:cubicBezTo>
                    <a:pt x="947923" y="0"/>
                    <a:pt x="960778" y="12855"/>
                    <a:pt x="960778" y="28713"/>
                  </a:cubicBezTo>
                  <a:lnTo>
                    <a:pt x="960778" y="757277"/>
                  </a:lnTo>
                  <a:cubicBezTo>
                    <a:pt x="960778" y="764892"/>
                    <a:pt x="957753" y="772196"/>
                    <a:pt x="952369" y="777580"/>
                  </a:cubicBezTo>
                  <a:cubicBezTo>
                    <a:pt x="946984" y="782965"/>
                    <a:pt x="939681" y="785990"/>
                    <a:pt x="932065" y="785990"/>
                  </a:cubicBezTo>
                  <a:lnTo>
                    <a:pt x="28713" y="785990"/>
                  </a:lnTo>
                  <a:cubicBezTo>
                    <a:pt x="12855" y="785990"/>
                    <a:pt x="0" y="773135"/>
                    <a:pt x="0" y="757277"/>
                  </a:cubicBezTo>
                  <a:lnTo>
                    <a:pt x="0" y="28713"/>
                  </a:lnTo>
                  <a:cubicBezTo>
                    <a:pt x="0" y="12855"/>
                    <a:pt x="12855" y="0"/>
                    <a:pt x="28713" y="0"/>
                  </a:cubicBezTo>
                  <a:close/>
                </a:path>
              </a:pathLst>
            </a:custGeom>
            <a:blipFill>
              <a:blip r:embed="rId2"/>
              <a:stretch>
                <a:fillRect l="-1910" t="0" r="-191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422027" y="2102103"/>
            <a:ext cx="6201524" cy="3044851"/>
            <a:chOff x="0" y="0"/>
            <a:chExt cx="960778" cy="47172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60778" cy="471727"/>
            </a:xfrm>
            <a:custGeom>
              <a:avLst/>
              <a:gdLst/>
              <a:ahLst/>
              <a:cxnLst/>
              <a:rect r="r" b="b" t="t" l="l"/>
              <a:pathLst>
                <a:path h="471727" w="960778">
                  <a:moveTo>
                    <a:pt x="28713" y="0"/>
                  </a:moveTo>
                  <a:lnTo>
                    <a:pt x="932065" y="0"/>
                  </a:lnTo>
                  <a:cubicBezTo>
                    <a:pt x="947923" y="0"/>
                    <a:pt x="960778" y="12855"/>
                    <a:pt x="960778" y="28713"/>
                  </a:cubicBezTo>
                  <a:lnTo>
                    <a:pt x="960778" y="443014"/>
                  </a:lnTo>
                  <a:cubicBezTo>
                    <a:pt x="960778" y="458872"/>
                    <a:pt x="947923" y="471727"/>
                    <a:pt x="932065" y="471727"/>
                  </a:cubicBezTo>
                  <a:lnTo>
                    <a:pt x="28713" y="471727"/>
                  </a:lnTo>
                  <a:cubicBezTo>
                    <a:pt x="21098" y="471727"/>
                    <a:pt x="13795" y="468702"/>
                    <a:pt x="8410" y="463317"/>
                  </a:cubicBezTo>
                  <a:cubicBezTo>
                    <a:pt x="3025" y="457933"/>
                    <a:pt x="0" y="450629"/>
                    <a:pt x="0" y="443014"/>
                  </a:cubicBezTo>
                  <a:lnTo>
                    <a:pt x="0" y="28713"/>
                  </a:lnTo>
                  <a:cubicBezTo>
                    <a:pt x="0" y="12855"/>
                    <a:pt x="12855" y="0"/>
                    <a:pt x="28713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7213" r="0" b="-7213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496428" y="188648"/>
            <a:ext cx="1910158" cy="1910158"/>
          </a:xfrm>
          <a:custGeom>
            <a:avLst/>
            <a:gdLst/>
            <a:ahLst/>
            <a:cxnLst/>
            <a:rect r="r" b="b" t="t" l="l"/>
            <a:pathLst>
              <a:path h="1910158" w="1910158">
                <a:moveTo>
                  <a:pt x="0" y="0"/>
                </a:moveTo>
                <a:lnTo>
                  <a:pt x="1910158" y="0"/>
                </a:lnTo>
                <a:lnTo>
                  <a:pt x="1910158" y="1910158"/>
                </a:lnTo>
                <a:lnTo>
                  <a:pt x="0" y="19101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245584">
            <a:off x="9490646" y="8075223"/>
            <a:ext cx="1993981" cy="1993981"/>
          </a:xfrm>
          <a:custGeom>
            <a:avLst/>
            <a:gdLst/>
            <a:ahLst/>
            <a:cxnLst/>
            <a:rect r="r" b="b" t="t" l="l"/>
            <a:pathLst>
              <a:path h="1993981" w="1993981">
                <a:moveTo>
                  <a:pt x="0" y="0"/>
                </a:moveTo>
                <a:lnTo>
                  <a:pt x="1993981" y="0"/>
                </a:lnTo>
                <a:lnTo>
                  <a:pt x="1993981" y="1993981"/>
                </a:lnTo>
                <a:lnTo>
                  <a:pt x="0" y="19939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675886" y="2665622"/>
            <a:ext cx="5974133" cy="180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40"/>
              </a:lnSpc>
            </a:pPr>
            <a:r>
              <a:rPr lang="en-US" sz="6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¿Qué es</a:t>
            </a:r>
          </a:p>
          <a:p>
            <a:pPr algn="l" marL="0" indent="0" lvl="0">
              <a:lnSpc>
                <a:spcPts val="684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 Mbot2?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75886" y="4470974"/>
            <a:ext cx="7468114" cy="4539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559"/>
              </a:lnSpc>
            </a:pPr>
            <a:r>
              <a:rPr lang="en-US" sz="2399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Es un robot edu</a:t>
            </a:r>
            <a:r>
              <a:rPr lang="en-US" sz="2399" strike="noStrike" u="non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cativo avanzado de </a:t>
            </a:r>
            <a:r>
              <a:rPr lang="en-US" sz="2399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  <a:hlinkClick r:id="rId6" tooltip="https://www.google.com/search?q=Makeblock&amp;oq=que+es+el+mbot2&amp;gs_lcrp=EgZjaHJvbWUyBggAEEUYOTIGCAEQLhhA0gEIMjA5OWowajeoAgCwAgA&amp;sourceid=chrome&amp;ie=UTF-8&amp;mstk=AUtExfDUF-1pXh2v9CQeeQ3pZPW09KVJh-vlfEDaGIL8NZKlNSIGBwJF-gBOippezPeECirpfo7P74aqWfinm2TC41E5P1Y1bitXkN6t0hv7b5KORzy02X4_zuoNpn54ydes-Qnm3zt8P77j7zTF16KV-mu6aYzIlE7nvc8m7-dHHtvP8zs&amp;csui=3&amp;ved=2ahUKEwig1t67__2TAxWBKLkGHUTjFOIQgK4QegQIARAC"/>
              </a:rPr>
              <a:t>Makeblock</a:t>
            </a:r>
            <a:r>
              <a:rPr lang="en-US" sz="2399" strike="noStrike" u="non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 diseñado para aprender robótica, programación (bloques y Python), inteligencia artificial. Incorpora el controlador CyberPi, Wi-Fi/Bluetooth, motores con codificador de precisión y sensores mejorados, permitiendo proyectos complejos como seguidores de líneas o vehículos autónomos.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631600" y="1153252"/>
            <a:ext cx="5580854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280"/>
              </a:lnSpc>
              <a:spcBef>
                <a:spcPct val="0"/>
              </a:spcBef>
            </a:pPr>
            <a:r>
              <a:rPr lang="en-US" b="true" sz="2000">
                <a:solidFill>
                  <a:srgbClr val="E0E0E0"/>
                </a:solidFill>
                <a:latin typeface="DM Sans Bold"/>
                <a:ea typeface="DM Sans Bold"/>
                <a:cs typeface="DM Sans Bold"/>
                <a:sym typeface="DM Sans Bold"/>
              </a:rPr>
              <a:t>Estación 3: Sumo con Mbot2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71214" y="2098806"/>
            <a:ext cx="1126590" cy="797582"/>
            <a:chOff x="0" y="0"/>
            <a:chExt cx="296715" cy="2100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6715" cy="210063"/>
            </a:xfrm>
            <a:custGeom>
              <a:avLst/>
              <a:gdLst/>
              <a:ahLst/>
              <a:cxnLst/>
              <a:rect r="r" b="b" t="t" l="l"/>
              <a:pathLst>
                <a:path h="210063" w="296715">
                  <a:moveTo>
                    <a:pt x="105031" y="0"/>
                  </a:moveTo>
                  <a:lnTo>
                    <a:pt x="191684" y="0"/>
                  </a:lnTo>
                  <a:cubicBezTo>
                    <a:pt x="219540" y="0"/>
                    <a:pt x="246255" y="11066"/>
                    <a:pt x="265952" y="30763"/>
                  </a:cubicBezTo>
                  <a:cubicBezTo>
                    <a:pt x="285649" y="50460"/>
                    <a:pt x="296715" y="77175"/>
                    <a:pt x="296715" y="105031"/>
                  </a:cubicBezTo>
                  <a:lnTo>
                    <a:pt x="296715" y="105031"/>
                  </a:lnTo>
                  <a:cubicBezTo>
                    <a:pt x="296715" y="132887"/>
                    <a:pt x="285649" y="159603"/>
                    <a:pt x="265952" y="179300"/>
                  </a:cubicBezTo>
                  <a:cubicBezTo>
                    <a:pt x="246255" y="198997"/>
                    <a:pt x="219540" y="210063"/>
                    <a:pt x="191684" y="210063"/>
                  </a:cubicBezTo>
                  <a:lnTo>
                    <a:pt x="105031" y="210063"/>
                  </a:lnTo>
                  <a:cubicBezTo>
                    <a:pt x="77175" y="210063"/>
                    <a:pt x="50460" y="198997"/>
                    <a:pt x="30763" y="179300"/>
                  </a:cubicBezTo>
                  <a:cubicBezTo>
                    <a:pt x="11066" y="159603"/>
                    <a:pt x="0" y="132887"/>
                    <a:pt x="0" y="105031"/>
                  </a:cubicBezTo>
                  <a:lnTo>
                    <a:pt x="0" y="105031"/>
                  </a:lnTo>
                  <a:cubicBezTo>
                    <a:pt x="0" y="77175"/>
                    <a:pt x="11066" y="50460"/>
                    <a:pt x="30763" y="30763"/>
                  </a:cubicBezTo>
                  <a:cubicBezTo>
                    <a:pt x="50460" y="11066"/>
                    <a:pt x="77175" y="0"/>
                    <a:pt x="105031" y="0"/>
                  </a:cubicBezTo>
                  <a:close/>
                </a:path>
              </a:pathLst>
            </a:custGeom>
            <a:solidFill>
              <a:srgbClr val="FFD3F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296715" cy="200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96428" y="188648"/>
            <a:ext cx="1910158" cy="1910158"/>
          </a:xfrm>
          <a:custGeom>
            <a:avLst/>
            <a:gdLst/>
            <a:ahLst/>
            <a:cxnLst/>
            <a:rect r="r" b="b" t="t" l="l"/>
            <a:pathLst>
              <a:path h="1910158" w="1910158">
                <a:moveTo>
                  <a:pt x="0" y="0"/>
                </a:moveTo>
                <a:lnTo>
                  <a:pt x="1910158" y="0"/>
                </a:lnTo>
                <a:lnTo>
                  <a:pt x="1910158" y="1910158"/>
                </a:lnTo>
                <a:lnTo>
                  <a:pt x="0" y="19101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672135" y="5784769"/>
            <a:ext cx="3086100" cy="365403"/>
            <a:chOff x="0" y="0"/>
            <a:chExt cx="812800" cy="962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96238"/>
            </a:xfrm>
            <a:custGeom>
              <a:avLst/>
              <a:gdLst/>
              <a:ahLst/>
              <a:cxnLst/>
              <a:rect r="r" b="b" t="t" l="l"/>
              <a:pathLst>
                <a:path h="96238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96238"/>
                  </a:lnTo>
                  <a:lnTo>
                    <a:pt x="0" y="9623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9525"/>
              <a:ext cx="812800" cy="867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508707" y="6546917"/>
            <a:ext cx="3086100" cy="365403"/>
            <a:chOff x="0" y="0"/>
            <a:chExt cx="812800" cy="9623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96238"/>
            </a:xfrm>
            <a:custGeom>
              <a:avLst/>
              <a:gdLst/>
              <a:ahLst/>
              <a:cxnLst/>
              <a:rect r="r" b="b" t="t" l="l"/>
              <a:pathLst>
                <a:path h="96238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96238"/>
                  </a:lnTo>
                  <a:lnTo>
                    <a:pt x="0" y="9623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9525"/>
              <a:ext cx="812800" cy="867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-395557" y="7007570"/>
            <a:ext cx="3086100" cy="513926"/>
            <a:chOff x="0" y="0"/>
            <a:chExt cx="812800" cy="13535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135355"/>
            </a:xfrm>
            <a:custGeom>
              <a:avLst/>
              <a:gdLst/>
              <a:ahLst/>
              <a:cxnLst/>
              <a:rect r="r" b="b" t="t" l="l"/>
              <a:pathLst>
                <a:path h="13535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35355"/>
                  </a:lnTo>
                  <a:lnTo>
                    <a:pt x="0" y="13535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9525"/>
              <a:ext cx="812800" cy="1258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-508707" y="7550071"/>
            <a:ext cx="3086100" cy="513926"/>
            <a:chOff x="0" y="0"/>
            <a:chExt cx="812800" cy="13535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135355"/>
            </a:xfrm>
            <a:custGeom>
              <a:avLst/>
              <a:gdLst/>
              <a:ahLst/>
              <a:cxnLst/>
              <a:rect r="r" b="b" t="t" l="l"/>
              <a:pathLst>
                <a:path h="13535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35355"/>
                  </a:lnTo>
                  <a:lnTo>
                    <a:pt x="0" y="13535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9525"/>
              <a:ext cx="812800" cy="1258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-619937" y="8559297"/>
            <a:ext cx="3086100" cy="264583"/>
            <a:chOff x="0" y="0"/>
            <a:chExt cx="812800" cy="6968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69684"/>
            </a:xfrm>
            <a:custGeom>
              <a:avLst/>
              <a:gdLst/>
              <a:ahLst/>
              <a:cxnLst/>
              <a:rect r="r" b="b" t="t" l="l"/>
              <a:pathLst>
                <a:path h="6968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69684"/>
                  </a:lnTo>
                  <a:lnTo>
                    <a:pt x="0" y="6968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9525"/>
              <a:ext cx="812800" cy="601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sp>
        <p:nvSpPr>
          <p:cNvPr name="AutoShape 21" id="21"/>
          <p:cNvSpPr/>
          <p:nvPr/>
        </p:nvSpPr>
        <p:spPr>
          <a:xfrm>
            <a:off x="6899605" y="4501647"/>
            <a:ext cx="406886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22" id="22"/>
          <p:cNvSpPr/>
          <p:nvPr/>
        </p:nvSpPr>
        <p:spPr>
          <a:xfrm flipH="false" flipV="false" rot="0">
            <a:off x="1738602" y="3940152"/>
            <a:ext cx="7154326" cy="5166845"/>
          </a:xfrm>
          <a:custGeom>
            <a:avLst/>
            <a:gdLst/>
            <a:ahLst/>
            <a:cxnLst/>
            <a:rect r="r" b="b" t="t" l="l"/>
            <a:pathLst>
              <a:path h="5166845" w="7154326">
                <a:moveTo>
                  <a:pt x="0" y="0"/>
                </a:moveTo>
                <a:lnTo>
                  <a:pt x="7154326" y="0"/>
                </a:lnTo>
                <a:lnTo>
                  <a:pt x="7154326" y="5166846"/>
                </a:lnTo>
                <a:lnTo>
                  <a:pt x="0" y="51668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2482980" y="1999707"/>
            <a:ext cx="13322041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4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Componentes Mbot2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1285094" y="3749652"/>
            <a:ext cx="6243697" cy="1461214"/>
            <a:chOff x="0" y="0"/>
            <a:chExt cx="1644431" cy="38484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644431" cy="384846"/>
            </a:xfrm>
            <a:custGeom>
              <a:avLst/>
              <a:gdLst/>
              <a:ahLst/>
              <a:cxnLst/>
              <a:rect r="r" b="b" t="t" l="l"/>
              <a:pathLst>
                <a:path h="384846" w="1644431">
                  <a:moveTo>
                    <a:pt x="63238" y="0"/>
                  </a:moveTo>
                  <a:lnTo>
                    <a:pt x="1581193" y="0"/>
                  </a:lnTo>
                  <a:cubicBezTo>
                    <a:pt x="1616118" y="0"/>
                    <a:pt x="1644431" y="28313"/>
                    <a:pt x="1644431" y="63238"/>
                  </a:cubicBezTo>
                  <a:lnTo>
                    <a:pt x="1644431" y="321609"/>
                  </a:lnTo>
                  <a:cubicBezTo>
                    <a:pt x="1644431" y="356534"/>
                    <a:pt x="1616118" y="384846"/>
                    <a:pt x="1581193" y="384846"/>
                  </a:cubicBezTo>
                  <a:lnTo>
                    <a:pt x="63238" y="384846"/>
                  </a:lnTo>
                  <a:cubicBezTo>
                    <a:pt x="28313" y="384846"/>
                    <a:pt x="0" y="356534"/>
                    <a:pt x="0" y="321609"/>
                  </a:cubicBezTo>
                  <a:lnTo>
                    <a:pt x="0" y="63238"/>
                  </a:lnTo>
                  <a:cubicBezTo>
                    <a:pt x="0" y="28313"/>
                    <a:pt x="28313" y="0"/>
                    <a:pt x="63238" y="0"/>
                  </a:cubicBezTo>
                  <a:close/>
                </a:path>
              </a:pathLst>
            </a:custGeom>
            <a:solidFill>
              <a:srgbClr val="D0E2EC"/>
            </a:solidFill>
            <a:ln w="19050" cap="rnd">
              <a:solidFill>
                <a:srgbClr val="5183B1"/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9525"/>
              <a:ext cx="1644431" cy="3753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1580380" y="4322144"/>
            <a:ext cx="567892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171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Pantalla viisible del usuario. Proyecta telemetría en tiempo real (por ejemplo: buscando vs aracando) para diagnóstico visual rápido.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445699" y="2762862"/>
            <a:ext cx="8497408" cy="539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559"/>
              </a:lnSpc>
            </a:pPr>
            <a:r>
              <a:rPr lang="en-US" sz="2399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Anatomía de Sistema y Configuración de Hardware</a:t>
            </a:r>
          </a:p>
        </p:txBody>
      </p:sp>
      <p:sp>
        <p:nvSpPr>
          <p:cNvPr name="AutoShape 29" id="29"/>
          <p:cNvSpPr/>
          <p:nvPr/>
        </p:nvSpPr>
        <p:spPr>
          <a:xfrm flipV="true">
            <a:off x="3946855" y="7007570"/>
            <a:ext cx="7021616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0" id="30"/>
          <p:cNvSpPr/>
          <p:nvPr/>
        </p:nvSpPr>
        <p:spPr>
          <a:xfrm flipV="true">
            <a:off x="5315816" y="8691588"/>
            <a:ext cx="5652654" cy="3810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1" id="31"/>
          <p:cNvGrpSpPr/>
          <p:nvPr/>
        </p:nvGrpSpPr>
        <p:grpSpPr>
          <a:xfrm rot="0">
            <a:off x="11285094" y="6182416"/>
            <a:ext cx="6243697" cy="1461214"/>
            <a:chOff x="0" y="0"/>
            <a:chExt cx="1644431" cy="38484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644431" cy="384846"/>
            </a:xfrm>
            <a:custGeom>
              <a:avLst/>
              <a:gdLst/>
              <a:ahLst/>
              <a:cxnLst/>
              <a:rect r="r" b="b" t="t" l="l"/>
              <a:pathLst>
                <a:path h="384846" w="1644431">
                  <a:moveTo>
                    <a:pt x="63238" y="0"/>
                  </a:moveTo>
                  <a:lnTo>
                    <a:pt x="1581193" y="0"/>
                  </a:lnTo>
                  <a:cubicBezTo>
                    <a:pt x="1616118" y="0"/>
                    <a:pt x="1644431" y="28313"/>
                    <a:pt x="1644431" y="63238"/>
                  </a:cubicBezTo>
                  <a:lnTo>
                    <a:pt x="1644431" y="321609"/>
                  </a:lnTo>
                  <a:cubicBezTo>
                    <a:pt x="1644431" y="356534"/>
                    <a:pt x="1616118" y="384846"/>
                    <a:pt x="1581193" y="384846"/>
                  </a:cubicBezTo>
                  <a:lnTo>
                    <a:pt x="63238" y="384846"/>
                  </a:lnTo>
                  <a:cubicBezTo>
                    <a:pt x="28313" y="384846"/>
                    <a:pt x="0" y="356534"/>
                    <a:pt x="0" y="321609"/>
                  </a:cubicBezTo>
                  <a:lnTo>
                    <a:pt x="0" y="63238"/>
                  </a:lnTo>
                  <a:cubicBezTo>
                    <a:pt x="0" y="28313"/>
                    <a:pt x="28313" y="0"/>
                    <a:pt x="63238" y="0"/>
                  </a:cubicBezTo>
                  <a:close/>
                </a:path>
              </a:pathLst>
            </a:custGeom>
            <a:solidFill>
              <a:srgbClr val="D0E2EC"/>
            </a:solidFill>
            <a:ln w="19050" cap="rnd">
              <a:solidFill>
                <a:srgbClr val="5183B1"/>
              </a:solidFill>
              <a:prstDash val="solid"/>
              <a:round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9525"/>
              <a:ext cx="1644431" cy="3753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1567483" y="6843528"/>
            <a:ext cx="5678920" cy="44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171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Orientación frontal estricta. Mapea la distancia por ejemplo de un objeto. Actva la directiva del empuje continuo.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580380" y="3814145"/>
            <a:ext cx="4096858" cy="46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800"/>
              </a:lnSpc>
            </a:pPr>
            <a:r>
              <a:rPr lang="en-US" b="true" sz="2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CyberPI (Centro de Comando)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580380" y="6245292"/>
            <a:ext cx="5678920" cy="46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800"/>
              </a:lnSpc>
            </a:pPr>
            <a:r>
              <a:rPr lang="en-US" b="true" sz="2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Sensor Ultrasónico (Radar de Ataque)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1297991" y="8063997"/>
            <a:ext cx="6243697" cy="1461214"/>
            <a:chOff x="0" y="0"/>
            <a:chExt cx="1644431" cy="38484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644431" cy="384846"/>
            </a:xfrm>
            <a:custGeom>
              <a:avLst/>
              <a:gdLst/>
              <a:ahLst/>
              <a:cxnLst/>
              <a:rect r="r" b="b" t="t" l="l"/>
              <a:pathLst>
                <a:path h="384846" w="1644431">
                  <a:moveTo>
                    <a:pt x="63238" y="0"/>
                  </a:moveTo>
                  <a:lnTo>
                    <a:pt x="1581193" y="0"/>
                  </a:lnTo>
                  <a:cubicBezTo>
                    <a:pt x="1616118" y="0"/>
                    <a:pt x="1644431" y="28313"/>
                    <a:pt x="1644431" y="63238"/>
                  </a:cubicBezTo>
                  <a:lnTo>
                    <a:pt x="1644431" y="321609"/>
                  </a:lnTo>
                  <a:cubicBezTo>
                    <a:pt x="1644431" y="356534"/>
                    <a:pt x="1616118" y="384846"/>
                    <a:pt x="1581193" y="384846"/>
                  </a:cubicBezTo>
                  <a:lnTo>
                    <a:pt x="63238" y="384846"/>
                  </a:lnTo>
                  <a:cubicBezTo>
                    <a:pt x="28313" y="384846"/>
                    <a:pt x="0" y="356534"/>
                    <a:pt x="0" y="321609"/>
                  </a:cubicBezTo>
                  <a:lnTo>
                    <a:pt x="0" y="63238"/>
                  </a:lnTo>
                  <a:cubicBezTo>
                    <a:pt x="0" y="28313"/>
                    <a:pt x="28313" y="0"/>
                    <a:pt x="63238" y="0"/>
                  </a:cubicBezTo>
                  <a:close/>
                </a:path>
              </a:pathLst>
            </a:custGeom>
            <a:solidFill>
              <a:srgbClr val="D0E2EC"/>
            </a:solidFill>
            <a:ln w="19050" cap="rnd">
              <a:solidFill>
                <a:srgbClr val="5183B1"/>
              </a:solidFill>
              <a:prstDash val="solid"/>
              <a:round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9525"/>
              <a:ext cx="1644431" cy="3753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1580380" y="8653488"/>
            <a:ext cx="567892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171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Posicionado al ras de lsuelo, apuntando directamente al piso. Detecta el cambio de color para evitar que salga del ring.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593277" y="8126872"/>
            <a:ext cx="5678920" cy="46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800"/>
              </a:lnSpc>
            </a:pPr>
            <a:r>
              <a:rPr lang="en-US" b="true" sz="2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Sensor Quad RGB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631600" y="1153252"/>
            <a:ext cx="5580854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280"/>
              </a:lnSpc>
              <a:spcBef>
                <a:spcPct val="0"/>
              </a:spcBef>
            </a:pPr>
            <a:r>
              <a:rPr lang="en-US" b="true" sz="2000">
                <a:solidFill>
                  <a:srgbClr val="E0E0E0"/>
                </a:solidFill>
                <a:latin typeface="DM Sans Bold"/>
                <a:ea typeface="DM Sans Bold"/>
                <a:cs typeface="DM Sans Bold"/>
                <a:sym typeface="DM Sans Bold"/>
              </a:rPr>
              <a:t>Estación 3: Sumo con Mbot2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4818116"/>
            <a:ext cx="1126590" cy="797582"/>
            <a:chOff x="0" y="0"/>
            <a:chExt cx="296715" cy="2100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6715" cy="210063"/>
            </a:xfrm>
            <a:custGeom>
              <a:avLst/>
              <a:gdLst/>
              <a:ahLst/>
              <a:cxnLst/>
              <a:rect r="r" b="b" t="t" l="l"/>
              <a:pathLst>
                <a:path h="210063" w="296715">
                  <a:moveTo>
                    <a:pt x="105031" y="0"/>
                  </a:moveTo>
                  <a:lnTo>
                    <a:pt x="191684" y="0"/>
                  </a:lnTo>
                  <a:cubicBezTo>
                    <a:pt x="219540" y="0"/>
                    <a:pt x="246255" y="11066"/>
                    <a:pt x="265952" y="30763"/>
                  </a:cubicBezTo>
                  <a:cubicBezTo>
                    <a:pt x="285649" y="50460"/>
                    <a:pt x="296715" y="77175"/>
                    <a:pt x="296715" y="105031"/>
                  </a:cubicBezTo>
                  <a:lnTo>
                    <a:pt x="296715" y="105031"/>
                  </a:lnTo>
                  <a:cubicBezTo>
                    <a:pt x="296715" y="132887"/>
                    <a:pt x="285649" y="159603"/>
                    <a:pt x="265952" y="179300"/>
                  </a:cubicBezTo>
                  <a:cubicBezTo>
                    <a:pt x="246255" y="198997"/>
                    <a:pt x="219540" y="210063"/>
                    <a:pt x="191684" y="210063"/>
                  </a:cubicBezTo>
                  <a:lnTo>
                    <a:pt x="105031" y="210063"/>
                  </a:lnTo>
                  <a:cubicBezTo>
                    <a:pt x="77175" y="210063"/>
                    <a:pt x="50460" y="198997"/>
                    <a:pt x="30763" y="179300"/>
                  </a:cubicBezTo>
                  <a:cubicBezTo>
                    <a:pt x="11066" y="159603"/>
                    <a:pt x="0" y="132887"/>
                    <a:pt x="0" y="105031"/>
                  </a:cubicBezTo>
                  <a:lnTo>
                    <a:pt x="0" y="105031"/>
                  </a:lnTo>
                  <a:cubicBezTo>
                    <a:pt x="0" y="77175"/>
                    <a:pt x="11066" y="50460"/>
                    <a:pt x="30763" y="30763"/>
                  </a:cubicBezTo>
                  <a:cubicBezTo>
                    <a:pt x="50460" y="11066"/>
                    <a:pt x="77175" y="0"/>
                    <a:pt x="105031" y="0"/>
                  </a:cubicBezTo>
                  <a:close/>
                </a:path>
              </a:pathLst>
            </a:custGeom>
            <a:solidFill>
              <a:srgbClr val="FFD3F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296715" cy="200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96428" y="188648"/>
            <a:ext cx="1910158" cy="1910158"/>
          </a:xfrm>
          <a:custGeom>
            <a:avLst/>
            <a:gdLst/>
            <a:ahLst/>
            <a:cxnLst/>
            <a:rect r="r" b="b" t="t" l="l"/>
            <a:pathLst>
              <a:path h="1910158" w="1910158">
                <a:moveTo>
                  <a:pt x="0" y="0"/>
                </a:moveTo>
                <a:lnTo>
                  <a:pt x="1910158" y="0"/>
                </a:lnTo>
                <a:lnTo>
                  <a:pt x="1910158" y="1910158"/>
                </a:lnTo>
                <a:lnTo>
                  <a:pt x="0" y="19101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923252" y="4002443"/>
            <a:ext cx="3475317" cy="3532264"/>
          </a:xfrm>
          <a:custGeom>
            <a:avLst/>
            <a:gdLst/>
            <a:ahLst/>
            <a:cxnLst/>
            <a:rect r="r" b="b" t="t" l="l"/>
            <a:pathLst>
              <a:path h="3532264" w="3475317">
                <a:moveTo>
                  <a:pt x="0" y="0"/>
                </a:moveTo>
                <a:lnTo>
                  <a:pt x="3475317" y="0"/>
                </a:lnTo>
                <a:lnTo>
                  <a:pt x="3475317" y="3532264"/>
                </a:lnTo>
                <a:lnTo>
                  <a:pt x="0" y="35322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90" r="-1614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662869" y="3870647"/>
            <a:ext cx="3721210" cy="3721210"/>
          </a:xfrm>
          <a:custGeom>
            <a:avLst/>
            <a:gdLst/>
            <a:ahLst/>
            <a:cxnLst/>
            <a:rect r="r" b="b" t="t" l="l"/>
            <a:pathLst>
              <a:path h="3721210" w="3721210">
                <a:moveTo>
                  <a:pt x="0" y="0"/>
                </a:moveTo>
                <a:lnTo>
                  <a:pt x="3721210" y="0"/>
                </a:lnTo>
                <a:lnTo>
                  <a:pt x="3721210" y="3721210"/>
                </a:lnTo>
                <a:lnTo>
                  <a:pt x="0" y="37212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53079" y="4789541"/>
            <a:ext cx="7003223" cy="180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40"/>
              </a:lnSpc>
            </a:pPr>
            <a:r>
              <a:rPr lang="en-US" sz="6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Para más</a:t>
            </a:r>
          </a:p>
          <a:p>
            <a:pPr algn="l" marL="0" indent="0" lvl="0">
              <a:lnSpc>
                <a:spcPts val="684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adelante...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636139" y="7487082"/>
            <a:ext cx="4429882" cy="46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800"/>
              </a:lnSpc>
            </a:pPr>
            <a:r>
              <a:rPr lang="en-US" sz="2000" i="true">
                <a:solidFill>
                  <a:srgbClr val="737373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Descargar la App de Makeblock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08532" y="7572807"/>
            <a:ext cx="4429882" cy="603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00"/>
              </a:lnSpc>
            </a:pPr>
            <a:r>
              <a:rPr lang="en-US" sz="2000" i="true">
                <a:solidFill>
                  <a:srgbClr val="737373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Escanea el QR o busca la App en la Play Store o App Store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31600" y="1153252"/>
            <a:ext cx="5580854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280"/>
              </a:lnSpc>
              <a:spcBef>
                <a:spcPct val="0"/>
              </a:spcBef>
            </a:pPr>
            <a:r>
              <a:rPr lang="en-US" b="true" sz="2000">
                <a:solidFill>
                  <a:srgbClr val="E0E0E0"/>
                </a:solidFill>
                <a:latin typeface="DM Sans Bold"/>
                <a:ea typeface="DM Sans Bold"/>
                <a:cs typeface="DM Sans Bold"/>
                <a:sym typeface="DM Sans Bold"/>
              </a:rPr>
              <a:t>Estación 3: Sumo con Mbot2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737299" y="2507315"/>
            <a:ext cx="1126590" cy="797582"/>
            <a:chOff x="0" y="0"/>
            <a:chExt cx="296715" cy="2100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6715" cy="210063"/>
            </a:xfrm>
            <a:custGeom>
              <a:avLst/>
              <a:gdLst/>
              <a:ahLst/>
              <a:cxnLst/>
              <a:rect r="r" b="b" t="t" l="l"/>
              <a:pathLst>
                <a:path h="210063" w="296715">
                  <a:moveTo>
                    <a:pt x="105031" y="0"/>
                  </a:moveTo>
                  <a:lnTo>
                    <a:pt x="191684" y="0"/>
                  </a:lnTo>
                  <a:cubicBezTo>
                    <a:pt x="219540" y="0"/>
                    <a:pt x="246255" y="11066"/>
                    <a:pt x="265952" y="30763"/>
                  </a:cubicBezTo>
                  <a:cubicBezTo>
                    <a:pt x="285649" y="50460"/>
                    <a:pt x="296715" y="77175"/>
                    <a:pt x="296715" y="105031"/>
                  </a:cubicBezTo>
                  <a:lnTo>
                    <a:pt x="296715" y="105031"/>
                  </a:lnTo>
                  <a:cubicBezTo>
                    <a:pt x="296715" y="132887"/>
                    <a:pt x="285649" y="159603"/>
                    <a:pt x="265952" y="179300"/>
                  </a:cubicBezTo>
                  <a:cubicBezTo>
                    <a:pt x="246255" y="198997"/>
                    <a:pt x="219540" y="210063"/>
                    <a:pt x="191684" y="210063"/>
                  </a:cubicBezTo>
                  <a:lnTo>
                    <a:pt x="105031" y="210063"/>
                  </a:lnTo>
                  <a:cubicBezTo>
                    <a:pt x="77175" y="210063"/>
                    <a:pt x="50460" y="198997"/>
                    <a:pt x="30763" y="179300"/>
                  </a:cubicBezTo>
                  <a:cubicBezTo>
                    <a:pt x="11066" y="159603"/>
                    <a:pt x="0" y="132887"/>
                    <a:pt x="0" y="105031"/>
                  </a:cubicBezTo>
                  <a:lnTo>
                    <a:pt x="0" y="105031"/>
                  </a:lnTo>
                  <a:cubicBezTo>
                    <a:pt x="0" y="77175"/>
                    <a:pt x="11066" y="50460"/>
                    <a:pt x="30763" y="30763"/>
                  </a:cubicBezTo>
                  <a:cubicBezTo>
                    <a:pt x="50460" y="11066"/>
                    <a:pt x="77175" y="0"/>
                    <a:pt x="105031" y="0"/>
                  </a:cubicBezTo>
                  <a:close/>
                </a:path>
              </a:pathLst>
            </a:custGeom>
            <a:solidFill>
              <a:srgbClr val="FFD3F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296715" cy="200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70001" y="2330075"/>
            <a:ext cx="6615991" cy="8578431"/>
            <a:chOff x="0" y="0"/>
            <a:chExt cx="976757" cy="126648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76757" cy="1266484"/>
            </a:xfrm>
            <a:custGeom>
              <a:avLst/>
              <a:gdLst/>
              <a:ahLst/>
              <a:cxnLst/>
              <a:rect r="r" b="b" t="t" l="l"/>
              <a:pathLst>
                <a:path h="1266484" w="976757">
                  <a:moveTo>
                    <a:pt x="26914" y="0"/>
                  </a:moveTo>
                  <a:lnTo>
                    <a:pt x="949843" y="0"/>
                  </a:lnTo>
                  <a:cubicBezTo>
                    <a:pt x="956981" y="0"/>
                    <a:pt x="963827" y="2836"/>
                    <a:pt x="968874" y="7883"/>
                  </a:cubicBezTo>
                  <a:cubicBezTo>
                    <a:pt x="973922" y="12930"/>
                    <a:pt x="976757" y="19776"/>
                    <a:pt x="976757" y="26914"/>
                  </a:cubicBezTo>
                  <a:lnTo>
                    <a:pt x="976757" y="1239570"/>
                  </a:lnTo>
                  <a:cubicBezTo>
                    <a:pt x="976757" y="1254434"/>
                    <a:pt x="964707" y="1266484"/>
                    <a:pt x="949843" y="1266484"/>
                  </a:cubicBezTo>
                  <a:lnTo>
                    <a:pt x="26914" y="1266484"/>
                  </a:lnTo>
                  <a:cubicBezTo>
                    <a:pt x="19776" y="1266484"/>
                    <a:pt x="12930" y="1263648"/>
                    <a:pt x="7883" y="1258601"/>
                  </a:cubicBezTo>
                  <a:cubicBezTo>
                    <a:pt x="2836" y="1253553"/>
                    <a:pt x="0" y="1246708"/>
                    <a:pt x="0" y="1239570"/>
                  </a:cubicBezTo>
                  <a:lnTo>
                    <a:pt x="0" y="26914"/>
                  </a:lnTo>
                  <a:cubicBezTo>
                    <a:pt x="0" y="19776"/>
                    <a:pt x="2836" y="12930"/>
                    <a:pt x="7883" y="7883"/>
                  </a:cubicBezTo>
                  <a:cubicBezTo>
                    <a:pt x="12930" y="2836"/>
                    <a:pt x="19776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l="-26236" t="0" r="-28457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8961679" y="4390622"/>
            <a:ext cx="7922668" cy="2602986"/>
            <a:chOff x="0" y="0"/>
            <a:chExt cx="2086629" cy="6855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86629" cy="685560"/>
            </a:xfrm>
            <a:custGeom>
              <a:avLst/>
              <a:gdLst/>
              <a:ahLst/>
              <a:cxnLst/>
              <a:rect r="r" b="b" t="t" l="l"/>
              <a:pathLst>
                <a:path h="685560" w="2086629">
                  <a:moveTo>
                    <a:pt x="22475" y="0"/>
                  </a:moveTo>
                  <a:lnTo>
                    <a:pt x="2064153" y="0"/>
                  </a:lnTo>
                  <a:cubicBezTo>
                    <a:pt x="2070114" y="0"/>
                    <a:pt x="2075831" y="2368"/>
                    <a:pt x="2080046" y="6583"/>
                  </a:cubicBezTo>
                  <a:cubicBezTo>
                    <a:pt x="2084261" y="10798"/>
                    <a:pt x="2086629" y="16514"/>
                    <a:pt x="2086629" y="22475"/>
                  </a:cubicBezTo>
                  <a:lnTo>
                    <a:pt x="2086629" y="663085"/>
                  </a:lnTo>
                  <a:cubicBezTo>
                    <a:pt x="2086629" y="669046"/>
                    <a:pt x="2084261" y="674762"/>
                    <a:pt x="2080046" y="678977"/>
                  </a:cubicBezTo>
                  <a:cubicBezTo>
                    <a:pt x="2075831" y="683192"/>
                    <a:pt x="2070114" y="685560"/>
                    <a:pt x="2064153" y="685560"/>
                  </a:cubicBezTo>
                  <a:lnTo>
                    <a:pt x="22475" y="685560"/>
                  </a:lnTo>
                  <a:cubicBezTo>
                    <a:pt x="16514" y="685560"/>
                    <a:pt x="10798" y="683192"/>
                    <a:pt x="6583" y="678977"/>
                  </a:cubicBezTo>
                  <a:cubicBezTo>
                    <a:pt x="2368" y="674762"/>
                    <a:pt x="0" y="669046"/>
                    <a:pt x="0" y="663085"/>
                  </a:cubicBezTo>
                  <a:lnTo>
                    <a:pt x="0" y="22475"/>
                  </a:lnTo>
                  <a:cubicBezTo>
                    <a:pt x="0" y="16514"/>
                    <a:pt x="2368" y="10798"/>
                    <a:pt x="6583" y="6583"/>
                  </a:cubicBezTo>
                  <a:cubicBezTo>
                    <a:pt x="10798" y="2368"/>
                    <a:pt x="16514" y="0"/>
                    <a:pt x="22475" y="0"/>
                  </a:cubicBezTo>
                  <a:close/>
                </a:path>
              </a:pathLst>
            </a:custGeom>
            <a:solidFill>
              <a:srgbClr val="FFD3F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2086629" cy="6760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496428" y="188648"/>
            <a:ext cx="1910158" cy="1910158"/>
          </a:xfrm>
          <a:custGeom>
            <a:avLst/>
            <a:gdLst/>
            <a:ahLst/>
            <a:cxnLst/>
            <a:rect r="r" b="b" t="t" l="l"/>
            <a:pathLst>
              <a:path h="1910158" w="1910158">
                <a:moveTo>
                  <a:pt x="0" y="0"/>
                </a:moveTo>
                <a:lnTo>
                  <a:pt x="1910158" y="0"/>
                </a:lnTo>
                <a:lnTo>
                  <a:pt x="1910158" y="1910158"/>
                </a:lnTo>
                <a:lnTo>
                  <a:pt x="0" y="19101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202247" y="4877641"/>
            <a:ext cx="1041592" cy="1041592"/>
          </a:xfrm>
          <a:custGeom>
            <a:avLst/>
            <a:gdLst/>
            <a:ahLst/>
            <a:cxnLst/>
            <a:rect r="r" b="b" t="t" l="l"/>
            <a:pathLst>
              <a:path h="1041592" w="1041592">
                <a:moveTo>
                  <a:pt x="0" y="0"/>
                </a:moveTo>
                <a:lnTo>
                  <a:pt x="1041592" y="0"/>
                </a:lnTo>
                <a:lnTo>
                  <a:pt x="1041592" y="1041592"/>
                </a:lnTo>
                <a:lnTo>
                  <a:pt x="0" y="10415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076759" y="7393658"/>
            <a:ext cx="2334160" cy="1525957"/>
          </a:xfrm>
          <a:custGeom>
            <a:avLst/>
            <a:gdLst/>
            <a:ahLst/>
            <a:cxnLst/>
            <a:rect r="r" b="b" t="t" l="l"/>
            <a:pathLst>
              <a:path h="1525957" w="2334160">
                <a:moveTo>
                  <a:pt x="0" y="0"/>
                </a:moveTo>
                <a:lnTo>
                  <a:pt x="2334160" y="0"/>
                </a:lnTo>
                <a:lnTo>
                  <a:pt x="2334160" y="1525957"/>
                </a:lnTo>
                <a:lnTo>
                  <a:pt x="0" y="152595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961679" y="2488265"/>
            <a:ext cx="9326321" cy="150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0"/>
              </a:lnSpc>
            </a:pPr>
            <a:r>
              <a:rPr lang="en-US" sz="5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Desafío:</a:t>
            </a:r>
          </a:p>
          <a:p>
            <a:pPr algn="l" marL="0" indent="0" lvl="0">
              <a:lnSpc>
                <a:spcPts val="57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Sumo Mbot2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492727" y="5215608"/>
            <a:ext cx="6032587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800"/>
              </a:lnSpc>
            </a:pPr>
            <a:r>
              <a:rPr lang="en-US" sz="2000">
                <a:solidFill>
                  <a:srgbClr val="0D0C09"/>
                </a:solidFill>
                <a:latin typeface="Poppins"/>
                <a:ea typeface="Poppins"/>
                <a:cs typeface="Poppins"/>
                <a:sym typeface="Poppins"/>
              </a:rPr>
              <a:t>Lograr que el robot Mbot2 logre empujar un objeto fuera del ring sin que este salga de la línea negra.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492727" y="4904266"/>
            <a:ext cx="3938956" cy="331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622"/>
              </a:lnSpc>
              <a:spcBef>
                <a:spcPct val="0"/>
              </a:spcBef>
            </a:pPr>
            <a:r>
              <a:rPr lang="en-US" b="true" sz="23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OBJETIVO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706223" y="7482577"/>
            <a:ext cx="5178124" cy="1627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2622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Utilizando</a:t>
            </a:r>
            <a:r>
              <a:rPr lang="en-US" sz="23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materiales simples como cartulina blanco o lienzo, y delimitando el ring con cinta negra, más un objeto se puede generar el ring.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631600" y="1153252"/>
            <a:ext cx="5580854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280"/>
              </a:lnSpc>
              <a:spcBef>
                <a:spcPct val="0"/>
              </a:spcBef>
            </a:pPr>
            <a:r>
              <a:rPr lang="en-US" b="true" sz="2000">
                <a:solidFill>
                  <a:srgbClr val="E0E0E0"/>
                </a:solidFill>
                <a:latin typeface="DM Sans Bold"/>
                <a:ea typeface="DM Sans Bold"/>
                <a:cs typeface="DM Sans Bold"/>
                <a:sym typeface="DM Sans Bold"/>
              </a:rPr>
              <a:t>Estación 3: Sumo con Mbot2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96428" y="188648"/>
            <a:ext cx="1910158" cy="1910158"/>
          </a:xfrm>
          <a:custGeom>
            <a:avLst/>
            <a:gdLst/>
            <a:ahLst/>
            <a:cxnLst/>
            <a:rect r="r" b="b" t="t" l="l"/>
            <a:pathLst>
              <a:path h="1910158" w="1910158">
                <a:moveTo>
                  <a:pt x="0" y="0"/>
                </a:moveTo>
                <a:lnTo>
                  <a:pt x="1910158" y="0"/>
                </a:lnTo>
                <a:lnTo>
                  <a:pt x="1910158" y="1910158"/>
                </a:lnTo>
                <a:lnTo>
                  <a:pt x="0" y="19101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309930"/>
            <a:ext cx="1126590" cy="797582"/>
            <a:chOff x="0" y="0"/>
            <a:chExt cx="296715" cy="21006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6715" cy="210063"/>
            </a:xfrm>
            <a:custGeom>
              <a:avLst/>
              <a:gdLst/>
              <a:ahLst/>
              <a:cxnLst/>
              <a:rect r="r" b="b" t="t" l="l"/>
              <a:pathLst>
                <a:path h="210063" w="296715">
                  <a:moveTo>
                    <a:pt x="105031" y="0"/>
                  </a:moveTo>
                  <a:lnTo>
                    <a:pt x="191684" y="0"/>
                  </a:lnTo>
                  <a:cubicBezTo>
                    <a:pt x="219540" y="0"/>
                    <a:pt x="246255" y="11066"/>
                    <a:pt x="265952" y="30763"/>
                  </a:cubicBezTo>
                  <a:cubicBezTo>
                    <a:pt x="285649" y="50460"/>
                    <a:pt x="296715" y="77175"/>
                    <a:pt x="296715" y="105031"/>
                  </a:cubicBezTo>
                  <a:lnTo>
                    <a:pt x="296715" y="105031"/>
                  </a:lnTo>
                  <a:cubicBezTo>
                    <a:pt x="296715" y="132887"/>
                    <a:pt x="285649" y="159603"/>
                    <a:pt x="265952" y="179300"/>
                  </a:cubicBezTo>
                  <a:cubicBezTo>
                    <a:pt x="246255" y="198997"/>
                    <a:pt x="219540" y="210063"/>
                    <a:pt x="191684" y="210063"/>
                  </a:cubicBezTo>
                  <a:lnTo>
                    <a:pt x="105031" y="210063"/>
                  </a:lnTo>
                  <a:cubicBezTo>
                    <a:pt x="77175" y="210063"/>
                    <a:pt x="50460" y="198997"/>
                    <a:pt x="30763" y="179300"/>
                  </a:cubicBezTo>
                  <a:cubicBezTo>
                    <a:pt x="11066" y="159603"/>
                    <a:pt x="0" y="132887"/>
                    <a:pt x="0" y="105031"/>
                  </a:cubicBezTo>
                  <a:lnTo>
                    <a:pt x="0" y="105031"/>
                  </a:lnTo>
                  <a:cubicBezTo>
                    <a:pt x="0" y="77175"/>
                    <a:pt x="11066" y="50460"/>
                    <a:pt x="30763" y="30763"/>
                  </a:cubicBezTo>
                  <a:cubicBezTo>
                    <a:pt x="50460" y="11066"/>
                    <a:pt x="77175" y="0"/>
                    <a:pt x="105031" y="0"/>
                  </a:cubicBezTo>
                  <a:close/>
                </a:path>
              </a:pathLst>
            </a:custGeom>
            <a:solidFill>
              <a:srgbClr val="FFD3F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9525"/>
              <a:ext cx="296715" cy="200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155290" y="3336112"/>
            <a:ext cx="6428677" cy="6360352"/>
          </a:xfrm>
          <a:custGeom>
            <a:avLst/>
            <a:gdLst/>
            <a:ahLst/>
            <a:cxnLst/>
            <a:rect r="r" b="b" t="t" l="l"/>
            <a:pathLst>
              <a:path h="6360352" w="6428677">
                <a:moveTo>
                  <a:pt x="0" y="0"/>
                </a:moveTo>
                <a:lnTo>
                  <a:pt x="6428676" y="0"/>
                </a:lnTo>
                <a:lnTo>
                  <a:pt x="6428676" y="6360353"/>
                </a:lnTo>
                <a:lnTo>
                  <a:pt x="0" y="63603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17827" y="2308671"/>
            <a:ext cx="9092933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00"/>
              </a:lnSpc>
              <a:spcBef>
                <a:spcPct val="0"/>
              </a:spcBef>
            </a:pPr>
            <a:r>
              <a:rPr lang="en-US" b="true" sz="5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Parámetros de la Misión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117765" y="3705460"/>
            <a:ext cx="6739641" cy="1284698"/>
            <a:chOff x="0" y="0"/>
            <a:chExt cx="8986188" cy="171293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9525"/>
              <a:ext cx="6765646" cy="6115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19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Limite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848653"/>
              <a:ext cx="8986188" cy="8642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85"/>
                </a:lnSpc>
              </a:pPr>
              <a:r>
                <a:rPr lang="en-US" sz="2199">
                  <a:solidFill>
                    <a:srgbClr val="737373"/>
                  </a:solidFill>
                  <a:latin typeface="Poppins"/>
                  <a:ea typeface="Poppins"/>
                  <a:cs typeface="Poppins"/>
                  <a:sym typeface="Poppins"/>
                </a:rPr>
                <a:t>Anillo exterior de color negro. Es la zona de activación de retroceso del robot.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631600" y="1153252"/>
            <a:ext cx="5580854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280"/>
              </a:lnSpc>
              <a:spcBef>
                <a:spcPct val="0"/>
              </a:spcBef>
            </a:pPr>
            <a:r>
              <a:rPr lang="en-US" b="true" sz="2000">
                <a:solidFill>
                  <a:srgbClr val="E0E0E0"/>
                </a:solidFill>
                <a:latin typeface="DM Sans Bold"/>
                <a:ea typeface="DM Sans Bold"/>
                <a:cs typeface="DM Sans Bold"/>
                <a:sym typeface="DM Sans Bold"/>
              </a:rPr>
              <a:t>Estación 3: Sumo con Mbot2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117765" y="5599758"/>
            <a:ext cx="5074234" cy="461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19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Objetivo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117765" y="6245772"/>
            <a:ext cx="6739641" cy="962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2199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Elemeto liviano (caja pequeña, botella o un segundo mBot). Este elemento debe ser expulsado del ring.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117765" y="7827430"/>
            <a:ext cx="6739641" cy="1599023"/>
            <a:chOff x="0" y="0"/>
            <a:chExt cx="8986188" cy="2132030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9525"/>
              <a:ext cx="6765646" cy="6115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19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Robot Luchador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848653"/>
              <a:ext cx="8986188" cy="12833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85"/>
                </a:lnSpc>
              </a:pPr>
              <a:r>
                <a:rPr lang="en-US" sz="2199">
                  <a:solidFill>
                    <a:srgbClr val="737373"/>
                  </a:solidFill>
                  <a:latin typeface="Poppins"/>
                  <a:ea typeface="Poppins"/>
                  <a:cs typeface="Poppins"/>
                  <a:sym typeface="Poppins"/>
                </a:rPr>
                <a:t>Vehículo autónomo impulsado por la placa mbot2 Shield y el cerebro CyberPi. Operación 100% independiente tras el arranque.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1507" y="2161757"/>
            <a:ext cx="1126590" cy="797582"/>
            <a:chOff x="0" y="0"/>
            <a:chExt cx="296715" cy="2100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6715" cy="210063"/>
            </a:xfrm>
            <a:custGeom>
              <a:avLst/>
              <a:gdLst/>
              <a:ahLst/>
              <a:cxnLst/>
              <a:rect r="r" b="b" t="t" l="l"/>
              <a:pathLst>
                <a:path h="210063" w="296715">
                  <a:moveTo>
                    <a:pt x="105031" y="0"/>
                  </a:moveTo>
                  <a:lnTo>
                    <a:pt x="191684" y="0"/>
                  </a:lnTo>
                  <a:cubicBezTo>
                    <a:pt x="219540" y="0"/>
                    <a:pt x="246255" y="11066"/>
                    <a:pt x="265952" y="30763"/>
                  </a:cubicBezTo>
                  <a:cubicBezTo>
                    <a:pt x="285649" y="50460"/>
                    <a:pt x="296715" y="77175"/>
                    <a:pt x="296715" y="105031"/>
                  </a:cubicBezTo>
                  <a:lnTo>
                    <a:pt x="296715" y="105031"/>
                  </a:lnTo>
                  <a:cubicBezTo>
                    <a:pt x="296715" y="132887"/>
                    <a:pt x="285649" y="159603"/>
                    <a:pt x="265952" y="179300"/>
                  </a:cubicBezTo>
                  <a:cubicBezTo>
                    <a:pt x="246255" y="198997"/>
                    <a:pt x="219540" y="210063"/>
                    <a:pt x="191684" y="210063"/>
                  </a:cubicBezTo>
                  <a:lnTo>
                    <a:pt x="105031" y="210063"/>
                  </a:lnTo>
                  <a:cubicBezTo>
                    <a:pt x="77175" y="210063"/>
                    <a:pt x="50460" y="198997"/>
                    <a:pt x="30763" y="179300"/>
                  </a:cubicBezTo>
                  <a:cubicBezTo>
                    <a:pt x="11066" y="159603"/>
                    <a:pt x="0" y="132887"/>
                    <a:pt x="0" y="105031"/>
                  </a:cubicBezTo>
                  <a:lnTo>
                    <a:pt x="0" y="105031"/>
                  </a:lnTo>
                  <a:cubicBezTo>
                    <a:pt x="0" y="77175"/>
                    <a:pt x="11066" y="50460"/>
                    <a:pt x="30763" y="30763"/>
                  </a:cubicBezTo>
                  <a:cubicBezTo>
                    <a:pt x="50460" y="11066"/>
                    <a:pt x="77175" y="0"/>
                    <a:pt x="105031" y="0"/>
                  </a:cubicBezTo>
                  <a:close/>
                </a:path>
              </a:pathLst>
            </a:custGeom>
            <a:solidFill>
              <a:srgbClr val="FFD3F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296715" cy="200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96428" y="188648"/>
            <a:ext cx="1910158" cy="1910158"/>
          </a:xfrm>
          <a:custGeom>
            <a:avLst/>
            <a:gdLst/>
            <a:ahLst/>
            <a:cxnLst/>
            <a:rect r="r" b="b" t="t" l="l"/>
            <a:pathLst>
              <a:path h="1910158" w="1910158">
                <a:moveTo>
                  <a:pt x="0" y="0"/>
                </a:moveTo>
                <a:lnTo>
                  <a:pt x="1910158" y="0"/>
                </a:lnTo>
                <a:lnTo>
                  <a:pt x="1910158" y="1910158"/>
                </a:lnTo>
                <a:lnTo>
                  <a:pt x="0" y="19101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680994" y="5817068"/>
          <a:ext cx="14926011" cy="3758303"/>
        </p:xfrm>
        <a:graphic>
          <a:graphicData uri="http://schemas.openxmlformats.org/drawingml/2006/table">
            <a:tbl>
              <a:tblPr/>
              <a:tblGrid>
                <a:gridCol w="7463006"/>
                <a:gridCol w="7463006"/>
              </a:tblGrid>
              <a:tr h="168135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Ventaja Táctica</a:t>
                      </a:r>
                      <a:endParaRPr lang="en-US" sz="1100"/>
                    </a:p>
                    <a:p>
                      <a:pPr algn="just">
                        <a:lnSpc>
                          <a:spcPts val="3079"/>
                        </a:lnSpc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Ataque relámpago. Alcanza al objetivo antes de que pueda evadir.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C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b="true" sz="2199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Ventaja Táctica</a:t>
                      </a:r>
                      <a:endParaRPr lang="en-US" sz="1100"/>
                    </a:p>
                    <a:p>
                      <a:pPr algn="l">
                        <a:lnSpc>
                          <a:spcPts val="3079"/>
                        </a:lnSpc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Máximo control de bordes y tracción superior al empujar objetos más pesados.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</a:tr>
              <a:tr h="207695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Riesgo Crítico</a:t>
                      </a:r>
                      <a:endParaRPr lang="en-US" sz="1100"/>
                    </a:p>
                    <a:p>
                      <a:pPr algn="just">
                        <a:lnSpc>
                          <a:spcPts val="3079"/>
                        </a:lnSpc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Si la velocidad supera la frecuencia de actualización del sensor RGB, el robot saldrá disparado fuera del ring antes de poder frenar.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C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Riesgo Crítico</a:t>
                      </a:r>
                      <a:endParaRPr lang="en-US" sz="1100"/>
                    </a:p>
                    <a:p>
                      <a:pPr algn="l">
                        <a:lnSpc>
                          <a:spcPts val="3079"/>
                        </a:lnSpc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Lentitud de rotación. El objeto puede escapar del cono de visión del sensor ultrasónico durante la fase de búsqueda.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</a:tr>
            </a:tbl>
          </a:graphicData>
        </a:graphic>
      </p:graphicFrame>
      <p:sp>
        <p:nvSpPr>
          <p:cNvPr name="Freeform 7" id="7"/>
          <p:cNvSpPr/>
          <p:nvPr/>
        </p:nvSpPr>
        <p:spPr>
          <a:xfrm flipH="false" flipV="false" rot="0">
            <a:off x="4000049" y="3682187"/>
            <a:ext cx="2857098" cy="1517833"/>
          </a:xfrm>
          <a:custGeom>
            <a:avLst/>
            <a:gdLst/>
            <a:ahLst/>
            <a:cxnLst/>
            <a:rect r="r" b="b" t="t" l="l"/>
            <a:pathLst>
              <a:path h="1517833" w="2857098">
                <a:moveTo>
                  <a:pt x="0" y="0"/>
                </a:moveTo>
                <a:lnTo>
                  <a:pt x="2857098" y="0"/>
                </a:lnTo>
                <a:lnTo>
                  <a:pt x="2857098" y="1517833"/>
                </a:lnTo>
                <a:lnTo>
                  <a:pt x="0" y="1517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2966908">
            <a:off x="11859611" y="3683858"/>
            <a:ext cx="1758280" cy="1652783"/>
          </a:xfrm>
          <a:custGeom>
            <a:avLst/>
            <a:gdLst/>
            <a:ahLst/>
            <a:cxnLst/>
            <a:rect r="r" b="b" t="t" l="l"/>
            <a:pathLst>
              <a:path h="1652783" w="1758280">
                <a:moveTo>
                  <a:pt x="0" y="0"/>
                </a:moveTo>
                <a:lnTo>
                  <a:pt x="1758281" y="0"/>
                </a:lnTo>
                <a:lnTo>
                  <a:pt x="1758281" y="1652783"/>
                </a:lnTo>
                <a:lnTo>
                  <a:pt x="0" y="16527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75886" y="2075726"/>
            <a:ext cx="15301802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4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Ingeniería de Combate: El Dilema Físico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75886" y="3109570"/>
            <a:ext cx="14926011" cy="37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40"/>
              </a:lnSpc>
            </a:pPr>
            <a:r>
              <a:rPr lang="en-US" sz="20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La decisión de diseño central para las estudiantes: ¿Optimizar los motores para velocidad o para fuerza de empuje?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31600" y="1153252"/>
            <a:ext cx="5580854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280"/>
              </a:lnSpc>
              <a:spcBef>
                <a:spcPct val="0"/>
              </a:spcBef>
            </a:pPr>
            <a:r>
              <a:rPr lang="en-US" b="true" sz="2000">
                <a:solidFill>
                  <a:srgbClr val="E0E0E0"/>
                </a:solidFill>
                <a:latin typeface="DM Sans Bold"/>
                <a:ea typeface="DM Sans Bold"/>
                <a:cs typeface="DM Sans Bold"/>
                <a:sym typeface="DM Sans Bold"/>
              </a:rPr>
              <a:t>Estación 3: Sumo con Mbot2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104890" y="5198982"/>
            <a:ext cx="3332373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74"/>
              </a:lnSpc>
            </a:pP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ALTA VELOCIDAD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024868" y="5198982"/>
            <a:ext cx="521835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74"/>
              </a:lnSpc>
            </a:pP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ALTO TORQUE (FUERZA)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673" y="4166813"/>
            <a:ext cx="1126590" cy="797582"/>
            <a:chOff x="0" y="0"/>
            <a:chExt cx="296715" cy="2100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6715" cy="210063"/>
            </a:xfrm>
            <a:custGeom>
              <a:avLst/>
              <a:gdLst/>
              <a:ahLst/>
              <a:cxnLst/>
              <a:rect r="r" b="b" t="t" l="l"/>
              <a:pathLst>
                <a:path h="210063" w="296715">
                  <a:moveTo>
                    <a:pt x="105031" y="0"/>
                  </a:moveTo>
                  <a:lnTo>
                    <a:pt x="191684" y="0"/>
                  </a:lnTo>
                  <a:cubicBezTo>
                    <a:pt x="219540" y="0"/>
                    <a:pt x="246255" y="11066"/>
                    <a:pt x="265952" y="30763"/>
                  </a:cubicBezTo>
                  <a:cubicBezTo>
                    <a:pt x="285649" y="50460"/>
                    <a:pt x="296715" y="77175"/>
                    <a:pt x="296715" y="105031"/>
                  </a:cubicBezTo>
                  <a:lnTo>
                    <a:pt x="296715" y="105031"/>
                  </a:lnTo>
                  <a:cubicBezTo>
                    <a:pt x="296715" y="132887"/>
                    <a:pt x="285649" y="159603"/>
                    <a:pt x="265952" y="179300"/>
                  </a:cubicBezTo>
                  <a:cubicBezTo>
                    <a:pt x="246255" y="198997"/>
                    <a:pt x="219540" y="210063"/>
                    <a:pt x="191684" y="210063"/>
                  </a:cubicBezTo>
                  <a:lnTo>
                    <a:pt x="105031" y="210063"/>
                  </a:lnTo>
                  <a:cubicBezTo>
                    <a:pt x="77175" y="210063"/>
                    <a:pt x="50460" y="198997"/>
                    <a:pt x="30763" y="179300"/>
                  </a:cubicBezTo>
                  <a:cubicBezTo>
                    <a:pt x="11066" y="159603"/>
                    <a:pt x="0" y="132887"/>
                    <a:pt x="0" y="105031"/>
                  </a:cubicBezTo>
                  <a:lnTo>
                    <a:pt x="0" y="105031"/>
                  </a:lnTo>
                  <a:cubicBezTo>
                    <a:pt x="0" y="77175"/>
                    <a:pt x="11066" y="50460"/>
                    <a:pt x="30763" y="30763"/>
                  </a:cubicBezTo>
                  <a:cubicBezTo>
                    <a:pt x="50460" y="11066"/>
                    <a:pt x="77175" y="0"/>
                    <a:pt x="105031" y="0"/>
                  </a:cubicBezTo>
                  <a:close/>
                </a:path>
              </a:pathLst>
            </a:custGeom>
            <a:solidFill>
              <a:srgbClr val="FFD3F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296715" cy="200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96428" y="188648"/>
            <a:ext cx="1910158" cy="1910158"/>
          </a:xfrm>
          <a:custGeom>
            <a:avLst/>
            <a:gdLst/>
            <a:ahLst/>
            <a:cxnLst/>
            <a:rect r="r" b="b" t="t" l="l"/>
            <a:pathLst>
              <a:path h="1910158" w="1910158">
                <a:moveTo>
                  <a:pt x="0" y="0"/>
                </a:moveTo>
                <a:lnTo>
                  <a:pt x="1910158" y="0"/>
                </a:lnTo>
                <a:lnTo>
                  <a:pt x="1910158" y="1910158"/>
                </a:lnTo>
                <a:lnTo>
                  <a:pt x="0" y="19101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 flipH="true">
            <a:off x="11745240" y="2587135"/>
            <a:ext cx="0" cy="53288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7" id="7"/>
          <p:cNvGrpSpPr/>
          <p:nvPr/>
        </p:nvGrpSpPr>
        <p:grpSpPr>
          <a:xfrm rot="0">
            <a:off x="10202190" y="3120024"/>
            <a:ext cx="3086100" cy="1795173"/>
            <a:chOff x="0" y="0"/>
            <a:chExt cx="4114800" cy="2393564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4114800" cy="2393564"/>
              <a:chOff x="0" y="0"/>
              <a:chExt cx="647700" cy="376765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22997" y="10783"/>
                <a:ext cx="601707" cy="355199"/>
              </a:xfrm>
              <a:custGeom>
                <a:avLst/>
                <a:gdLst/>
                <a:ahLst/>
                <a:cxnLst/>
                <a:rect r="r" b="b" t="t" l="l"/>
                <a:pathLst>
                  <a:path h="355199" w="601707">
                    <a:moveTo>
                      <a:pt x="335413" y="9320"/>
                    </a:moveTo>
                    <a:lnTo>
                      <a:pt x="590143" y="157496"/>
                    </a:lnTo>
                    <a:cubicBezTo>
                      <a:pt x="597302" y="161660"/>
                      <a:pt x="601706" y="169317"/>
                      <a:pt x="601706" y="177599"/>
                    </a:cubicBezTo>
                    <a:cubicBezTo>
                      <a:pt x="601706" y="185881"/>
                      <a:pt x="597302" y="193538"/>
                      <a:pt x="590143" y="197703"/>
                    </a:cubicBezTo>
                    <a:lnTo>
                      <a:pt x="335413" y="345878"/>
                    </a:lnTo>
                    <a:cubicBezTo>
                      <a:pt x="314049" y="358306"/>
                      <a:pt x="287657" y="358306"/>
                      <a:pt x="266293" y="345878"/>
                    </a:cubicBezTo>
                    <a:lnTo>
                      <a:pt x="11563" y="197703"/>
                    </a:lnTo>
                    <a:cubicBezTo>
                      <a:pt x="4404" y="193538"/>
                      <a:pt x="0" y="185881"/>
                      <a:pt x="0" y="177599"/>
                    </a:cubicBezTo>
                    <a:cubicBezTo>
                      <a:pt x="0" y="169317"/>
                      <a:pt x="4404" y="161660"/>
                      <a:pt x="11563" y="157496"/>
                    </a:cubicBezTo>
                    <a:lnTo>
                      <a:pt x="266293" y="9320"/>
                    </a:lnTo>
                    <a:cubicBezTo>
                      <a:pt x="287657" y="-3107"/>
                      <a:pt x="314049" y="-3107"/>
                      <a:pt x="335413" y="9320"/>
                    </a:cubicBezTo>
                    <a:close/>
                  </a:path>
                </a:pathLst>
              </a:custGeom>
              <a:solidFill>
                <a:srgbClr val="DECDFF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152400" y="92229"/>
                <a:ext cx="342900" cy="20183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80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761639" y="796097"/>
              <a:ext cx="2591522" cy="7918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1">
                <a:lnSpc>
                  <a:spcPts val="228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¿Borde Negro Detectado?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20066" y="5224769"/>
            <a:ext cx="3050348" cy="1753416"/>
            <a:chOff x="0" y="0"/>
            <a:chExt cx="4067130" cy="2337888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4067130" cy="2337888"/>
              <a:chOff x="0" y="0"/>
              <a:chExt cx="647700" cy="372314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23405" y="10797"/>
                <a:ext cx="600890" cy="350719"/>
              </a:xfrm>
              <a:custGeom>
                <a:avLst/>
                <a:gdLst/>
                <a:ahLst/>
                <a:cxnLst/>
                <a:rect r="r" b="b" t="t" l="l"/>
                <a:pathLst>
                  <a:path h="350719" w="600890">
                    <a:moveTo>
                      <a:pt x="335514" y="9362"/>
                    </a:moveTo>
                    <a:lnTo>
                      <a:pt x="589226" y="155202"/>
                    </a:lnTo>
                    <a:cubicBezTo>
                      <a:pt x="596442" y="159349"/>
                      <a:pt x="600890" y="167037"/>
                      <a:pt x="600890" y="175360"/>
                    </a:cubicBezTo>
                    <a:cubicBezTo>
                      <a:pt x="600890" y="183683"/>
                      <a:pt x="596442" y="191371"/>
                      <a:pt x="589226" y="195519"/>
                    </a:cubicBezTo>
                    <a:lnTo>
                      <a:pt x="335514" y="341359"/>
                    </a:lnTo>
                    <a:cubicBezTo>
                      <a:pt x="313801" y="353840"/>
                      <a:pt x="287089" y="353840"/>
                      <a:pt x="265376" y="341359"/>
                    </a:cubicBezTo>
                    <a:lnTo>
                      <a:pt x="11664" y="195519"/>
                    </a:lnTo>
                    <a:cubicBezTo>
                      <a:pt x="4448" y="191371"/>
                      <a:pt x="0" y="183683"/>
                      <a:pt x="0" y="175360"/>
                    </a:cubicBezTo>
                    <a:cubicBezTo>
                      <a:pt x="0" y="167037"/>
                      <a:pt x="4448" y="159349"/>
                      <a:pt x="11664" y="155202"/>
                    </a:cubicBezTo>
                    <a:lnTo>
                      <a:pt x="265376" y="9362"/>
                    </a:lnTo>
                    <a:cubicBezTo>
                      <a:pt x="287089" y="-3120"/>
                      <a:pt x="313801" y="-3120"/>
                      <a:pt x="335514" y="9362"/>
                    </a:cubicBezTo>
                    <a:close/>
                  </a:path>
                </a:pathLst>
              </a:custGeom>
              <a:solidFill>
                <a:srgbClr val="DECDF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152400" y="91253"/>
                <a:ext cx="342900" cy="199334"/>
              </a:xfrm>
              <a:prstGeom prst="rect">
                <a:avLst/>
              </a:prstGeom>
            </p:spPr>
            <p:txBody>
              <a:bodyPr anchor="ctr" rtlCol="false" tIns="50211" lIns="50211" bIns="50211" rIns="50211"/>
              <a:lstStyle/>
              <a:p>
                <a:pPr algn="ctr">
                  <a:lnSpc>
                    <a:spcPts val="2280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591419" y="961084"/>
              <a:ext cx="2884292" cy="406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1">
                <a:lnSpc>
                  <a:spcPts val="2253"/>
                </a:lnSpc>
                <a:spcBef>
                  <a:spcPct val="0"/>
                </a:spcBef>
              </a:pPr>
              <a:r>
                <a:rPr lang="en-US" b="true" sz="1976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¿Distancia &lt; 20?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476305" y="1755902"/>
            <a:ext cx="4537871" cy="831233"/>
            <a:chOff x="0" y="0"/>
            <a:chExt cx="933718" cy="17103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33718" cy="171036"/>
            </a:xfrm>
            <a:custGeom>
              <a:avLst/>
              <a:gdLst/>
              <a:ahLst/>
              <a:cxnLst/>
              <a:rect r="r" b="b" t="t" l="l"/>
              <a:pathLst>
                <a:path h="171036" w="933718">
                  <a:moveTo>
                    <a:pt x="33322" y="0"/>
                  </a:moveTo>
                  <a:lnTo>
                    <a:pt x="900397" y="0"/>
                  </a:lnTo>
                  <a:cubicBezTo>
                    <a:pt x="918800" y="0"/>
                    <a:pt x="933718" y="14919"/>
                    <a:pt x="933718" y="33322"/>
                  </a:cubicBezTo>
                  <a:lnTo>
                    <a:pt x="933718" y="137714"/>
                  </a:lnTo>
                  <a:cubicBezTo>
                    <a:pt x="933718" y="146551"/>
                    <a:pt x="930208" y="155027"/>
                    <a:pt x="923959" y="161276"/>
                  </a:cubicBezTo>
                  <a:cubicBezTo>
                    <a:pt x="917709" y="167525"/>
                    <a:pt x="909234" y="171036"/>
                    <a:pt x="900397" y="171036"/>
                  </a:cubicBezTo>
                  <a:lnTo>
                    <a:pt x="33322" y="171036"/>
                  </a:lnTo>
                  <a:cubicBezTo>
                    <a:pt x="24484" y="171036"/>
                    <a:pt x="16009" y="167525"/>
                    <a:pt x="9760" y="161276"/>
                  </a:cubicBezTo>
                  <a:cubicBezTo>
                    <a:pt x="3511" y="155027"/>
                    <a:pt x="0" y="146551"/>
                    <a:pt x="0" y="137714"/>
                  </a:cubicBezTo>
                  <a:lnTo>
                    <a:pt x="0" y="33322"/>
                  </a:lnTo>
                  <a:cubicBezTo>
                    <a:pt x="0" y="24484"/>
                    <a:pt x="3511" y="16009"/>
                    <a:pt x="9760" y="9760"/>
                  </a:cubicBezTo>
                  <a:cubicBezTo>
                    <a:pt x="16009" y="3511"/>
                    <a:pt x="24484" y="0"/>
                    <a:pt x="33322" y="0"/>
                  </a:cubicBezTo>
                  <a:close/>
                </a:path>
              </a:pathLst>
            </a:custGeom>
            <a:solidFill>
              <a:srgbClr val="DECD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9525"/>
              <a:ext cx="933718" cy="1615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  <a:r>
                <a:rPr lang="en-US" b="true" sz="2000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LEER SENSORES:</a:t>
              </a:r>
              <a:r>
                <a:rPr lang="en-US" sz="20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DISTANCIA, LINEA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330634" y="717518"/>
            <a:ext cx="2777503" cy="622363"/>
            <a:chOff x="0" y="0"/>
            <a:chExt cx="812800" cy="18212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182127"/>
            </a:xfrm>
            <a:custGeom>
              <a:avLst/>
              <a:gdLst/>
              <a:ahLst/>
              <a:cxnLst/>
              <a:rect r="r" b="b" t="t" l="l"/>
              <a:pathLst>
                <a:path h="182127" w="812800">
                  <a:moveTo>
                    <a:pt x="609600" y="0"/>
                  </a:moveTo>
                  <a:cubicBezTo>
                    <a:pt x="721824" y="0"/>
                    <a:pt x="812800" y="40770"/>
                    <a:pt x="812800" y="91063"/>
                  </a:cubicBezTo>
                  <a:cubicBezTo>
                    <a:pt x="812800" y="141356"/>
                    <a:pt x="721824" y="182127"/>
                    <a:pt x="609600" y="182127"/>
                  </a:cubicBezTo>
                  <a:lnTo>
                    <a:pt x="203200" y="182127"/>
                  </a:lnTo>
                  <a:cubicBezTo>
                    <a:pt x="90976" y="182127"/>
                    <a:pt x="0" y="141356"/>
                    <a:pt x="0" y="91063"/>
                  </a:cubicBezTo>
                  <a:cubicBezTo>
                    <a:pt x="0" y="4077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922AD2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9525"/>
              <a:ext cx="812800" cy="1726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  <a:r>
                <a:rPr lang="en-US" b="true" sz="2000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INICIO DEL CICLO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51493" y="3989035"/>
            <a:ext cx="6186437" cy="2674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40"/>
              </a:lnSpc>
            </a:pPr>
            <a:r>
              <a:rPr lang="en-US" sz="6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Arquitectura </a:t>
            </a:r>
          </a:p>
          <a:p>
            <a:pPr algn="l">
              <a:lnSpc>
                <a:spcPts val="6840"/>
              </a:lnSpc>
            </a:pPr>
            <a:r>
              <a:rPr lang="en-US" sz="6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Principal</a:t>
            </a:r>
          </a:p>
          <a:p>
            <a:pPr algn="l" marL="0" indent="0" lvl="0">
              <a:lnSpc>
                <a:spcPts val="684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Bucle en Python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693861" y="3211483"/>
            <a:ext cx="1550984" cy="461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41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SÍ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0378008" y="9398729"/>
            <a:ext cx="2777503" cy="622363"/>
            <a:chOff x="0" y="0"/>
            <a:chExt cx="812800" cy="18212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182127"/>
            </a:xfrm>
            <a:custGeom>
              <a:avLst/>
              <a:gdLst/>
              <a:ahLst/>
              <a:cxnLst/>
              <a:rect r="r" b="b" t="t" l="l"/>
              <a:pathLst>
                <a:path h="182127" w="812800">
                  <a:moveTo>
                    <a:pt x="609600" y="0"/>
                  </a:moveTo>
                  <a:cubicBezTo>
                    <a:pt x="721824" y="0"/>
                    <a:pt x="812800" y="40770"/>
                    <a:pt x="812800" y="91063"/>
                  </a:cubicBezTo>
                  <a:cubicBezTo>
                    <a:pt x="812800" y="141356"/>
                    <a:pt x="721824" y="182127"/>
                    <a:pt x="609600" y="182127"/>
                  </a:cubicBezTo>
                  <a:lnTo>
                    <a:pt x="203200" y="182127"/>
                  </a:lnTo>
                  <a:cubicBezTo>
                    <a:pt x="90976" y="182127"/>
                    <a:pt x="0" y="141356"/>
                    <a:pt x="0" y="91063"/>
                  </a:cubicBezTo>
                  <a:cubicBezTo>
                    <a:pt x="0" y="4077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922AD2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9525"/>
              <a:ext cx="812800" cy="1726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  <a:r>
                <a:rPr lang="en-US" b="true" sz="2000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FIN DEL CICLO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4244845" y="3595954"/>
            <a:ext cx="3132489" cy="831233"/>
            <a:chOff x="0" y="0"/>
            <a:chExt cx="644545" cy="17103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44545" cy="171036"/>
            </a:xfrm>
            <a:custGeom>
              <a:avLst/>
              <a:gdLst/>
              <a:ahLst/>
              <a:cxnLst/>
              <a:rect r="r" b="b" t="t" l="l"/>
              <a:pathLst>
                <a:path h="171036" w="644545">
                  <a:moveTo>
                    <a:pt x="48271" y="0"/>
                  </a:moveTo>
                  <a:lnTo>
                    <a:pt x="596274" y="0"/>
                  </a:lnTo>
                  <a:cubicBezTo>
                    <a:pt x="609076" y="0"/>
                    <a:pt x="621354" y="5086"/>
                    <a:pt x="630407" y="14138"/>
                  </a:cubicBezTo>
                  <a:cubicBezTo>
                    <a:pt x="639459" y="23191"/>
                    <a:pt x="644545" y="35469"/>
                    <a:pt x="644545" y="48271"/>
                  </a:cubicBezTo>
                  <a:lnTo>
                    <a:pt x="644545" y="122764"/>
                  </a:lnTo>
                  <a:cubicBezTo>
                    <a:pt x="644545" y="149424"/>
                    <a:pt x="622933" y="171036"/>
                    <a:pt x="596274" y="171036"/>
                  </a:cubicBezTo>
                  <a:lnTo>
                    <a:pt x="48271" y="171036"/>
                  </a:lnTo>
                  <a:cubicBezTo>
                    <a:pt x="35469" y="171036"/>
                    <a:pt x="23191" y="165950"/>
                    <a:pt x="14138" y="156897"/>
                  </a:cubicBezTo>
                  <a:cubicBezTo>
                    <a:pt x="5086" y="147845"/>
                    <a:pt x="0" y="135567"/>
                    <a:pt x="0" y="122764"/>
                  </a:cubicBezTo>
                  <a:lnTo>
                    <a:pt x="0" y="48271"/>
                  </a:lnTo>
                  <a:cubicBezTo>
                    <a:pt x="0" y="35469"/>
                    <a:pt x="5086" y="23191"/>
                    <a:pt x="14138" y="14138"/>
                  </a:cubicBezTo>
                  <a:cubicBezTo>
                    <a:pt x="23191" y="5086"/>
                    <a:pt x="35469" y="0"/>
                    <a:pt x="48271" y="0"/>
                  </a:cubicBezTo>
                  <a:close/>
                </a:path>
              </a:pathLst>
            </a:custGeom>
            <a:solidFill>
              <a:srgbClr val="FFD2CD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9525"/>
              <a:ext cx="644545" cy="1615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  <a:r>
                <a:rPr lang="en-US" b="true" sz="2000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RUTINA DE EVASIÓN</a:t>
              </a:r>
            </a:p>
          </p:txBody>
        </p:sp>
      </p:grpSp>
      <p:sp>
        <p:nvSpPr>
          <p:cNvPr name="AutoShape 31" id="31"/>
          <p:cNvSpPr/>
          <p:nvPr/>
        </p:nvSpPr>
        <p:spPr>
          <a:xfrm flipV="true">
            <a:off x="13288290" y="4011570"/>
            <a:ext cx="956555" cy="604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2" id="32"/>
          <p:cNvSpPr/>
          <p:nvPr/>
        </p:nvSpPr>
        <p:spPr>
          <a:xfrm>
            <a:off x="11745240" y="4915197"/>
            <a:ext cx="0" cy="30957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3" id="33"/>
          <p:cNvGrpSpPr/>
          <p:nvPr/>
        </p:nvGrpSpPr>
        <p:grpSpPr>
          <a:xfrm rot="0">
            <a:off x="9476305" y="7349660"/>
            <a:ext cx="4537871" cy="610794"/>
            <a:chOff x="0" y="0"/>
            <a:chExt cx="933718" cy="12567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33718" cy="125678"/>
            </a:xfrm>
            <a:custGeom>
              <a:avLst/>
              <a:gdLst/>
              <a:ahLst/>
              <a:cxnLst/>
              <a:rect r="r" b="b" t="t" l="l"/>
              <a:pathLst>
                <a:path h="125678" w="933718">
                  <a:moveTo>
                    <a:pt x="33322" y="0"/>
                  </a:moveTo>
                  <a:lnTo>
                    <a:pt x="900397" y="0"/>
                  </a:lnTo>
                  <a:cubicBezTo>
                    <a:pt x="918800" y="0"/>
                    <a:pt x="933718" y="14919"/>
                    <a:pt x="933718" y="33322"/>
                  </a:cubicBezTo>
                  <a:lnTo>
                    <a:pt x="933718" y="92356"/>
                  </a:lnTo>
                  <a:cubicBezTo>
                    <a:pt x="933718" y="101194"/>
                    <a:pt x="930208" y="109669"/>
                    <a:pt x="923959" y="115918"/>
                  </a:cubicBezTo>
                  <a:cubicBezTo>
                    <a:pt x="917709" y="122167"/>
                    <a:pt x="909234" y="125678"/>
                    <a:pt x="900397" y="125678"/>
                  </a:cubicBezTo>
                  <a:lnTo>
                    <a:pt x="33322" y="125678"/>
                  </a:lnTo>
                  <a:cubicBezTo>
                    <a:pt x="24484" y="125678"/>
                    <a:pt x="16009" y="122167"/>
                    <a:pt x="9760" y="115918"/>
                  </a:cubicBezTo>
                  <a:cubicBezTo>
                    <a:pt x="3511" y="109669"/>
                    <a:pt x="0" y="101194"/>
                    <a:pt x="0" y="92356"/>
                  </a:cubicBezTo>
                  <a:lnTo>
                    <a:pt x="0" y="33322"/>
                  </a:lnTo>
                  <a:cubicBezTo>
                    <a:pt x="0" y="24484"/>
                    <a:pt x="3511" y="16009"/>
                    <a:pt x="9760" y="9760"/>
                  </a:cubicBezTo>
                  <a:cubicBezTo>
                    <a:pt x="16009" y="3511"/>
                    <a:pt x="24484" y="0"/>
                    <a:pt x="33322" y="0"/>
                  </a:cubicBezTo>
                  <a:close/>
                </a:path>
              </a:pathLst>
            </a:custGeom>
            <a:solidFill>
              <a:srgbClr val="65FF51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9525"/>
              <a:ext cx="933718" cy="1161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  <a:r>
                <a:rPr lang="en-US" b="true" sz="2000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MODO BÚSQUEDA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2693861" y="5365739"/>
            <a:ext cx="1550984" cy="461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41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SÍ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4244845" y="5685860"/>
            <a:ext cx="3132489" cy="831233"/>
            <a:chOff x="0" y="0"/>
            <a:chExt cx="644545" cy="17103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44545" cy="171036"/>
            </a:xfrm>
            <a:custGeom>
              <a:avLst/>
              <a:gdLst/>
              <a:ahLst/>
              <a:cxnLst/>
              <a:rect r="r" b="b" t="t" l="l"/>
              <a:pathLst>
                <a:path h="171036" w="644545">
                  <a:moveTo>
                    <a:pt x="48271" y="0"/>
                  </a:moveTo>
                  <a:lnTo>
                    <a:pt x="596274" y="0"/>
                  </a:lnTo>
                  <a:cubicBezTo>
                    <a:pt x="609076" y="0"/>
                    <a:pt x="621354" y="5086"/>
                    <a:pt x="630407" y="14138"/>
                  </a:cubicBezTo>
                  <a:cubicBezTo>
                    <a:pt x="639459" y="23191"/>
                    <a:pt x="644545" y="35469"/>
                    <a:pt x="644545" y="48271"/>
                  </a:cubicBezTo>
                  <a:lnTo>
                    <a:pt x="644545" y="122764"/>
                  </a:lnTo>
                  <a:cubicBezTo>
                    <a:pt x="644545" y="149424"/>
                    <a:pt x="622933" y="171036"/>
                    <a:pt x="596274" y="171036"/>
                  </a:cubicBezTo>
                  <a:lnTo>
                    <a:pt x="48271" y="171036"/>
                  </a:lnTo>
                  <a:cubicBezTo>
                    <a:pt x="35469" y="171036"/>
                    <a:pt x="23191" y="165950"/>
                    <a:pt x="14138" y="156897"/>
                  </a:cubicBezTo>
                  <a:cubicBezTo>
                    <a:pt x="5086" y="147845"/>
                    <a:pt x="0" y="135567"/>
                    <a:pt x="0" y="122764"/>
                  </a:cubicBezTo>
                  <a:lnTo>
                    <a:pt x="0" y="48271"/>
                  </a:lnTo>
                  <a:cubicBezTo>
                    <a:pt x="0" y="35469"/>
                    <a:pt x="5086" y="23191"/>
                    <a:pt x="14138" y="14138"/>
                  </a:cubicBezTo>
                  <a:cubicBezTo>
                    <a:pt x="23191" y="5086"/>
                    <a:pt x="35469" y="0"/>
                    <a:pt x="48271" y="0"/>
                  </a:cubicBezTo>
                  <a:close/>
                </a:path>
              </a:pathLst>
            </a:custGeom>
            <a:solidFill>
              <a:srgbClr val="F4B526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9525"/>
              <a:ext cx="644545" cy="1615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  <a:r>
                <a:rPr lang="en-US" b="true" sz="2000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RUTINA DE EMPUJE</a:t>
              </a:r>
            </a:p>
          </p:txBody>
        </p:sp>
      </p:grpSp>
      <p:sp>
        <p:nvSpPr>
          <p:cNvPr name="AutoShape 40" id="40"/>
          <p:cNvSpPr/>
          <p:nvPr/>
        </p:nvSpPr>
        <p:spPr>
          <a:xfrm>
            <a:off x="13270414" y="6101477"/>
            <a:ext cx="97443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1" id="41"/>
          <p:cNvSpPr/>
          <p:nvPr/>
        </p:nvSpPr>
        <p:spPr>
          <a:xfrm>
            <a:off x="11719385" y="1339882"/>
            <a:ext cx="12934" cy="41602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42" id="42"/>
          <p:cNvGrpSpPr/>
          <p:nvPr/>
        </p:nvGrpSpPr>
        <p:grpSpPr>
          <a:xfrm rot="0">
            <a:off x="9526992" y="8284304"/>
            <a:ext cx="4436496" cy="831233"/>
            <a:chOff x="0" y="0"/>
            <a:chExt cx="912859" cy="17103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12859" cy="171036"/>
            </a:xfrm>
            <a:custGeom>
              <a:avLst/>
              <a:gdLst/>
              <a:ahLst/>
              <a:cxnLst/>
              <a:rect r="r" b="b" t="t" l="l"/>
              <a:pathLst>
                <a:path h="171036" w="912859">
                  <a:moveTo>
                    <a:pt x="34083" y="0"/>
                  </a:moveTo>
                  <a:lnTo>
                    <a:pt x="878776" y="0"/>
                  </a:lnTo>
                  <a:cubicBezTo>
                    <a:pt x="887816" y="0"/>
                    <a:pt x="896485" y="3591"/>
                    <a:pt x="902877" y="9983"/>
                  </a:cubicBezTo>
                  <a:cubicBezTo>
                    <a:pt x="909268" y="16375"/>
                    <a:pt x="912859" y="25044"/>
                    <a:pt x="912859" y="34083"/>
                  </a:cubicBezTo>
                  <a:lnTo>
                    <a:pt x="912859" y="136953"/>
                  </a:lnTo>
                  <a:cubicBezTo>
                    <a:pt x="912859" y="155776"/>
                    <a:pt x="897600" y="171036"/>
                    <a:pt x="878776" y="171036"/>
                  </a:cubicBezTo>
                  <a:lnTo>
                    <a:pt x="34083" y="171036"/>
                  </a:lnTo>
                  <a:cubicBezTo>
                    <a:pt x="25044" y="171036"/>
                    <a:pt x="16375" y="167445"/>
                    <a:pt x="9983" y="161053"/>
                  </a:cubicBezTo>
                  <a:cubicBezTo>
                    <a:pt x="3591" y="154661"/>
                    <a:pt x="0" y="145992"/>
                    <a:pt x="0" y="136953"/>
                  </a:cubicBezTo>
                  <a:lnTo>
                    <a:pt x="0" y="34083"/>
                  </a:lnTo>
                  <a:cubicBezTo>
                    <a:pt x="0" y="25044"/>
                    <a:pt x="3591" y="16375"/>
                    <a:pt x="9983" y="9983"/>
                  </a:cubicBezTo>
                  <a:cubicBezTo>
                    <a:pt x="16375" y="3591"/>
                    <a:pt x="25044" y="0"/>
                    <a:pt x="34083" y="0"/>
                  </a:cubicBezTo>
                  <a:close/>
                </a:path>
              </a:pathLst>
            </a:custGeom>
            <a:solidFill>
              <a:srgbClr val="DECDFF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9525"/>
              <a:ext cx="912859" cy="1615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  <a:r>
                <a:rPr lang="en-US" sz="20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CONTADOR += 1</a:t>
              </a:r>
            </a:p>
          </p:txBody>
        </p:sp>
      </p:grpSp>
      <p:sp>
        <p:nvSpPr>
          <p:cNvPr name="AutoShape 45" id="45"/>
          <p:cNvSpPr/>
          <p:nvPr/>
        </p:nvSpPr>
        <p:spPr>
          <a:xfrm>
            <a:off x="11745240" y="6978185"/>
            <a:ext cx="0" cy="37147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6" id="46"/>
          <p:cNvSpPr/>
          <p:nvPr/>
        </p:nvSpPr>
        <p:spPr>
          <a:xfrm>
            <a:off x="11745240" y="7960454"/>
            <a:ext cx="0" cy="3238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47" id="47"/>
          <p:cNvSpPr txBox="true"/>
          <p:nvPr/>
        </p:nvSpPr>
        <p:spPr>
          <a:xfrm rot="0">
            <a:off x="9956063" y="6742917"/>
            <a:ext cx="1550984" cy="461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41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NO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956063" y="4853157"/>
            <a:ext cx="1550984" cy="461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41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NO</a:t>
            </a:r>
          </a:p>
        </p:txBody>
      </p:sp>
      <p:sp>
        <p:nvSpPr>
          <p:cNvPr name="AutoShape 49" id="49"/>
          <p:cNvSpPr/>
          <p:nvPr/>
        </p:nvSpPr>
        <p:spPr>
          <a:xfrm>
            <a:off x="11745240" y="9115537"/>
            <a:ext cx="10253" cy="28319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50" id="50"/>
          <p:cNvSpPr/>
          <p:nvPr/>
        </p:nvSpPr>
        <p:spPr>
          <a:xfrm>
            <a:off x="14072073" y="6517093"/>
            <a:ext cx="1739016" cy="2246194"/>
          </a:xfrm>
          <a:custGeom>
            <a:avLst/>
            <a:gdLst/>
            <a:ahLst/>
            <a:cxnLst/>
            <a:rect r="r" b="b" t="t" l="l"/>
            <a:pathLst>
              <a:path h="2246194" w="1739016">
                <a:moveTo>
                  <a:pt x="1739016" y="0"/>
                </a:moveTo>
                <a:lnTo>
                  <a:pt x="1739016" y="894497"/>
                </a:lnTo>
                <a:cubicBezTo>
                  <a:pt x="1739016" y="1020749"/>
                  <a:pt x="1636669" y="1123097"/>
                  <a:pt x="1510416" y="1123097"/>
                </a:cubicBezTo>
                <a:lnTo>
                  <a:pt x="228600" y="1123097"/>
                </a:lnTo>
                <a:cubicBezTo>
                  <a:pt x="102347" y="1123097"/>
                  <a:pt x="0" y="1225445"/>
                  <a:pt x="0" y="1351697"/>
                </a:cubicBezTo>
                <a:lnTo>
                  <a:pt x="0" y="2246194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51" id="51"/>
          <p:cNvSpPr/>
          <p:nvPr/>
        </p:nvSpPr>
        <p:spPr>
          <a:xfrm>
            <a:off x="9448298" y="6074475"/>
            <a:ext cx="955235" cy="1580581"/>
          </a:xfrm>
          <a:custGeom>
            <a:avLst/>
            <a:gdLst/>
            <a:ahLst/>
            <a:cxnLst/>
            <a:rect r="r" b="b" t="t" l="l"/>
            <a:pathLst>
              <a:path h="1580581" w="955235">
                <a:moveTo>
                  <a:pt x="0" y="1580582"/>
                </a:moveTo>
                <a:lnTo>
                  <a:pt x="0" y="1018891"/>
                </a:lnTo>
                <a:cubicBezTo>
                  <a:pt x="0" y="892639"/>
                  <a:pt x="102348" y="790291"/>
                  <a:pt x="228600" y="790291"/>
                </a:cubicBezTo>
                <a:lnTo>
                  <a:pt x="726635" y="790291"/>
                </a:lnTo>
                <a:cubicBezTo>
                  <a:pt x="787264" y="790291"/>
                  <a:pt x="845409" y="766207"/>
                  <a:pt x="888280" y="723336"/>
                </a:cubicBezTo>
                <a:cubicBezTo>
                  <a:pt x="931151" y="680465"/>
                  <a:pt x="955235" y="622320"/>
                  <a:pt x="955235" y="561691"/>
                </a:cubicBezTo>
                <a:lnTo>
                  <a:pt x="955235" y="0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52" id="52"/>
          <p:cNvSpPr txBox="true"/>
          <p:nvPr/>
        </p:nvSpPr>
        <p:spPr>
          <a:xfrm rot="0">
            <a:off x="0" y="3080038"/>
            <a:ext cx="5580854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280"/>
              </a:lnSpc>
              <a:spcBef>
                <a:spcPct val="0"/>
              </a:spcBef>
            </a:pPr>
            <a:r>
              <a:rPr lang="en-US" b="true" sz="2000">
                <a:solidFill>
                  <a:srgbClr val="E0E0E0"/>
                </a:solidFill>
                <a:latin typeface="DM Sans Bold"/>
                <a:ea typeface="DM Sans Bold"/>
                <a:cs typeface="DM Sans Bold"/>
                <a:sym typeface="DM Sans Bold"/>
              </a:rPr>
              <a:t>Estación 3: Sumo con Mbot2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2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890760" y="-1161446"/>
            <a:ext cx="9564533" cy="9606157"/>
            <a:chOff x="0" y="0"/>
            <a:chExt cx="809278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09278" cy="812800"/>
            </a:xfrm>
            <a:custGeom>
              <a:avLst/>
              <a:gdLst/>
              <a:ahLst/>
              <a:cxnLst/>
              <a:rect r="r" b="b" t="t" l="l"/>
              <a:pathLst>
                <a:path h="812800" w="809278">
                  <a:moveTo>
                    <a:pt x="404639" y="0"/>
                  </a:moveTo>
                  <a:cubicBezTo>
                    <a:pt x="181163" y="0"/>
                    <a:pt x="0" y="181951"/>
                    <a:pt x="0" y="406400"/>
                  </a:cubicBezTo>
                  <a:cubicBezTo>
                    <a:pt x="0" y="630849"/>
                    <a:pt x="181163" y="812800"/>
                    <a:pt x="404639" y="812800"/>
                  </a:cubicBezTo>
                  <a:cubicBezTo>
                    <a:pt x="628115" y="812800"/>
                    <a:pt x="809278" y="630849"/>
                    <a:pt x="809278" y="406400"/>
                  </a:cubicBezTo>
                  <a:cubicBezTo>
                    <a:pt x="809278" y="181951"/>
                    <a:pt x="628115" y="0"/>
                    <a:pt x="40463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5870" y="85725"/>
              <a:ext cx="657538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11874" y="1204892"/>
            <a:ext cx="255229" cy="178660"/>
          </a:xfrm>
          <a:custGeom>
            <a:avLst/>
            <a:gdLst/>
            <a:ahLst/>
            <a:cxnLst/>
            <a:rect r="r" b="b" t="t" l="l"/>
            <a:pathLst>
              <a:path h="178660" w="255229">
                <a:moveTo>
                  <a:pt x="0" y="0"/>
                </a:moveTo>
                <a:lnTo>
                  <a:pt x="255229" y="0"/>
                </a:lnTo>
                <a:lnTo>
                  <a:pt x="255229" y="178660"/>
                </a:lnTo>
                <a:lnTo>
                  <a:pt x="0" y="1786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4701390" y="7625700"/>
            <a:ext cx="5636433" cy="5660962"/>
            <a:chOff x="0" y="0"/>
            <a:chExt cx="809278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09278" cy="812800"/>
            </a:xfrm>
            <a:custGeom>
              <a:avLst/>
              <a:gdLst/>
              <a:ahLst/>
              <a:cxnLst/>
              <a:rect r="r" b="b" t="t" l="l"/>
              <a:pathLst>
                <a:path h="812800" w="809278">
                  <a:moveTo>
                    <a:pt x="404639" y="0"/>
                  </a:moveTo>
                  <a:cubicBezTo>
                    <a:pt x="181163" y="0"/>
                    <a:pt x="0" y="181951"/>
                    <a:pt x="0" y="406400"/>
                  </a:cubicBezTo>
                  <a:cubicBezTo>
                    <a:pt x="0" y="630849"/>
                    <a:pt x="181163" y="812800"/>
                    <a:pt x="404639" y="812800"/>
                  </a:cubicBezTo>
                  <a:cubicBezTo>
                    <a:pt x="628115" y="812800"/>
                    <a:pt x="809278" y="630849"/>
                    <a:pt x="809278" y="406400"/>
                  </a:cubicBezTo>
                  <a:cubicBezTo>
                    <a:pt x="809278" y="181951"/>
                    <a:pt x="628115" y="0"/>
                    <a:pt x="40463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5870" y="85725"/>
              <a:ext cx="657538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271312" y="2811510"/>
            <a:ext cx="8315717" cy="7494540"/>
          </a:xfrm>
          <a:custGeom>
            <a:avLst/>
            <a:gdLst/>
            <a:ahLst/>
            <a:cxnLst/>
            <a:rect r="r" b="b" t="t" l="l"/>
            <a:pathLst>
              <a:path h="7494540" w="8315717">
                <a:moveTo>
                  <a:pt x="0" y="0"/>
                </a:moveTo>
                <a:lnTo>
                  <a:pt x="8315717" y="0"/>
                </a:lnTo>
                <a:lnTo>
                  <a:pt x="8315717" y="7494540"/>
                </a:lnTo>
                <a:lnTo>
                  <a:pt x="0" y="74945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144000" y="5114925"/>
            <a:ext cx="8375606" cy="1009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343"/>
              </a:lnSpc>
              <a:spcBef>
                <a:spcPct val="0"/>
              </a:spcBef>
            </a:pPr>
            <a:r>
              <a:rPr lang="en-US" b="true" sz="6441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¡MUCHAS GRACIAS!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DAHHc-29j_I</dc:identifier>
  <dcterms:modified xsi:type="dcterms:W3CDTF">2011-08-01T06:04:30Z</dcterms:modified>
  <cp:revision>1</cp:revision>
  <dc:title>ESTACION_ 3_FINAL</dc:title>
</cp:coreProperties>
</file>